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7" r:id="rId2"/>
    <p:sldId id="269" r:id="rId3"/>
    <p:sldId id="258" r:id="rId4"/>
    <p:sldId id="271" r:id="rId5"/>
    <p:sldId id="259" r:id="rId6"/>
    <p:sldId id="260" r:id="rId7"/>
    <p:sldId id="272" r:id="rId8"/>
    <p:sldId id="273" r:id="rId9"/>
    <p:sldId id="274" r:id="rId10"/>
    <p:sldId id="275" r:id="rId11"/>
    <p:sldId id="276" r:id="rId12"/>
    <p:sldId id="277" r:id="rId13"/>
    <p:sldId id="281" r:id="rId14"/>
    <p:sldId id="280" r:id="rId15"/>
    <p:sldId id="263" r:id="rId16"/>
    <p:sldId id="282" r:id="rId17"/>
    <p:sldId id="283" r:id="rId18"/>
    <p:sldId id="284" r:id="rId19"/>
    <p:sldId id="285" r:id="rId20"/>
    <p:sldId id="266" r:id="rId21"/>
    <p:sldId id="268"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F1E"/>
    <a:srgbClr val="DFE0E3"/>
    <a:srgbClr val="0C1A30"/>
    <a:srgbClr val="E7FFF3"/>
    <a:srgbClr val="97FFCB"/>
    <a:srgbClr val="00C8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3692" autoAdjust="0"/>
  </p:normalViewPr>
  <p:slideViewPr>
    <p:cSldViewPr snapToGrid="0" snapToObjects="1">
      <p:cViewPr varScale="1">
        <p:scale>
          <a:sx n="94" d="100"/>
          <a:sy n="94" d="100"/>
        </p:scale>
        <p:origin x="11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762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7B22E-0D5F-CAC5-0F43-69FCA33BB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A023E-7C1D-BFE5-C168-E831CBBF5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7EB72-6730-D59B-DD6A-E05C4441B9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BC5397-FC02-5C0C-3AFE-07E31BC13D6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93062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B71FD-2E7F-2834-5347-447E275EF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DBA04-B390-D1FC-3963-F318D661B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560AF-904E-F12E-CD53-FEAAE86C8F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8F254E-CA97-B4C1-6A56-991E550A09F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31725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05DC-15DD-1762-53E0-95B398BFE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B048D-58FA-78F4-E0DB-DDF445DCD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EE480-DE2D-974A-B57E-C4198799D4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A8FF92-318C-B9D9-F3D3-BCF43DB5032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5451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8D4A4-56A0-90F3-4190-1CFB9917E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7E4FA-1506-BF6E-0F50-DC509B67A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05491-438E-69AE-AAA1-C0DD2B5909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884D34-C7FF-0688-C4F5-A46FD7BE427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33805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1DD68-F38D-35D9-1DF9-CE46DA565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8B147-103C-959A-B9F6-1A31CF4E6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8FF50-163C-010B-4CAD-88E88CF596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FA7E44-3E5E-5352-2D85-C23459AF7B2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07488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7B64-3008-A603-0111-1B2BD5AAD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95DF8-A76F-DC06-AE76-E6A92594B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BD5AF-CC66-6256-DAE6-2731449DD9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BF92DD-41FA-DEBA-E447-BABFCB519BB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32203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9F456-EC71-54FD-9234-88EF12B82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54B4F-119A-7C05-8E39-6070F83BF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2F88C7-CA4D-3251-1F2D-03B1D8E60A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9CC569-69BF-286E-78B3-C60D0D8A035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30856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D9E1-811D-B33E-C5E8-37FB90634C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E79CD-DA98-542A-1C69-969DF3F452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0FAEB-FEF1-6A19-7B03-836988380B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793D70-7D08-7EE1-3618-5D62ADE9507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45203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A125E-61DC-ADFC-5330-ED5E1CE0A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DA6B7-F5F4-03D0-C907-DB561A4612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C506D-A807-4EC3-176B-77DAEE7ED4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0D5511-AF7E-74D8-1BC8-B776A7FCC8F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7730777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60FAE-DC3A-8FBE-9274-718237470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D3E08-4F8A-9C74-6BE0-04310FBADE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C1BD3-1450-5373-6805-5A50F22360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ACCD37-E164-773C-8922-BE379B1D094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14906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02503-4687-8E1A-4B10-B90A19F12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CCF7D-5CC3-ABA9-2036-6A11D9F08E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28919-CB40-8048-9A3F-1D991243A7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BEE4CC-33BF-42C0-22BD-7E7B77C88D4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14887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DE9F-D2B9-F98F-47A2-9D8FB25CB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5CDBD-D36C-6000-5629-C1751453B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84808-D9FC-157A-FBB2-A2EE4B7B8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4C794E-529B-710D-429B-B67135E4AC6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93506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70053-9FE1-3540-2DB2-5E445B96D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C1150-E3C6-9C8F-D2CF-9ACC6CED0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766FEF-1CA8-633B-C7D4-C36E369EE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CAA43E-A6DB-06D8-2103-8EC2EE018E3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928140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D1CA-C553-B17E-B7E3-23C46D83B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52BD5-BEA5-DD51-044C-F9836521C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B6835-E26F-9DDC-0D13-3B8978E223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1AFEDD-709C-A27A-2381-F4E9EB6BFD8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74473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0A0F1E"/>
        </a:solidFill>
        <a:effectLst/>
      </p:bgPr>
    </p:bg>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B3A51AAB-D9FC-FC1A-F1FE-B0EECE1E440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3000"/>
                    </a14:imgEffect>
                  </a14:imgLayer>
                </a14:imgProps>
              </a:ext>
            </a:extLst>
          </a:blip>
          <a:srcRect t="32336" b="35100"/>
          <a:stretch>
            <a:fillRect/>
          </a:stretch>
        </p:blipFill>
        <p:spPr>
          <a:xfrm>
            <a:off x="-185422" y="594360"/>
            <a:ext cx="9695181" cy="1760220"/>
          </a:xfrm>
          <a:prstGeom prst="rect">
            <a:avLst/>
          </a:prstGeom>
          <a:ln>
            <a:noFill/>
          </a:ln>
          <a:effectLst>
            <a:glow rad="38100">
              <a:srgbClr val="00B050">
                <a:alpha val="40000"/>
              </a:srgbClr>
            </a:glow>
            <a:outerShdw blurRad="50800" dist="38100" dir="5400000" algn="t" rotWithShape="0">
              <a:schemeClr val="bg1">
                <a:alpha val="40000"/>
              </a:schemeClr>
            </a:outerShdw>
          </a:effectLst>
        </p:spPr>
      </p:pic>
      <p:sp>
        <p:nvSpPr>
          <p:cNvPr id="2" name="Shape 0"/>
          <p:cNvSpPr/>
          <p:nvPr/>
        </p:nvSpPr>
        <p:spPr>
          <a:xfrm>
            <a:off x="0" y="914400"/>
            <a:ext cx="9144000" cy="0"/>
          </a:xfrm>
          <a:prstGeom prst="line">
            <a:avLst/>
          </a:prstGeom>
          <a:noFill/>
          <a:ln w="6350">
            <a:solidFill>
              <a:srgbClr val="1A2540"/>
            </a:solidFill>
            <a:prstDash val="solid"/>
          </a:ln>
        </p:spPr>
      </p:sp>
      <p:sp>
        <p:nvSpPr>
          <p:cNvPr id="4" name="Shape 2"/>
          <p:cNvSpPr/>
          <p:nvPr/>
        </p:nvSpPr>
        <p:spPr>
          <a:xfrm>
            <a:off x="0" y="2377440"/>
            <a:ext cx="9144000" cy="0"/>
          </a:xfrm>
          <a:prstGeom prst="line">
            <a:avLst/>
          </a:prstGeom>
          <a:noFill/>
          <a:ln w="6350">
            <a:solidFill>
              <a:srgbClr val="1A2540"/>
            </a:solidFill>
            <a:prstDash val="solid"/>
          </a:ln>
        </p:spPr>
      </p:sp>
      <p:sp>
        <p:nvSpPr>
          <p:cNvPr id="5" name="Shape 3"/>
          <p:cNvSpPr/>
          <p:nvPr/>
        </p:nvSpPr>
        <p:spPr>
          <a:xfrm>
            <a:off x="0" y="3108960"/>
            <a:ext cx="9144000" cy="0"/>
          </a:xfrm>
          <a:prstGeom prst="line">
            <a:avLst/>
          </a:prstGeom>
          <a:noFill/>
          <a:ln w="6350">
            <a:solidFill>
              <a:srgbClr val="1A2540"/>
            </a:solidFill>
            <a:prstDash val="solid"/>
          </a:ln>
        </p:spPr>
      </p:sp>
      <p:sp>
        <p:nvSpPr>
          <p:cNvPr id="6" name="Shape 4"/>
          <p:cNvSpPr/>
          <p:nvPr/>
        </p:nvSpPr>
        <p:spPr>
          <a:xfrm>
            <a:off x="0" y="3840480"/>
            <a:ext cx="9144000" cy="0"/>
          </a:xfrm>
          <a:prstGeom prst="line">
            <a:avLst/>
          </a:prstGeom>
          <a:noFill/>
          <a:ln w="6350">
            <a:solidFill>
              <a:srgbClr val="1A2540"/>
            </a:solidFill>
            <a:prstDash val="solid"/>
          </a:ln>
        </p:spPr>
      </p:sp>
      <p:sp>
        <p:nvSpPr>
          <p:cNvPr id="7" name="Shape 5"/>
          <p:cNvSpPr/>
          <p:nvPr/>
        </p:nvSpPr>
        <p:spPr>
          <a:xfrm>
            <a:off x="0" y="4572000"/>
            <a:ext cx="9144000" cy="0"/>
          </a:xfrm>
          <a:prstGeom prst="line">
            <a:avLst/>
          </a:prstGeom>
          <a:noFill/>
          <a:ln w="6350">
            <a:solidFill>
              <a:srgbClr val="1A2540"/>
            </a:solidFill>
            <a:prstDash val="solid"/>
          </a:ln>
        </p:spPr>
      </p:sp>
      <p:sp>
        <p:nvSpPr>
          <p:cNvPr id="8" name="Shape 6"/>
          <p:cNvSpPr/>
          <p:nvPr/>
        </p:nvSpPr>
        <p:spPr>
          <a:xfrm>
            <a:off x="731520" y="0"/>
            <a:ext cx="0" cy="5143500"/>
          </a:xfrm>
          <a:prstGeom prst="line">
            <a:avLst/>
          </a:prstGeom>
          <a:noFill/>
          <a:ln w="6350">
            <a:solidFill>
              <a:srgbClr val="1A2540"/>
            </a:solidFill>
            <a:prstDash val="solid"/>
          </a:ln>
        </p:spPr>
      </p:sp>
      <p:sp>
        <p:nvSpPr>
          <p:cNvPr id="9" name="Shape 7"/>
          <p:cNvSpPr/>
          <p:nvPr/>
        </p:nvSpPr>
        <p:spPr>
          <a:xfrm>
            <a:off x="1554480" y="0"/>
            <a:ext cx="0" cy="5143500"/>
          </a:xfrm>
          <a:prstGeom prst="line">
            <a:avLst/>
          </a:prstGeom>
          <a:noFill/>
          <a:ln w="6350">
            <a:solidFill>
              <a:srgbClr val="1A2540"/>
            </a:solidFill>
            <a:prstDash val="solid"/>
          </a:ln>
        </p:spPr>
      </p:sp>
      <p:sp>
        <p:nvSpPr>
          <p:cNvPr id="10" name="Shape 8"/>
          <p:cNvSpPr/>
          <p:nvPr/>
        </p:nvSpPr>
        <p:spPr>
          <a:xfrm>
            <a:off x="2377440" y="0"/>
            <a:ext cx="0" cy="5143500"/>
          </a:xfrm>
          <a:prstGeom prst="line">
            <a:avLst/>
          </a:prstGeom>
          <a:noFill/>
          <a:ln w="6350">
            <a:solidFill>
              <a:srgbClr val="1A2540"/>
            </a:solidFill>
            <a:prstDash val="solid"/>
          </a:ln>
        </p:spPr>
      </p:sp>
      <p:sp>
        <p:nvSpPr>
          <p:cNvPr id="11" name="Shape 9"/>
          <p:cNvSpPr/>
          <p:nvPr/>
        </p:nvSpPr>
        <p:spPr>
          <a:xfrm>
            <a:off x="3200400" y="0"/>
            <a:ext cx="0" cy="5143500"/>
          </a:xfrm>
          <a:prstGeom prst="line">
            <a:avLst/>
          </a:prstGeom>
          <a:noFill/>
          <a:ln w="6350">
            <a:solidFill>
              <a:srgbClr val="1A2540"/>
            </a:solidFill>
            <a:prstDash val="solid"/>
          </a:ln>
        </p:spPr>
      </p:sp>
      <p:sp>
        <p:nvSpPr>
          <p:cNvPr id="12" name="Shape 10"/>
          <p:cNvSpPr/>
          <p:nvPr/>
        </p:nvSpPr>
        <p:spPr>
          <a:xfrm>
            <a:off x="4023360" y="0"/>
            <a:ext cx="0" cy="5143500"/>
          </a:xfrm>
          <a:prstGeom prst="line">
            <a:avLst/>
          </a:prstGeom>
          <a:noFill/>
          <a:ln w="6350">
            <a:solidFill>
              <a:srgbClr val="1A2540"/>
            </a:solidFill>
            <a:prstDash val="solid"/>
          </a:ln>
        </p:spPr>
      </p:sp>
      <p:sp>
        <p:nvSpPr>
          <p:cNvPr id="13" name="Shape 11"/>
          <p:cNvSpPr/>
          <p:nvPr/>
        </p:nvSpPr>
        <p:spPr>
          <a:xfrm>
            <a:off x="4846320" y="0"/>
            <a:ext cx="0" cy="5143500"/>
          </a:xfrm>
          <a:prstGeom prst="line">
            <a:avLst/>
          </a:prstGeom>
          <a:noFill/>
          <a:ln w="6350">
            <a:solidFill>
              <a:srgbClr val="1A2540"/>
            </a:solidFill>
            <a:prstDash val="solid"/>
          </a:ln>
        </p:spPr>
      </p:sp>
      <p:sp>
        <p:nvSpPr>
          <p:cNvPr id="14" name="Shape 12"/>
          <p:cNvSpPr/>
          <p:nvPr/>
        </p:nvSpPr>
        <p:spPr>
          <a:xfrm>
            <a:off x="5669280" y="0"/>
            <a:ext cx="0" cy="5143500"/>
          </a:xfrm>
          <a:prstGeom prst="line">
            <a:avLst/>
          </a:prstGeom>
          <a:noFill/>
          <a:ln w="6350">
            <a:solidFill>
              <a:srgbClr val="1A2540"/>
            </a:solidFill>
            <a:prstDash val="solid"/>
          </a:ln>
        </p:spPr>
      </p:sp>
      <p:sp>
        <p:nvSpPr>
          <p:cNvPr id="16" name="Shape 14"/>
          <p:cNvSpPr/>
          <p:nvPr/>
        </p:nvSpPr>
        <p:spPr>
          <a:xfrm>
            <a:off x="7315200" y="0"/>
            <a:ext cx="0" cy="5143500"/>
          </a:xfrm>
          <a:prstGeom prst="line">
            <a:avLst/>
          </a:prstGeom>
          <a:noFill/>
          <a:ln w="6350">
            <a:solidFill>
              <a:srgbClr val="1A2540"/>
            </a:solidFill>
            <a:prstDash val="solid"/>
          </a:ln>
        </p:spPr>
        <p:txBody>
          <a:bodyPr/>
          <a:lstStyle/>
          <a:p>
            <a:endParaRPr lang="en-US" dirty="0"/>
          </a:p>
        </p:txBody>
      </p:sp>
      <p:sp>
        <p:nvSpPr>
          <p:cNvPr id="17" name="Shape 15"/>
          <p:cNvSpPr/>
          <p:nvPr/>
        </p:nvSpPr>
        <p:spPr>
          <a:xfrm>
            <a:off x="8138160" y="0"/>
            <a:ext cx="0" cy="5143500"/>
          </a:xfrm>
          <a:prstGeom prst="line">
            <a:avLst/>
          </a:prstGeom>
          <a:noFill/>
          <a:ln w="6350">
            <a:solidFill>
              <a:srgbClr val="1A2540"/>
            </a:solidFill>
            <a:prstDash val="solid"/>
          </a:ln>
        </p:spPr>
      </p:sp>
      <p:sp>
        <p:nvSpPr>
          <p:cNvPr id="18" name="Shape 16"/>
          <p:cNvSpPr/>
          <p:nvPr/>
        </p:nvSpPr>
        <p:spPr>
          <a:xfrm>
            <a:off x="-914400" y="-1814946"/>
            <a:ext cx="7315200" cy="7315200"/>
          </a:xfrm>
          <a:prstGeom prst="ellipse">
            <a:avLst/>
          </a:prstGeom>
          <a:solidFill>
            <a:srgbClr val="00C896">
              <a:alpha val="8000"/>
            </a:srgbClr>
          </a:solidFill>
          <a:ln/>
        </p:spPr>
        <p:txBody>
          <a:bodyPr/>
          <a:lstStyle/>
          <a:p>
            <a:endParaRPr lang="en-US" dirty="0"/>
          </a:p>
        </p:txBody>
      </p:sp>
      <p:sp>
        <p:nvSpPr>
          <p:cNvPr id="19" name="Shape 17"/>
          <p:cNvSpPr/>
          <p:nvPr/>
        </p:nvSpPr>
        <p:spPr>
          <a:xfrm>
            <a:off x="5486400" y="2743200"/>
            <a:ext cx="5486400" cy="5486400"/>
          </a:xfrm>
          <a:prstGeom prst="ellipse">
            <a:avLst/>
          </a:prstGeom>
          <a:solidFill>
            <a:srgbClr val="0050FF">
              <a:alpha val="8000"/>
            </a:srgbClr>
          </a:solidFill>
          <a:ln/>
        </p:spPr>
        <p:txBody>
          <a:bodyPr/>
          <a:lstStyle/>
          <a:p>
            <a:endParaRPr lang="en-US" dirty="0"/>
          </a:p>
        </p:txBody>
      </p:sp>
      <p:sp>
        <p:nvSpPr>
          <p:cNvPr id="20" name="Shape 18"/>
          <p:cNvSpPr/>
          <p:nvPr/>
        </p:nvSpPr>
        <p:spPr>
          <a:xfrm>
            <a:off x="274320" y="274320"/>
            <a:ext cx="320040" cy="0"/>
          </a:xfrm>
          <a:prstGeom prst="line">
            <a:avLst/>
          </a:prstGeom>
          <a:noFill/>
          <a:ln w="25400">
            <a:solidFill>
              <a:srgbClr val="00C896"/>
            </a:solidFill>
            <a:prstDash val="solid"/>
          </a:ln>
        </p:spPr>
      </p:sp>
      <p:sp>
        <p:nvSpPr>
          <p:cNvPr id="21" name="Shape 19"/>
          <p:cNvSpPr/>
          <p:nvPr/>
        </p:nvSpPr>
        <p:spPr>
          <a:xfrm>
            <a:off x="274320" y="274320"/>
            <a:ext cx="0" cy="320040"/>
          </a:xfrm>
          <a:prstGeom prst="line">
            <a:avLst/>
          </a:prstGeom>
          <a:noFill/>
          <a:ln w="25400">
            <a:solidFill>
              <a:srgbClr val="00C896"/>
            </a:solidFill>
            <a:prstDash val="solid"/>
          </a:ln>
        </p:spPr>
      </p:sp>
      <p:sp>
        <p:nvSpPr>
          <p:cNvPr id="22" name="Shape 20"/>
          <p:cNvSpPr/>
          <p:nvPr/>
        </p:nvSpPr>
        <p:spPr>
          <a:xfrm>
            <a:off x="8549640" y="4572000"/>
            <a:ext cx="320040" cy="0"/>
          </a:xfrm>
          <a:prstGeom prst="line">
            <a:avLst/>
          </a:prstGeom>
          <a:noFill/>
          <a:ln w="25400">
            <a:solidFill>
              <a:srgbClr val="00C896"/>
            </a:solidFill>
            <a:prstDash val="solid"/>
          </a:ln>
        </p:spPr>
      </p:sp>
      <p:sp>
        <p:nvSpPr>
          <p:cNvPr id="23" name="Shape 21"/>
          <p:cNvSpPr/>
          <p:nvPr/>
        </p:nvSpPr>
        <p:spPr>
          <a:xfrm>
            <a:off x="8869680" y="4297680"/>
            <a:ext cx="0" cy="320040"/>
          </a:xfrm>
          <a:prstGeom prst="line">
            <a:avLst/>
          </a:prstGeom>
          <a:noFill/>
          <a:ln w="25400">
            <a:solidFill>
              <a:srgbClr val="00C896"/>
            </a:solidFill>
            <a:prstDash val="solid"/>
          </a:ln>
        </p:spPr>
      </p:sp>
      <p:sp>
        <p:nvSpPr>
          <p:cNvPr id="25" name="Text 22"/>
          <p:cNvSpPr/>
          <p:nvPr/>
        </p:nvSpPr>
        <p:spPr>
          <a:xfrm>
            <a:off x="457200" y="2331720"/>
            <a:ext cx="8229600"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HYBRID DIGITAL TWIN</a:t>
            </a:r>
            <a:endParaRPr lang="en-US" sz="3200" dirty="0"/>
          </a:p>
        </p:txBody>
      </p:sp>
      <p:sp>
        <p:nvSpPr>
          <p:cNvPr id="26" name="Text 23"/>
          <p:cNvSpPr/>
          <p:nvPr/>
        </p:nvSpPr>
        <p:spPr>
          <a:xfrm>
            <a:off x="457200" y="2926080"/>
            <a:ext cx="8229600" cy="457200"/>
          </a:xfrm>
          <a:prstGeom prst="rect">
            <a:avLst/>
          </a:prstGeom>
          <a:noFill/>
          <a:ln/>
        </p:spPr>
        <p:txBody>
          <a:bodyPr wrap="square" lIns="0" tIns="0" rIns="0" bIns="0" rtlCol="0" anchor="ctr"/>
          <a:lstStyle/>
          <a:p>
            <a:pPr marL="0" indent="0" algn="ctr">
              <a:buNone/>
            </a:pPr>
            <a:r>
              <a:rPr lang="en-US" sz="2200" b="1" kern="0" spc="200" dirty="0">
                <a:solidFill>
                  <a:srgbClr val="00C896"/>
                </a:solidFill>
                <a:latin typeface="Calibri" pitchFamily="34" charset="0"/>
                <a:ea typeface="Calibri" pitchFamily="34" charset="-122"/>
                <a:cs typeface="Calibri" pitchFamily="34" charset="-120"/>
              </a:rPr>
              <a:t>FOR PREDICTIVE MAINTENANCE</a:t>
            </a:r>
            <a:endParaRPr lang="en-US" sz="2200" dirty="0"/>
          </a:p>
        </p:txBody>
      </p:sp>
      <p:sp>
        <p:nvSpPr>
          <p:cNvPr id="27" name="Text 24"/>
          <p:cNvSpPr/>
          <p:nvPr/>
        </p:nvSpPr>
        <p:spPr>
          <a:xfrm>
            <a:off x="914400" y="3474720"/>
            <a:ext cx="7315200" cy="365760"/>
          </a:xfrm>
          <a:prstGeom prst="rect">
            <a:avLst/>
          </a:prstGeom>
          <a:noFill/>
          <a:ln/>
        </p:spPr>
        <p:txBody>
          <a:bodyPr wrap="square" lIns="0" tIns="0" rIns="0" bIns="0" rtlCol="0" anchor="ctr"/>
          <a:lstStyle/>
          <a:p>
            <a:pPr marL="0" indent="0" algn="ctr">
              <a:buNone/>
            </a:pPr>
            <a:r>
              <a:rPr lang="en-US" sz="1300" dirty="0">
                <a:solidFill>
                  <a:srgbClr val="8B9CC8"/>
                </a:solidFill>
                <a:latin typeface="Calibri" pitchFamily="34" charset="0"/>
                <a:ea typeface="Calibri" pitchFamily="34" charset="-122"/>
                <a:cs typeface="Calibri" pitchFamily="34" charset="-120"/>
              </a:rPr>
              <a:t>A low-cost web-based monitoring platform for 3d printing using digital twin technology for predictive maintenance</a:t>
            </a:r>
            <a:endParaRPr lang="en-US" sz="1300" dirty="0"/>
          </a:p>
        </p:txBody>
      </p:sp>
      <p:sp>
        <p:nvSpPr>
          <p:cNvPr id="15" name="Shape 13"/>
          <p:cNvSpPr/>
          <p:nvPr/>
        </p:nvSpPr>
        <p:spPr>
          <a:xfrm>
            <a:off x="6492240" y="0"/>
            <a:ext cx="0" cy="514350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txBody>
          <a:bodyPr/>
          <a:lstStyle/>
          <a:p>
            <a:endParaRPr lang="en-US" dirty="0"/>
          </a:p>
        </p:txBody>
      </p:sp>
      <p:pic>
        <p:nvPicPr>
          <p:cNvPr id="24" name="Image 23">
            <a:extLst>
              <a:ext uri="{FF2B5EF4-FFF2-40B4-BE49-F238E27FC236}">
                <a16:creationId xmlns:a16="http://schemas.microsoft.com/office/drawing/2014/main" id="{17CB465B-0CD6-2FCB-86B4-ED5DF4C8514D}"/>
              </a:ext>
            </a:extLst>
          </p:cNvPr>
          <p:cNvPicPr>
            <a:picLocks noChangeAspect="1"/>
          </p:cNvPicPr>
          <p:nvPr/>
        </p:nvPicPr>
        <p:blipFill>
          <a:blip r:embed="rId5"/>
          <a:srcRect t="36875" b="38125"/>
          <a:stretch>
            <a:fillRect/>
          </a:stretch>
        </p:blipFill>
        <p:spPr>
          <a:xfrm>
            <a:off x="1" y="982980"/>
            <a:ext cx="9144000" cy="1269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5106E54B-D089-72E6-7599-AAE4189BB0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1E7B26-8090-5748-AFA1-A523BEC9FB0F}"/>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2CA2D990-3BEC-4BD3-3453-62F892E2FAE6}"/>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5B8FF089-043A-6453-FEC4-5E4D890AF391}"/>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FA04E11D-0CE9-1A0A-3B2E-9D79898447D2}"/>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6391422F-8855-10A8-C9A9-576A489368B0}"/>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5FA2C1AA-F7AA-DC9F-0DC6-2CA4DC6FCB9C}"/>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17F69ADE-380D-5BAC-CA43-7B77F7DE7AE8}"/>
              </a:ext>
            </a:extLst>
          </p:cNvPr>
          <p:cNvSpPr/>
          <p:nvPr/>
        </p:nvSpPr>
        <p:spPr>
          <a:xfrm>
            <a:off x="731520" y="0"/>
            <a:ext cx="0" cy="5143500"/>
          </a:xfrm>
          <a:prstGeom prst="line">
            <a:avLst/>
          </a:prstGeom>
          <a:noFill/>
          <a:ln w="6350">
            <a:solidFill>
              <a:srgbClr val="1A2540"/>
            </a:solidFill>
            <a:prstDash val="solid"/>
          </a:ln>
        </p:spPr>
      </p:sp>
      <p:sp>
        <p:nvSpPr>
          <p:cNvPr id="9" name="Shape 7">
            <a:extLst>
              <a:ext uri="{FF2B5EF4-FFF2-40B4-BE49-F238E27FC236}">
                <a16:creationId xmlns:a16="http://schemas.microsoft.com/office/drawing/2014/main" id="{BB4FD843-154D-C2E8-7956-CC982EC74BB2}"/>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5898D68D-E9FD-51D2-5EAC-D50B4F21658E}"/>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1B7468D8-FE8C-915C-EE27-C415F1678420}"/>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F576D336-1A16-E162-4C47-D8CCEF47B96E}"/>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351E0F35-6D62-E566-F938-75788CA9B75F}"/>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BE92E81B-6C1D-90F8-02CB-6D5C4786F20E}"/>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7570AE63-B0B7-5795-D9AE-3675D2E3C8DA}"/>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6D565ACB-8C97-36B6-6F48-FA25EF2A080B}"/>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84A90F1D-3E8E-EDA7-4F75-A6F1B73DE11D}"/>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A5154022-4404-39B2-7A42-9DB011BF9E66}"/>
              </a:ext>
            </a:extLst>
          </p:cNvPr>
          <p:cNvSpPr/>
          <p:nvPr/>
        </p:nvSpPr>
        <p:spPr>
          <a:xfrm>
            <a:off x="3200400" y="-1828800"/>
            <a:ext cx="6400800" cy="6400800"/>
          </a:xfrm>
          <a:prstGeom prst="ellipse">
            <a:avLst/>
          </a:prstGeom>
          <a:solidFill>
            <a:srgbClr val="00C896">
              <a:alpha val="8000"/>
            </a:srgbClr>
          </a:solidFill>
          <a:ln/>
        </p:spPr>
      </p:sp>
      <p:sp>
        <p:nvSpPr>
          <p:cNvPr id="19" name="Shape 17">
            <a:extLst>
              <a:ext uri="{FF2B5EF4-FFF2-40B4-BE49-F238E27FC236}">
                <a16:creationId xmlns:a16="http://schemas.microsoft.com/office/drawing/2014/main" id="{10F36547-7683-D4C8-4DDA-BB63CD2B00AE}"/>
              </a:ext>
            </a:extLst>
          </p:cNvPr>
          <p:cNvSpPr/>
          <p:nvPr/>
        </p:nvSpPr>
        <p:spPr>
          <a:xfrm>
            <a:off x="5486400" y="2743200"/>
            <a:ext cx="5486400" cy="5486400"/>
          </a:xfrm>
          <a:prstGeom prst="ellipse">
            <a:avLst/>
          </a:prstGeom>
          <a:solidFill>
            <a:srgbClr val="0050FF">
              <a:alpha val="8000"/>
            </a:srgbClr>
          </a:solidFill>
          <a:ln/>
        </p:spPr>
      </p:sp>
      <p:sp>
        <p:nvSpPr>
          <p:cNvPr id="20" name="Shape 18">
            <a:extLst>
              <a:ext uri="{FF2B5EF4-FFF2-40B4-BE49-F238E27FC236}">
                <a16:creationId xmlns:a16="http://schemas.microsoft.com/office/drawing/2014/main" id="{5D8C337E-A70A-1342-F965-C538F901942D}"/>
              </a:ext>
            </a:extLst>
          </p:cNvPr>
          <p:cNvSpPr/>
          <p:nvPr/>
        </p:nvSpPr>
        <p:spPr>
          <a:xfrm>
            <a:off x="274320" y="274320"/>
            <a:ext cx="274320" cy="0"/>
          </a:xfrm>
          <a:prstGeom prst="line">
            <a:avLst/>
          </a:prstGeom>
          <a:noFill/>
          <a:ln w="19050">
            <a:solidFill>
              <a:srgbClr val="00C896"/>
            </a:solidFill>
            <a:prstDash val="solid"/>
          </a:ln>
        </p:spPr>
      </p:sp>
      <p:sp>
        <p:nvSpPr>
          <p:cNvPr id="21" name="Shape 19">
            <a:extLst>
              <a:ext uri="{FF2B5EF4-FFF2-40B4-BE49-F238E27FC236}">
                <a16:creationId xmlns:a16="http://schemas.microsoft.com/office/drawing/2014/main" id="{DF783D7D-E053-0E69-4285-45B06077F92F}"/>
              </a:ext>
            </a:extLst>
          </p:cNvPr>
          <p:cNvSpPr/>
          <p:nvPr/>
        </p:nvSpPr>
        <p:spPr>
          <a:xfrm>
            <a:off x="274320" y="274320"/>
            <a:ext cx="0" cy="274320"/>
          </a:xfrm>
          <a:prstGeom prst="line">
            <a:avLst/>
          </a:prstGeom>
          <a:noFill/>
          <a:ln w="19050">
            <a:solidFill>
              <a:srgbClr val="00C896"/>
            </a:solidFill>
            <a:prstDash val="solid"/>
          </a:ln>
        </p:spPr>
      </p:sp>
      <p:sp>
        <p:nvSpPr>
          <p:cNvPr id="22" name="Shape 20">
            <a:extLst>
              <a:ext uri="{FF2B5EF4-FFF2-40B4-BE49-F238E27FC236}">
                <a16:creationId xmlns:a16="http://schemas.microsoft.com/office/drawing/2014/main" id="{5B1AD0D0-F168-C86A-726C-56979E03081D}"/>
              </a:ext>
            </a:extLst>
          </p:cNvPr>
          <p:cNvSpPr/>
          <p:nvPr/>
        </p:nvSpPr>
        <p:spPr>
          <a:xfrm>
            <a:off x="8595360" y="4594860"/>
            <a:ext cx="274320" cy="0"/>
          </a:xfrm>
          <a:prstGeom prst="line">
            <a:avLst/>
          </a:prstGeom>
          <a:noFill/>
          <a:ln w="19050">
            <a:solidFill>
              <a:srgbClr val="00C896"/>
            </a:solidFill>
            <a:prstDash val="solid"/>
          </a:ln>
        </p:spPr>
      </p:sp>
      <p:sp>
        <p:nvSpPr>
          <p:cNvPr id="23" name="Shape 21">
            <a:extLst>
              <a:ext uri="{FF2B5EF4-FFF2-40B4-BE49-F238E27FC236}">
                <a16:creationId xmlns:a16="http://schemas.microsoft.com/office/drawing/2014/main" id="{2F26A9C5-3BC6-E7C9-8D45-F03405479374}"/>
              </a:ext>
            </a:extLst>
          </p:cNvPr>
          <p:cNvSpPr/>
          <p:nvPr/>
        </p:nvSpPr>
        <p:spPr>
          <a:xfrm>
            <a:off x="8869680" y="4480560"/>
            <a:ext cx="0" cy="274320"/>
          </a:xfrm>
          <a:prstGeom prst="line">
            <a:avLst/>
          </a:prstGeom>
          <a:noFill/>
          <a:ln w="19050">
            <a:solidFill>
              <a:srgbClr val="00C896"/>
            </a:solidFill>
            <a:prstDash val="solid"/>
          </a:ln>
        </p:spPr>
      </p:sp>
      <p:sp>
        <p:nvSpPr>
          <p:cNvPr id="25" name="Shape 10">
            <a:extLst>
              <a:ext uri="{FF2B5EF4-FFF2-40B4-BE49-F238E27FC236}">
                <a16:creationId xmlns:a16="http://schemas.microsoft.com/office/drawing/2014/main" id="{99D399AA-0452-3EE3-E237-6C477AB3AE70}"/>
              </a:ext>
            </a:extLst>
          </p:cNvPr>
          <p:cNvSpPr/>
          <p:nvPr/>
        </p:nvSpPr>
        <p:spPr>
          <a:xfrm>
            <a:off x="822960" y="548640"/>
            <a:ext cx="2853447" cy="4069080"/>
          </a:xfrm>
          <a:prstGeom prst="roundRect">
            <a:avLst>
              <a:gd name="adj" fmla="val 3429"/>
            </a:avLst>
          </a:prstGeom>
          <a:solidFill>
            <a:srgbClr val="131E35"/>
          </a:solidFill>
          <a:ln w="12700">
            <a:solidFill>
              <a:srgbClr val="1E2D4A"/>
            </a:solidFill>
            <a:prstDash val="solid"/>
          </a:ln>
        </p:spPr>
        <p:txBody>
          <a:bodyPr/>
          <a:lstStyle/>
          <a:p>
            <a:endParaRPr lang="en-US" dirty="0"/>
          </a:p>
        </p:txBody>
      </p:sp>
      <p:sp>
        <p:nvSpPr>
          <p:cNvPr id="26" name="Text 11">
            <a:extLst>
              <a:ext uri="{FF2B5EF4-FFF2-40B4-BE49-F238E27FC236}">
                <a16:creationId xmlns:a16="http://schemas.microsoft.com/office/drawing/2014/main" id="{C2D39476-3E92-4AB8-F8FC-6BF4C893DF8E}"/>
              </a:ext>
            </a:extLst>
          </p:cNvPr>
          <p:cNvSpPr/>
          <p:nvPr/>
        </p:nvSpPr>
        <p:spPr>
          <a:xfrm>
            <a:off x="365760" y="2388870"/>
            <a:ext cx="3840480" cy="365760"/>
          </a:xfrm>
          <a:prstGeom prst="rect">
            <a:avLst/>
          </a:prstGeom>
          <a:noFill/>
          <a:ln/>
        </p:spPr>
        <p:txBody>
          <a:bodyPr wrap="square" lIns="0" tIns="0" rIns="0" bIns="0" rtlCol="0" anchor="ctr"/>
          <a:lstStyle/>
          <a:p>
            <a:pPr marL="0" indent="0" algn="ctr">
              <a:buNone/>
            </a:pPr>
            <a:r>
              <a:rPr lang="en-US" sz="1200" dirty="0">
                <a:solidFill>
                  <a:srgbClr val="2A3A5A"/>
                </a:solidFill>
                <a:latin typeface="Calibri" pitchFamily="34" charset="0"/>
                <a:ea typeface="Calibri" pitchFamily="34" charset="-122"/>
                <a:cs typeface="Calibri" pitchFamily="34" charset="-120"/>
              </a:rPr>
              <a:t>[ Attestation Domiciliation Placeholder ]</a:t>
            </a:r>
            <a:endParaRPr lang="en-US" sz="1200" dirty="0"/>
          </a:p>
        </p:txBody>
      </p:sp>
      <p:sp>
        <p:nvSpPr>
          <p:cNvPr id="27" name="Text 8">
            <a:extLst>
              <a:ext uri="{FF2B5EF4-FFF2-40B4-BE49-F238E27FC236}">
                <a16:creationId xmlns:a16="http://schemas.microsoft.com/office/drawing/2014/main" id="{4E5C7824-B908-E414-96B7-6AD47BC131A9}"/>
              </a:ext>
            </a:extLst>
          </p:cNvPr>
          <p:cNvSpPr/>
          <p:nvPr/>
        </p:nvSpPr>
        <p:spPr>
          <a:xfrm>
            <a:off x="4206240" y="2205991"/>
            <a:ext cx="4846318" cy="502920"/>
          </a:xfrm>
          <a:prstGeom prst="rect">
            <a:avLst/>
          </a:prstGeom>
          <a:noFill/>
          <a:ln/>
        </p:spPr>
        <p:txBody>
          <a:bodyPr wrap="square" lIns="0" tIns="0" rIns="0" bIns="0" rtlCol="0" anchor="ctr"/>
          <a:lstStyle/>
          <a:p>
            <a:pPr marL="0" indent="0" algn="ctr">
              <a:buNone/>
            </a:pPr>
            <a:r>
              <a:rPr lang="ar-DZ" sz="4000" b="1" dirty="0">
                <a:solidFill>
                  <a:srgbClr val="FFFFFF"/>
                </a:solidFill>
                <a:latin typeface="Calibri" panose="020F0502020204030204" pitchFamily="34" charset="0"/>
                <a:ea typeface="Calibri" panose="020F0502020204030204" pitchFamily="34" charset="0"/>
                <a:cs typeface="Calibri" panose="020F0502020204030204" pitchFamily="34" charset="0"/>
              </a:rPr>
              <a:t>شهادة التوطين</a:t>
            </a:r>
            <a:endParaRPr lang="en-US" sz="4000" dirty="0">
              <a:latin typeface="Calibri" panose="020F0502020204030204" pitchFamily="34" charset="0"/>
              <a:ea typeface="Calibri" panose="020F0502020204030204" pitchFamily="34" charset="0"/>
              <a:cs typeface="Calibri" panose="020F0502020204030204" pitchFamily="34" charset="0"/>
            </a:endParaRPr>
          </a:p>
        </p:txBody>
      </p:sp>
      <p:pic>
        <p:nvPicPr>
          <p:cNvPr id="34" name="Image 33">
            <a:extLst>
              <a:ext uri="{FF2B5EF4-FFF2-40B4-BE49-F238E27FC236}">
                <a16:creationId xmlns:a16="http://schemas.microsoft.com/office/drawing/2014/main" id="{C0BC74B6-C9AD-5FF3-BA47-048637D9E8E9}"/>
              </a:ext>
            </a:extLst>
          </p:cNvPr>
          <p:cNvPicPr>
            <a:picLocks noChangeAspect="1"/>
          </p:cNvPicPr>
          <p:nvPr/>
        </p:nvPicPr>
        <p:blipFill>
          <a:blip r:embed="rId3"/>
          <a:stretch>
            <a:fillRect/>
          </a:stretch>
        </p:blipFill>
        <p:spPr>
          <a:xfrm>
            <a:off x="822960" y="571499"/>
            <a:ext cx="2853447" cy="4023361"/>
          </a:xfrm>
          <a:prstGeom prst="rect">
            <a:avLst/>
          </a:prstGeom>
        </p:spPr>
      </p:pic>
    </p:spTree>
    <p:extLst>
      <p:ext uri="{BB962C8B-B14F-4D97-AF65-F5344CB8AC3E}">
        <p14:creationId xmlns:p14="http://schemas.microsoft.com/office/powerpoint/2010/main" val="2370486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914400"/>
            <a:ext cx="9144000" cy="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sp>
      <p:sp>
        <p:nvSpPr>
          <p:cNvPr id="4" name="Shape 2"/>
          <p:cNvSpPr/>
          <p:nvPr/>
        </p:nvSpPr>
        <p:spPr>
          <a:xfrm>
            <a:off x="0" y="2377440"/>
            <a:ext cx="9144000" cy="0"/>
          </a:xfrm>
          <a:prstGeom prst="line">
            <a:avLst/>
          </a:prstGeom>
          <a:noFill/>
          <a:ln w="6350">
            <a:solidFill>
              <a:srgbClr val="1A2540"/>
            </a:solidFill>
            <a:prstDash val="solid"/>
          </a:ln>
        </p:spPr>
      </p:sp>
      <p:sp>
        <p:nvSpPr>
          <p:cNvPr id="5" name="Shape 3"/>
          <p:cNvSpPr/>
          <p:nvPr/>
        </p:nvSpPr>
        <p:spPr>
          <a:xfrm>
            <a:off x="0" y="3108960"/>
            <a:ext cx="9144000" cy="0"/>
          </a:xfrm>
          <a:prstGeom prst="line">
            <a:avLst/>
          </a:prstGeom>
          <a:noFill/>
          <a:ln w="6350">
            <a:solidFill>
              <a:srgbClr val="1A2540"/>
            </a:solidFill>
            <a:prstDash val="solid"/>
          </a:ln>
        </p:spPr>
      </p:sp>
      <p:sp>
        <p:nvSpPr>
          <p:cNvPr id="6" name="Shape 4"/>
          <p:cNvSpPr/>
          <p:nvPr/>
        </p:nvSpPr>
        <p:spPr>
          <a:xfrm>
            <a:off x="0" y="3840480"/>
            <a:ext cx="9144000" cy="0"/>
          </a:xfrm>
          <a:prstGeom prst="line">
            <a:avLst/>
          </a:prstGeom>
          <a:noFill/>
          <a:ln w="6350">
            <a:solidFill>
              <a:srgbClr val="1A2540"/>
            </a:solidFill>
            <a:prstDash val="solid"/>
          </a:ln>
        </p:spPr>
      </p:sp>
      <p:sp>
        <p:nvSpPr>
          <p:cNvPr id="7" name="Shape 5"/>
          <p:cNvSpPr/>
          <p:nvPr/>
        </p:nvSpPr>
        <p:spPr>
          <a:xfrm>
            <a:off x="0" y="4572000"/>
            <a:ext cx="9144000" cy="0"/>
          </a:xfrm>
          <a:prstGeom prst="line">
            <a:avLst/>
          </a:prstGeom>
          <a:noFill/>
          <a:ln w="6350">
            <a:solidFill>
              <a:srgbClr val="1A2540"/>
            </a:solidFill>
            <a:prstDash val="solid"/>
          </a:ln>
        </p:spPr>
      </p:sp>
      <p:sp>
        <p:nvSpPr>
          <p:cNvPr id="8" name="Shape 6"/>
          <p:cNvSpPr/>
          <p:nvPr/>
        </p:nvSpPr>
        <p:spPr>
          <a:xfrm>
            <a:off x="4572000" y="-1828800"/>
            <a:ext cx="7315200" cy="7315200"/>
          </a:xfrm>
          <a:prstGeom prst="ellipse">
            <a:avLst/>
          </a:prstGeom>
          <a:solidFill>
            <a:srgbClr val="00C896">
              <a:alpha val="7000"/>
            </a:srgbClr>
          </a:solidFill>
          <a:ln/>
        </p:spPr>
      </p:sp>
      <p:sp>
        <p:nvSpPr>
          <p:cNvPr id="9" name="Text 7"/>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OVERVIEW</a:t>
            </a:r>
            <a:endParaRPr lang="en-US" sz="900" dirty="0"/>
          </a:p>
        </p:txBody>
      </p:sp>
      <p:sp>
        <p:nvSpPr>
          <p:cNvPr id="10" name="Text 8"/>
          <p:cNvSpPr/>
          <p:nvPr/>
        </p:nvSpPr>
        <p:spPr>
          <a:xfrm>
            <a:off x="457200" y="411480"/>
            <a:ext cx="822960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TABLE OF CONTENTS</a:t>
            </a:r>
            <a:endParaRPr lang="en-US" sz="2800" dirty="0"/>
          </a:p>
        </p:txBody>
      </p:sp>
      <p:sp>
        <p:nvSpPr>
          <p:cNvPr id="11" name="Shape 9"/>
          <p:cNvSpPr/>
          <p:nvPr/>
        </p:nvSpPr>
        <p:spPr>
          <a:xfrm>
            <a:off x="457200" y="1034798"/>
            <a:ext cx="4160520" cy="493776"/>
          </a:xfrm>
          <a:prstGeom prst="roundRect">
            <a:avLst>
              <a:gd name="adj" fmla="val 12195"/>
            </a:avLst>
          </a:prstGeom>
          <a:solidFill>
            <a:srgbClr val="131E35"/>
          </a:solidFill>
          <a:ln w="6350">
            <a:solidFill>
              <a:srgbClr val="1E2D4A"/>
            </a:solidFill>
            <a:prstDash val="solid"/>
          </a:ln>
        </p:spPr>
      </p:sp>
      <p:sp>
        <p:nvSpPr>
          <p:cNvPr id="12" name="Text 10"/>
          <p:cNvSpPr/>
          <p:nvPr/>
        </p:nvSpPr>
        <p:spPr>
          <a:xfrm>
            <a:off x="594360" y="1126237"/>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01</a:t>
            </a:r>
            <a:endParaRPr lang="en-US" sz="1400" dirty="0"/>
          </a:p>
        </p:txBody>
      </p:sp>
      <p:sp>
        <p:nvSpPr>
          <p:cNvPr id="13" name="Text 11"/>
          <p:cNvSpPr/>
          <p:nvPr/>
        </p:nvSpPr>
        <p:spPr>
          <a:xfrm>
            <a:off x="1051560" y="1107949"/>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Problem Statement</a:t>
            </a:r>
            <a:endParaRPr lang="en-US" sz="1200" dirty="0"/>
          </a:p>
        </p:txBody>
      </p:sp>
      <p:sp>
        <p:nvSpPr>
          <p:cNvPr id="27" name="Shape 25"/>
          <p:cNvSpPr/>
          <p:nvPr/>
        </p:nvSpPr>
        <p:spPr>
          <a:xfrm>
            <a:off x="4892040" y="1034797"/>
            <a:ext cx="4160520" cy="502920"/>
          </a:xfrm>
          <a:prstGeom prst="roundRect">
            <a:avLst>
              <a:gd name="adj" fmla="val 12195"/>
            </a:avLst>
          </a:prstGeom>
          <a:solidFill>
            <a:srgbClr val="131E35"/>
          </a:solidFill>
          <a:ln w="6350">
            <a:solidFill>
              <a:srgbClr val="1E2D4A"/>
            </a:solidFill>
            <a:prstDash val="solid"/>
          </a:ln>
        </p:spPr>
      </p:sp>
      <p:sp>
        <p:nvSpPr>
          <p:cNvPr id="28" name="Text 26"/>
          <p:cNvSpPr/>
          <p:nvPr/>
        </p:nvSpPr>
        <p:spPr>
          <a:xfrm>
            <a:off x="5029200" y="1126237"/>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07</a:t>
            </a:r>
            <a:endParaRPr lang="en-US" sz="1400" dirty="0"/>
          </a:p>
        </p:txBody>
      </p:sp>
      <p:sp>
        <p:nvSpPr>
          <p:cNvPr id="29" name="Text 27"/>
          <p:cNvSpPr/>
          <p:nvPr/>
        </p:nvSpPr>
        <p:spPr>
          <a:xfrm>
            <a:off x="5486400" y="1107949"/>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Project Growth</a:t>
            </a:r>
            <a:endParaRPr lang="en-US" sz="1200" dirty="0"/>
          </a:p>
        </p:txBody>
      </p:sp>
      <p:sp>
        <p:nvSpPr>
          <p:cNvPr id="43" name="Shape 9">
            <a:extLst>
              <a:ext uri="{FF2B5EF4-FFF2-40B4-BE49-F238E27FC236}">
                <a16:creationId xmlns:a16="http://schemas.microsoft.com/office/drawing/2014/main" id="{1335ED20-C736-193C-A884-15816531F714}"/>
              </a:ext>
            </a:extLst>
          </p:cNvPr>
          <p:cNvSpPr/>
          <p:nvPr/>
        </p:nvSpPr>
        <p:spPr>
          <a:xfrm>
            <a:off x="457200" y="1690118"/>
            <a:ext cx="4160520" cy="493776"/>
          </a:xfrm>
          <a:prstGeom prst="roundRect">
            <a:avLst>
              <a:gd name="adj" fmla="val 12195"/>
            </a:avLst>
          </a:prstGeom>
          <a:solidFill>
            <a:srgbClr val="131E35"/>
          </a:solidFill>
          <a:ln w="6350">
            <a:solidFill>
              <a:srgbClr val="1E2D4A"/>
            </a:solidFill>
            <a:prstDash val="solid"/>
          </a:ln>
        </p:spPr>
      </p:sp>
      <p:sp>
        <p:nvSpPr>
          <p:cNvPr id="44" name="Text 10">
            <a:extLst>
              <a:ext uri="{FF2B5EF4-FFF2-40B4-BE49-F238E27FC236}">
                <a16:creationId xmlns:a16="http://schemas.microsoft.com/office/drawing/2014/main" id="{13B128A5-E186-C596-A880-16396892E073}"/>
              </a:ext>
            </a:extLst>
          </p:cNvPr>
          <p:cNvSpPr/>
          <p:nvPr/>
        </p:nvSpPr>
        <p:spPr>
          <a:xfrm>
            <a:off x="594360" y="1781557"/>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02</a:t>
            </a:r>
            <a:endParaRPr lang="en-US" sz="1400" dirty="0"/>
          </a:p>
        </p:txBody>
      </p:sp>
      <p:sp>
        <p:nvSpPr>
          <p:cNvPr id="45" name="Text 11">
            <a:extLst>
              <a:ext uri="{FF2B5EF4-FFF2-40B4-BE49-F238E27FC236}">
                <a16:creationId xmlns:a16="http://schemas.microsoft.com/office/drawing/2014/main" id="{C811BC14-DBC4-263A-1282-ABBE93057836}"/>
              </a:ext>
            </a:extLst>
          </p:cNvPr>
          <p:cNvSpPr/>
          <p:nvPr/>
        </p:nvSpPr>
        <p:spPr>
          <a:xfrm>
            <a:off x="1051560" y="1763269"/>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Proposed Solutions</a:t>
            </a:r>
            <a:endParaRPr lang="en-US" sz="1200" dirty="0"/>
          </a:p>
        </p:txBody>
      </p:sp>
      <p:sp>
        <p:nvSpPr>
          <p:cNvPr id="46" name="Shape 25">
            <a:extLst>
              <a:ext uri="{FF2B5EF4-FFF2-40B4-BE49-F238E27FC236}">
                <a16:creationId xmlns:a16="http://schemas.microsoft.com/office/drawing/2014/main" id="{202B6312-DB6B-7F80-764C-A80521604369}"/>
              </a:ext>
            </a:extLst>
          </p:cNvPr>
          <p:cNvSpPr/>
          <p:nvPr/>
        </p:nvSpPr>
        <p:spPr>
          <a:xfrm>
            <a:off x="4892040" y="1690117"/>
            <a:ext cx="4160520" cy="502920"/>
          </a:xfrm>
          <a:prstGeom prst="roundRect">
            <a:avLst>
              <a:gd name="adj" fmla="val 12195"/>
            </a:avLst>
          </a:prstGeom>
          <a:solidFill>
            <a:srgbClr val="131E35"/>
          </a:solidFill>
          <a:ln w="6350">
            <a:solidFill>
              <a:srgbClr val="1E2D4A"/>
            </a:solidFill>
            <a:prstDash val="solid"/>
          </a:ln>
        </p:spPr>
      </p:sp>
      <p:sp>
        <p:nvSpPr>
          <p:cNvPr id="47" name="Text 26">
            <a:extLst>
              <a:ext uri="{FF2B5EF4-FFF2-40B4-BE49-F238E27FC236}">
                <a16:creationId xmlns:a16="http://schemas.microsoft.com/office/drawing/2014/main" id="{2E948B40-B8F5-1DA5-0C04-C862424CD7E6}"/>
              </a:ext>
            </a:extLst>
          </p:cNvPr>
          <p:cNvSpPr/>
          <p:nvPr/>
        </p:nvSpPr>
        <p:spPr>
          <a:xfrm>
            <a:off x="5029200" y="1781557"/>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08</a:t>
            </a:r>
            <a:endParaRPr lang="en-US" sz="1400" dirty="0"/>
          </a:p>
        </p:txBody>
      </p:sp>
      <p:sp>
        <p:nvSpPr>
          <p:cNvPr id="48" name="Text 27">
            <a:extLst>
              <a:ext uri="{FF2B5EF4-FFF2-40B4-BE49-F238E27FC236}">
                <a16:creationId xmlns:a16="http://schemas.microsoft.com/office/drawing/2014/main" id="{78DD738E-532F-0A83-A3A6-3494DE05F3A4}"/>
              </a:ext>
            </a:extLst>
          </p:cNvPr>
          <p:cNvSpPr/>
          <p:nvPr/>
        </p:nvSpPr>
        <p:spPr>
          <a:xfrm>
            <a:off x="5486400" y="1763269"/>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Costs</a:t>
            </a:r>
            <a:endParaRPr lang="en-US" sz="1200" dirty="0"/>
          </a:p>
        </p:txBody>
      </p:sp>
      <p:sp>
        <p:nvSpPr>
          <p:cNvPr id="49" name="Shape 9">
            <a:extLst>
              <a:ext uri="{FF2B5EF4-FFF2-40B4-BE49-F238E27FC236}">
                <a16:creationId xmlns:a16="http://schemas.microsoft.com/office/drawing/2014/main" id="{70400545-0878-D2B2-C81D-DBF048A89597}"/>
              </a:ext>
            </a:extLst>
          </p:cNvPr>
          <p:cNvSpPr/>
          <p:nvPr/>
        </p:nvSpPr>
        <p:spPr>
          <a:xfrm>
            <a:off x="457200" y="2345436"/>
            <a:ext cx="4160520" cy="493776"/>
          </a:xfrm>
          <a:prstGeom prst="roundRect">
            <a:avLst>
              <a:gd name="adj" fmla="val 12195"/>
            </a:avLst>
          </a:prstGeom>
          <a:solidFill>
            <a:srgbClr val="131E35"/>
          </a:solidFill>
          <a:ln w="6350">
            <a:solidFill>
              <a:srgbClr val="1E2D4A"/>
            </a:solidFill>
            <a:prstDash val="solid"/>
          </a:ln>
        </p:spPr>
      </p:sp>
      <p:sp>
        <p:nvSpPr>
          <p:cNvPr id="50" name="Text 10">
            <a:extLst>
              <a:ext uri="{FF2B5EF4-FFF2-40B4-BE49-F238E27FC236}">
                <a16:creationId xmlns:a16="http://schemas.microsoft.com/office/drawing/2014/main" id="{731709E2-F06D-B8AD-819B-910E014C6418}"/>
              </a:ext>
            </a:extLst>
          </p:cNvPr>
          <p:cNvSpPr/>
          <p:nvPr/>
        </p:nvSpPr>
        <p:spPr>
          <a:xfrm>
            <a:off x="594360" y="2436875"/>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03</a:t>
            </a:r>
            <a:endParaRPr lang="en-US" sz="1400" dirty="0"/>
          </a:p>
        </p:txBody>
      </p:sp>
      <p:sp>
        <p:nvSpPr>
          <p:cNvPr id="51" name="Text 11">
            <a:extLst>
              <a:ext uri="{FF2B5EF4-FFF2-40B4-BE49-F238E27FC236}">
                <a16:creationId xmlns:a16="http://schemas.microsoft.com/office/drawing/2014/main" id="{13064FDD-340C-7A23-D2F9-3E71A740C3D0}"/>
              </a:ext>
            </a:extLst>
          </p:cNvPr>
          <p:cNvSpPr/>
          <p:nvPr/>
        </p:nvSpPr>
        <p:spPr>
          <a:xfrm>
            <a:off x="1051560" y="2418587"/>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Added Value</a:t>
            </a:r>
            <a:endParaRPr lang="en-US" sz="1200" dirty="0"/>
          </a:p>
        </p:txBody>
      </p:sp>
      <p:sp>
        <p:nvSpPr>
          <p:cNvPr id="52" name="Shape 25">
            <a:extLst>
              <a:ext uri="{FF2B5EF4-FFF2-40B4-BE49-F238E27FC236}">
                <a16:creationId xmlns:a16="http://schemas.microsoft.com/office/drawing/2014/main" id="{37DB286F-F88C-1CC9-6DF5-7EB4BA56D912}"/>
              </a:ext>
            </a:extLst>
          </p:cNvPr>
          <p:cNvSpPr/>
          <p:nvPr/>
        </p:nvSpPr>
        <p:spPr>
          <a:xfrm>
            <a:off x="4892040" y="2345435"/>
            <a:ext cx="4160520" cy="502920"/>
          </a:xfrm>
          <a:prstGeom prst="roundRect">
            <a:avLst>
              <a:gd name="adj" fmla="val 12195"/>
            </a:avLst>
          </a:prstGeom>
          <a:solidFill>
            <a:srgbClr val="131E35"/>
          </a:solidFill>
          <a:ln w="6350">
            <a:solidFill>
              <a:srgbClr val="1E2D4A"/>
            </a:solidFill>
            <a:prstDash val="solid"/>
          </a:ln>
        </p:spPr>
      </p:sp>
      <p:sp>
        <p:nvSpPr>
          <p:cNvPr id="53" name="Text 26">
            <a:extLst>
              <a:ext uri="{FF2B5EF4-FFF2-40B4-BE49-F238E27FC236}">
                <a16:creationId xmlns:a16="http://schemas.microsoft.com/office/drawing/2014/main" id="{62799C08-DBBE-717A-4066-F79769463345}"/>
              </a:ext>
            </a:extLst>
          </p:cNvPr>
          <p:cNvSpPr/>
          <p:nvPr/>
        </p:nvSpPr>
        <p:spPr>
          <a:xfrm>
            <a:off x="5029200" y="2436875"/>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09</a:t>
            </a:r>
            <a:endParaRPr lang="en-US" sz="1400" dirty="0"/>
          </a:p>
        </p:txBody>
      </p:sp>
      <p:sp>
        <p:nvSpPr>
          <p:cNvPr id="54" name="Text 27">
            <a:extLst>
              <a:ext uri="{FF2B5EF4-FFF2-40B4-BE49-F238E27FC236}">
                <a16:creationId xmlns:a16="http://schemas.microsoft.com/office/drawing/2014/main" id="{80DE62A8-D140-64FF-5A77-C16E87D5B26E}"/>
              </a:ext>
            </a:extLst>
          </p:cNvPr>
          <p:cNvSpPr/>
          <p:nvPr/>
        </p:nvSpPr>
        <p:spPr>
          <a:xfrm>
            <a:off x="5486400" y="2418587"/>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Future Prospects</a:t>
            </a:r>
            <a:endParaRPr lang="en-US" sz="1200" dirty="0"/>
          </a:p>
        </p:txBody>
      </p:sp>
      <p:sp>
        <p:nvSpPr>
          <p:cNvPr id="55" name="Shape 9">
            <a:extLst>
              <a:ext uri="{FF2B5EF4-FFF2-40B4-BE49-F238E27FC236}">
                <a16:creationId xmlns:a16="http://schemas.microsoft.com/office/drawing/2014/main" id="{A6BBDA60-A147-88CF-3699-4228176BBCBE}"/>
              </a:ext>
            </a:extLst>
          </p:cNvPr>
          <p:cNvSpPr/>
          <p:nvPr/>
        </p:nvSpPr>
        <p:spPr>
          <a:xfrm>
            <a:off x="457200" y="3067812"/>
            <a:ext cx="4160520" cy="493776"/>
          </a:xfrm>
          <a:prstGeom prst="roundRect">
            <a:avLst>
              <a:gd name="adj" fmla="val 12195"/>
            </a:avLst>
          </a:prstGeom>
          <a:solidFill>
            <a:srgbClr val="131E35"/>
          </a:solidFill>
          <a:ln w="6350">
            <a:solidFill>
              <a:srgbClr val="1E2D4A"/>
            </a:solidFill>
            <a:prstDash val="solid"/>
          </a:ln>
        </p:spPr>
      </p:sp>
      <p:sp>
        <p:nvSpPr>
          <p:cNvPr id="56" name="Text 10">
            <a:extLst>
              <a:ext uri="{FF2B5EF4-FFF2-40B4-BE49-F238E27FC236}">
                <a16:creationId xmlns:a16="http://schemas.microsoft.com/office/drawing/2014/main" id="{235ABBC3-4D05-5A19-A5EB-C592656C9197}"/>
              </a:ext>
            </a:extLst>
          </p:cNvPr>
          <p:cNvSpPr/>
          <p:nvPr/>
        </p:nvSpPr>
        <p:spPr>
          <a:xfrm>
            <a:off x="594360" y="3159251"/>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04</a:t>
            </a:r>
            <a:endParaRPr lang="en-US" sz="1400" dirty="0"/>
          </a:p>
        </p:txBody>
      </p:sp>
      <p:sp>
        <p:nvSpPr>
          <p:cNvPr id="57" name="Text 11">
            <a:extLst>
              <a:ext uri="{FF2B5EF4-FFF2-40B4-BE49-F238E27FC236}">
                <a16:creationId xmlns:a16="http://schemas.microsoft.com/office/drawing/2014/main" id="{3D4BD48A-DF54-3B8B-62BE-8A02D2CC1875}"/>
              </a:ext>
            </a:extLst>
          </p:cNvPr>
          <p:cNvSpPr/>
          <p:nvPr/>
        </p:nvSpPr>
        <p:spPr>
          <a:xfrm>
            <a:off x="1051560" y="3140963"/>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Innovation</a:t>
            </a:r>
            <a:endParaRPr lang="en-US" sz="1200" dirty="0"/>
          </a:p>
        </p:txBody>
      </p:sp>
      <p:sp>
        <p:nvSpPr>
          <p:cNvPr id="58" name="Shape 25">
            <a:extLst>
              <a:ext uri="{FF2B5EF4-FFF2-40B4-BE49-F238E27FC236}">
                <a16:creationId xmlns:a16="http://schemas.microsoft.com/office/drawing/2014/main" id="{90D66843-7DA7-9CA8-3B9B-0AB4496CEB87}"/>
              </a:ext>
            </a:extLst>
          </p:cNvPr>
          <p:cNvSpPr/>
          <p:nvPr/>
        </p:nvSpPr>
        <p:spPr>
          <a:xfrm>
            <a:off x="4892040" y="3067811"/>
            <a:ext cx="4160520" cy="502920"/>
          </a:xfrm>
          <a:prstGeom prst="roundRect">
            <a:avLst>
              <a:gd name="adj" fmla="val 12195"/>
            </a:avLst>
          </a:prstGeom>
          <a:solidFill>
            <a:srgbClr val="131E35"/>
          </a:solidFill>
          <a:ln w="6350">
            <a:solidFill>
              <a:srgbClr val="1E2D4A"/>
            </a:solidFill>
            <a:prstDash val="solid"/>
          </a:ln>
        </p:spPr>
      </p:sp>
      <p:sp>
        <p:nvSpPr>
          <p:cNvPr id="59" name="Text 26">
            <a:extLst>
              <a:ext uri="{FF2B5EF4-FFF2-40B4-BE49-F238E27FC236}">
                <a16:creationId xmlns:a16="http://schemas.microsoft.com/office/drawing/2014/main" id="{59DB77ED-3C47-07E2-3DA7-EAEB6D1291B6}"/>
              </a:ext>
            </a:extLst>
          </p:cNvPr>
          <p:cNvSpPr/>
          <p:nvPr/>
        </p:nvSpPr>
        <p:spPr>
          <a:xfrm>
            <a:off x="5029200" y="3159251"/>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10</a:t>
            </a:r>
            <a:endParaRPr lang="en-US" sz="1400" dirty="0"/>
          </a:p>
        </p:txBody>
      </p:sp>
      <p:sp>
        <p:nvSpPr>
          <p:cNvPr id="60" name="Text 27">
            <a:extLst>
              <a:ext uri="{FF2B5EF4-FFF2-40B4-BE49-F238E27FC236}">
                <a16:creationId xmlns:a16="http://schemas.microsoft.com/office/drawing/2014/main" id="{A64E753A-3F94-E9E3-219F-7F7AD74551BD}"/>
              </a:ext>
            </a:extLst>
          </p:cNvPr>
          <p:cNvSpPr/>
          <p:nvPr/>
        </p:nvSpPr>
        <p:spPr>
          <a:xfrm>
            <a:off x="5486400" y="3140963"/>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Screenshots</a:t>
            </a:r>
            <a:endParaRPr lang="en-US" sz="1200" dirty="0"/>
          </a:p>
        </p:txBody>
      </p:sp>
      <p:sp>
        <p:nvSpPr>
          <p:cNvPr id="61" name="Shape 9">
            <a:extLst>
              <a:ext uri="{FF2B5EF4-FFF2-40B4-BE49-F238E27FC236}">
                <a16:creationId xmlns:a16="http://schemas.microsoft.com/office/drawing/2014/main" id="{73928100-D508-1742-BF2E-57A1C41EB294}"/>
              </a:ext>
            </a:extLst>
          </p:cNvPr>
          <p:cNvSpPr/>
          <p:nvPr/>
        </p:nvSpPr>
        <p:spPr>
          <a:xfrm>
            <a:off x="457200" y="3790188"/>
            <a:ext cx="4160520" cy="493776"/>
          </a:xfrm>
          <a:prstGeom prst="roundRect">
            <a:avLst>
              <a:gd name="adj" fmla="val 12195"/>
            </a:avLst>
          </a:prstGeom>
          <a:solidFill>
            <a:srgbClr val="131E35"/>
          </a:solidFill>
          <a:ln w="6350">
            <a:solidFill>
              <a:srgbClr val="1E2D4A"/>
            </a:solidFill>
            <a:prstDash val="solid"/>
          </a:ln>
        </p:spPr>
      </p:sp>
      <p:sp>
        <p:nvSpPr>
          <p:cNvPr id="62" name="Text 10">
            <a:extLst>
              <a:ext uri="{FF2B5EF4-FFF2-40B4-BE49-F238E27FC236}">
                <a16:creationId xmlns:a16="http://schemas.microsoft.com/office/drawing/2014/main" id="{0B50C216-0F94-3805-F7A9-3090B5359BA0}"/>
              </a:ext>
            </a:extLst>
          </p:cNvPr>
          <p:cNvSpPr/>
          <p:nvPr/>
        </p:nvSpPr>
        <p:spPr>
          <a:xfrm>
            <a:off x="594360" y="3881627"/>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05</a:t>
            </a:r>
            <a:endParaRPr lang="en-US" sz="1400" dirty="0"/>
          </a:p>
        </p:txBody>
      </p:sp>
      <p:sp>
        <p:nvSpPr>
          <p:cNvPr id="63" name="Text 11">
            <a:extLst>
              <a:ext uri="{FF2B5EF4-FFF2-40B4-BE49-F238E27FC236}">
                <a16:creationId xmlns:a16="http://schemas.microsoft.com/office/drawing/2014/main" id="{90BDC628-18A5-F12D-119A-9B58271964D1}"/>
              </a:ext>
            </a:extLst>
          </p:cNvPr>
          <p:cNvSpPr/>
          <p:nvPr/>
        </p:nvSpPr>
        <p:spPr>
          <a:xfrm>
            <a:off x="1051560" y="3863339"/>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Business Model Canvas</a:t>
            </a:r>
            <a:endParaRPr lang="en-US" sz="1200" dirty="0"/>
          </a:p>
        </p:txBody>
      </p:sp>
      <p:sp>
        <p:nvSpPr>
          <p:cNvPr id="64" name="Shape 25">
            <a:extLst>
              <a:ext uri="{FF2B5EF4-FFF2-40B4-BE49-F238E27FC236}">
                <a16:creationId xmlns:a16="http://schemas.microsoft.com/office/drawing/2014/main" id="{B83177FE-2EFC-0CE3-95B1-AEB573B91BBB}"/>
              </a:ext>
            </a:extLst>
          </p:cNvPr>
          <p:cNvSpPr/>
          <p:nvPr/>
        </p:nvSpPr>
        <p:spPr>
          <a:xfrm>
            <a:off x="4892040" y="3790187"/>
            <a:ext cx="4160520" cy="502920"/>
          </a:xfrm>
          <a:prstGeom prst="roundRect">
            <a:avLst>
              <a:gd name="adj" fmla="val 12195"/>
            </a:avLst>
          </a:prstGeom>
          <a:solidFill>
            <a:srgbClr val="131E35"/>
          </a:solidFill>
          <a:ln w="6350">
            <a:solidFill>
              <a:srgbClr val="1E2D4A"/>
            </a:solidFill>
            <a:prstDash val="solid"/>
          </a:ln>
        </p:spPr>
      </p:sp>
      <p:sp>
        <p:nvSpPr>
          <p:cNvPr id="65" name="Text 26">
            <a:extLst>
              <a:ext uri="{FF2B5EF4-FFF2-40B4-BE49-F238E27FC236}">
                <a16:creationId xmlns:a16="http://schemas.microsoft.com/office/drawing/2014/main" id="{0C3E9BF3-19E3-E69F-991E-FA3C00CC9D64}"/>
              </a:ext>
            </a:extLst>
          </p:cNvPr>
          <p:cNvSpPr/>
          <p:nvPr/>
        </p:nvSpPr>
        <p:spPr>
          <a:xfrm>
            <a:off x="5029200" y="3881627"/>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11</a:t>
            </a:r>
            <a:endParaRPr lang="en-US" sz="1400" dirty="0"/>
          </a:p>
        </p:txBody>
      </p:sp>
      <p:sp>
        <p:nvSpPr>
          <p:cNvPr id="66" name="Text 27">
            <a:extLst>
              <a:ext uri="{FF2B5EF4-FFF2-40B4-BE49-F238E27FC236}">
                <a16:creationId xmlns:a16="http://schemas.microsoft.com/office/drawing/2014/main" id="{B7B71297-F4FE-1BE3-C344-3B4487AEE137}"/>
              </a:ext>
            </a:extLst>
          </p:cNvPr>
          <p:cNvSpPr/>
          <p:nvPr/>
        </p:nvSpPr>
        <p:spPr>
          <a:xfrm>
            <a:off x="5486400" y="3863339"/>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Our Team</a:t>
            </a:r>
            <a:endParaRPr lang="en-US" sz="1200" dirty="0"/>
          </a:p>
        </p:txBody>
      </p:sp>
      <p:sp>
        <p:nvSpPr>
          <p:cNvPr id="67" name="Shape 9">
            <a:extLst>
              <a:ext uri="{FF2B5EF4-FFF2-40B4-BE49-F238E27FC236}">
                <a16:creationId xmlns:a16="http://schemas.microsoft.com/office/drawing/2014/main" id="{1D2CE991-E8A1-706F-F770-5D67E8B2A85D}"/>
              </a:ext>
            </a:extLst>
          </p:cNvPr>
          <p:cNvSpPr/>
          <p:nvPr/>
        </p:nvSpPr>
        <p:spPr>
          <a:xfrm>
            <a:off x="457200" y="4463797"/>
            <a:ext cx="4160520" cy="493776"/>
          </a:xfrm>
          <a:prstGeom prst="roundRect">
            <a:avLst>
              <a:gd name="adj" fmla="val 12195"/>
            </a:avLst>
          </a:prstGeom>
          <a:solidFill>
            <a:srgbClr val="131E35"/>
          </a:solidFill>
          <a:ln w="6350">
            <a:solidFill>
              <a:srgbClr val="1E2D4A"/>
            </a:solidFill>
            <a:prstDash val="solid"/>
          </a:ln>
        </p:spPr>
      </p:sp>
      <p:sp>
        <p:nvSpPr>
          <p:cNvPr id="68" name="Text 10">
            <a:extLst>
              <a:ext uri="{FF2B5EF4-FFF2-40B4-BE49-F238E27FC236}">
                <a16:creationId xmlns:a16="http://schemas.microsoft.com/office/drawing/2014/main" id="{5623C6F9-5FDF-ACD6-D888-98E12FD81425}"/>
              </a:ext>
            </a:extLst>
          </p:cNvPr>
          <p:cNvSpPr/>
          <p:nvPr/>
        </p:nvSpPr>
        <p:spPr>
          <a:xfrm>
            <a:off x="594360" y="4555236"/>
            <a:ext cx="457200" cy="274320"/>
          </a:xfrm>
          <a:prstGeom prst="rect">
            <a:avLst/>
          </a:prstGeom>
          <a:noFill/>
          <a:ln/>
        </p:spPr>
        <p:txBody>
          <a:bodyPr wrap="square" lIns="0" tIns="0" rIns="0" bIns="0" rtlCol="0" anchor="ctr"/>
          <a:lstStyle/>
          <a:p>
            <a:pPr marL="0" indent="0" algn="l">
              <a:buNone/>
            </a:pPr>
            <a:r>
              <a:rPr lang="en-US" sz="1400" b="1" dirty="0">
                <a:solidFill>
                  <a:srgbClr val="00C896"/>
                </a:solidFill>
                <a:latin typeface="Cambria" pitchFamily="34" charset="0"/>
                <a:ea typeface="Cambria" pitchFamily="34" charset="-122"/>
                <a:cs typeface="Cambria" pitchFamily="34" charset="-120"/>
              </a:rPr>
              <a:t>06</a:t>
            </a:r>
            <a:endParaRPr lang="en-US" sz="1400" dirty="0"/>
          </a:p>
        </p:txBody>
      </p:sp>
      <p:sp>
        <p:nvSpPr>
          <p:cNvPr id="69" name="Text 11">
            <a:extLst>
              <a:ext uri="{FF2B5EF4-FFF2-40B4-BE49-F238E27FC236}">
                <a16:creationId xmlns:a16="http://schemas.microsoft.com/office/drawing/2014/main" id="{06E32769-A5AF-C39D-AC11-9DEE2A55C9BD}"/>
              </a:ext>
            </a:extLst>
          </p:cNvPr>
          <p:cNvSpPr/>
          <p:nvPr/>
        </p:nvSpPr>
        <p:spPr>
          <a:xfrm>
            <a:off x="1051560" y="4536948"/>
            <a:ext cx="3383280" cy="25603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Clients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A4A59D63-37ED-5B78-A8B4-C21BC0E0100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DED6E9-D8F6-197C-5FE3-1E3499278D7B}"/>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FB3C6759-FBF5-F758-3023-899F2FE50EA7}"/>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250EED68-D04F-B719-0408-DA9602EDB9FC}"/>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ED6D3CC4-4FFE-9A54-03DB-18A59AE67BE6}"/>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73F1F399-60C0-4398-2337-C267EED4F043}"/>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52DAA5E0-DDFE-8A11-5183-838AC378598E}"/>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CE465B3F-0F9F-5D4E-CF0C-CE69D35E7464}"/>
              </a:ext>
            </a:extLst>
          </p:cNvPr>
          <p:cNvSpPr/>
          <p:nvPr/>
        </p:nvSpPr>
        <p:spPr>
          <a:xfrm>
            <a:off x="731520" y="0"/>
            <a:ext cx="0" cy="5143500"/>
          </a:xfrm>
          <a:prstGeom prst="line">
            <a:avLst/>
          </a:prstGeom>
          <a:noFill/>
          <a:ln w="6350">
            <a:solidFill>
              <a:srgbClr val="1A2540"/>
            </a:solidFill>
            <a:prstDash val="solid"/>
          </a:ln>
        </p:spPr>
      </p:sp>
      <p:sp>
        <p:nvSpPr>
          <p:cNvPr id="9" name="Shape 7">
            <a:extLst>
              <a:ext uri="{FF2B5EF4-FFF2-40B4-BE49-F238E27FC236}">
                <a16:creationId xmlns:a16="http://schemas.microsoft.com/office/drawing/2014/main" id="{F3BCAFD4-79B7-FD75-9B59-F26718ECB0E1}"/>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61973C01-F7B5-F0A6-F9F4-54C56F0C2D61}"/>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EA0EA933-8A64-357D-6D70-B3E8F27A4B7A}"/>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2150F6AC-E98A-EE53-8124-2DF5EBEE28F1}"/>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E92204C5-1B1D-5477-93FC-8EBBB0DB2831}"/>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B9E4C909-EF44-2839-C34A-36262228D9CA}"/>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5BD02C37-9591-2F27-11CA-1E811A7F669E}"/>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03FE611B-5EC2-670E-4E25-30EA9ACAC280}"/>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15200D04-BB10-E03B-36D1-A937B97A9568}"/>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E592A343-A441-A005-35C9-1E3E981306F9}"/>
              </a:ext>
            </a:extLst>
          </p:cNvPr>
          <p:cNvSpPr/>
          <p:nvPr/>
        </p:nvSpPr>
        <p:spPr>
          <a:xfrm>
            <a:off x="3200400" y="-1828800"/>
            <a:ext cx="6400800" cy="6400800"/>
          </a:xfrm>
          <a:prstGeom prst="ellipse">
            <a:avLst/>
          </a:prstGeom>
          <a:solidFill>
            <a:srgbClr val="00C896">
              <a:alpha val="8000"/>
            </a:srgbClr>
          </a:solidFill>
          <a:ln/>
        </p:spPr>
      </p:sp>
      <p:sp>
        <p:nvSpPr>
          <p:cNvPr id="19" name="Shape 17">
            <a:extLst>
              <a:ext uri="{FF2B5EF4-FFF2-40B4-BE49-F238E27FC236}">
                <a16:creationId xmlns:a16="http://schemas.microsoft.com/office/drawing/2014/main" id="{3C8E8F19-7640-F44C-CA7A-BBB26D4B579B}"/>
              </a:ext>
            </a:extLst>
          </p:cNvPr>
          <p:cNvSpPr/>
          <p:nvPr/>
        </p:nvSpPr>
        <p:spPr>
          <a:xfrm>
            <a:off x="5486400" y="2743200"/>
            <a:ext cx="5486400" cy="5486400"/>
          </a:xfrm>
          <a:prstGeom prst="ellipse">
            <a:avLst/>
          </a:prstGeom>
          <a:solidFill>
            <a:srgbClr val="0050FF">
              <a:alpha val="8000"/>
            </a:srgbClr>
          </a:solidFill>
          <a:ln/>
        </p:spPr>
      </p:sp>
      <p:sp>
        <p:nvSpPr>
          <p:cNvPr id="25" name="Text 7">
            <a:extLst>
              <a:ext uri="{FF2B5EF4-FFF2-40B4-BE49-F238E27FC236}">
                <a16:creationId xmlns:a16="http://schemas.microsoft.com/office/drawing/2014/main" id="{DF145B9C-BA5A-CCCC-4812-0F0B97E73633}"/>
              </a:ext>
            </a:extLst>
          </p:cNvPr>
          <p:cNvSpPr/>
          <p:nvPr/>
        </p:nvSpPr>
        <p:spPr>
          <a:xfrm>
            <a:off x="457200" y="164592"/>
            <a:ext cx="8229600" cy="228600"/>
          </a:xfrm>
          <a:prstGeom prst="rect">
            <a:avLst/>
          </a:prstGeom>
          <a:noFill/>
          <a:ln/>
        </p:spPr>
        <p:txBody>
          <a:bodyPr wrap="square" lIns="0" tIns="0" rIns="0" bIns="0" rtlCol="0" anchor="ctr"/>
          <a:lstStyle/>
          <a:p>
            <a:r>
              <a:rPr lang="en-US" sz="900" b="1" kern="0" spc="300" dirty="0">
                <a:solidFill>
                  <a:srgbClr val="00C896"/>
                </a:solidFill>
                <a:latin typeface="Calibri" pitchFamily="34" charset="0"/>
                <a:ea typeface="Calibri" pitchFamily="34" charset="-122"/>
                <a:cs typeface="Calibri" pitchFamily="34" charset="-120"/>
              </a:rPr>
              <a:t>01 — PROBLEM</a:t>
            </a:r>
            <a:endParaRPr lang="en-US" sz="900" dirty="0"/>
          </a:p>
        </p:txBody>
      </p:sp>
      <p:sp>
        <p:nvSpPr>
          <p:cNvPr id="26" name="Text 8">
            <a:extLst>
              <a:ext uri="{FF2B5EF4-FFF2-40B4-BE49-F238E27FC236}">
                <a16:creationId xmlns:a16="http://schemas.microsoft.com/office/drawing/2014/main" id="{13F59259-8F24-EBA5-BC30-C2C7983B1E44}"/>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FDM Problem</a:t>
            </a:r>
          </a:p>
        </p:txBody>
      </p:sp>
      <p:sp>
        <p:nvSpPr>
          <p:cNvPr id="27" name="Shape 10">
            <a:extLst>
              <a:ext uri="{FF2B5EF4-FFF2-40B4-BE49-F238E27FC236}">
                <a16:creationId xmlns:a16="http://schemas.microsoft.com/office/drawing/2014/main" id="{08FB9774-487E-C711-CD40-02190AEB879C}"/>
              </a:ext>
            </a:extLst>
          </p:cNvPr>
          <p:cNvSpPr/>
          <p:nvPr/>
        </p:nvSpPr>
        <p:spPr>
          <a:xfrm>
            <a:off x="457200" y="1106423"/>
            <a:ext cx="8229600" cy="3493007"/>
          </a:xfrm>
          <a:prstGeom prst="roundRect">
            <a:avLst>
              <a:gd name="adj" fmla="val 3429"/>
            </a:avLst>
          </a:prstGeom>
          <a:solidFill>
            <a:srgbClr val="131E35"/>
          </a:solidFill>
          <a:ln w="12700">
            <a:solidFill>
              <a:srgbClr val="1E2D4A"/>
            </a:solidFill>
            <a:prstDash val="solid"/>
          </a:ln>
        </p:spPr>
        <p:txBody>
          <a:bodyPr/>
          <a:lstStyle/>
          <a:p>
            <a:endParaRPr lang="en-US" dirty="0"/>
          </a:p>
        </p:txBody>
      </p:sp>
      <p:sp>
        <p:nvSpPr>
          <p:cNvPr id="20" name="Text 11">
            <a:extLst>
              <a:ext uri="{FF2B5EF4-FFF2-40B4-BE49-F238E27FC236}">
                <a16:creationId xmlns:a16="http://schemas.microsoft.com/office/drawing/2014/main" id="{70C7F8C2-154D-6EF9-7989-9E2B36CB7F1F}"/>
              </a:ext>
            </a:extLst>
          </p:cNvPr>
          <p:cNvSpPr/>
          <p:nvPr/>
        </p:nvSpPr>
        <p:spPr>
          <a:xfrm>
            <a:off x="731519" y="1243582"/>
            <a:ext cx="7680960" cy="3493010"/>
          </a:xfrm>
          <a:prstGeom prst="rect">
            <a:avLst/>
          </a:prstGeom>
          <a:noFill/>
          <a:ln/>
        </p:spPr>
        <p:txBody>
          <a:bodyPr wrap="square" lIns="0" tIns="0" rIns="0" bIns="0" rtlCol="0" anchor="ctr"/>
          <a:lstStyle/>
          <a:p>
            <a:pPr marL="0" indent="0" algn="l">
              <a:buNone/>
            </a:pPr>
            <a:r>
              <a:rPr lang="en-US" sz="1400" dirty="0">
                <a:solidFill>
                  <a:srgbClr val="DFE0E3"/>
                </a:solidFill>
              </a:rPr>
              <a:t>Every day, makers, engineering labs, and small businesses use FDM 3D printers to create prototypes, functional parts, and small production runs. However, printer failures remain a common problem. Unexpected breakdowns, failed prints, material waste, and machine downtime can lead to lost time and higher costs.</a:t>
            </a:r>
          </a:p>
          <a:p>
            <a:pPr marL="0" indent="0" algn="l">
              <a:buNone/>
            </a:pPr>
            <a:endParaRPr lang="en-US" sz="1400" dirty="0">
              <a:solidFill>
                <a:srgbClr val="DFE0E3"/>
              </a:solidFill>
            </a:endParaRPr>
          </a:p>
          <a:p>
            <a:pPr marL="0" indent="0" algn="l">
              <a:buNone/>
            </a:pPr>
            <a:r>
              <a:rPr lang="en-US" sz="1400" dirty="0">
                <a:solidFill>
                  <a:srgbClr val="DFE0E3"/>
                </a:solidFill>
              </a:rPr>
              <a:t>Most users still rely on reactive maintenance, meaning they only address problems after a failure occurs. This happens because desktop 3D printers often lack monitoring tools, and users have little visibility into the condition of their printers while a print is running. </a:t>
            </a:r>
          </a:p>
          <a:p>
            <a:pPr marL="0" indent="0" algn="l">
              <a:buNone/>
            </a:pPr>
            <a:endParaRPr lang="en-US" sz="1400" dirty="0">
              <a:solidFill>
                <a:srgbClr val="DFE0E3"/>
              </a:solidFill>
            </a:endParaRPr>
          </a:p>
          <a:p>
            <a:pPr marL="0" indent="0" algn="l">
              <a:buNone/>
            </a:pPr>
            <a:r>
              <a:rPr lang="en-US" sz="1400" dirty="0">
                <a:solidFill>
                  <a:srgbClr val="DFE0E3"/>
                </a:solidFill>
              </a:rPr>
              <a:t>As a result, makers, laboratories, and small businesses need a simple solution that can monitor printer health in real time, detect potential issues early, and help prevent failures before they happen. This would reduce downtime, minimize waste, and allow users to print with greater confidence and reliability.</a:t>
            </a:r>
          </a:p>
          <a:p>
            <a:pPr marL="0" indent="0" algn="l">
              <a:buNone/>
            </a:pPr>
            <a:endParaRPr lang="en-US" sz="1100" dirty="0">
              <a:solidFill>
                <a:srgbClr val="DFE0E3"/>
              </a:solidFill>
            </a:endParaRPr>
          </a:p>
        </p:txBody>
      </p:sp>
    </p:spTree>
    <p:extLst>
      <p:ext uri="{BB962C8B-B14F-4D97-AF65-F5344CB8AC3E}">
        <p14:creationId xmlns:p14="http://schemas.microsoft.com/office/powerpoint/2010/main" val="48883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914400"/>
            <a:ext cx="9144000" cy="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sp>
      <p:sp>
        <p:nvSpPr>
          <p:cNvPr id="4" name="Shape 2"/>
          <p:cNvSpPr/>
          <p:nvPr/>
        </p:nvSpPr>
        <p:spPr>
          <a:xfrm>
            <a:off x="0" y="2377440"/>
            <a:ext cx="9144000" cy="0"/>
          </a:xfrm>
          <a:prstGeom prst="line">
            <a:avLst/>
          </a:prstGeom>
          <a:noFill/>
          <a:ln w="6350">
            <a:solidFill>
              <a:srgbClr val="1A2540"/>
            </a:solidFill>
            <a:prstDash val="solid"/>
          </a:ln>
        </p:spPr>
      </p:sp>
      <p:sp>
        <p:nvSpPr>
          <p:cNvPr id="5" name="Shape 3"/>
          <p:cNvSpPr/>
          <p:nvPr/>
        </p:nvSpPr>
        <p:spPr>
          <a:xfrm>
            <a:off x="0" y="3108960"/>
            <a:ext cx="9144000" cy="0"/>
          </a:xfrm>
          <a:prstGeom prst="line">
            <a:avLst/>
          </a:prstGeom>
          <a:noFill/>
          <a:ln w="6350">
            <a:solidFill>
              <a:srgbClr val="1A2540"/>
            </a:solidFill>
            <a:prstDash val="solid"/>
          </a:ln>
        </p:spPr>
      </p:sp>
      <p:sp>
        <p:nvSpPr>
          <p:cNvPr id="6" name="Shape 4"/>
          <p:cNvSpPr/>
          <p:nvPr/>
        </p:nvSpPr>
        <p:spPr>
          <a:xfrm>
            <a:off x="0" y="3840480"/>
            <a:ext cx="9144000" cy="0"/>
          </a:xfrm>
          <a:prstGeom prst="line">
            <a:avLst/>
          </a:prstGeom>
          <a:noFill/>
          <a:ln w="6350">
            <a:solidFill>
              <a:srgbClr val="1A2540"/>
            </a:solidFill>
            <a:prstDash val="solid"/>
          </a:ln>
        </p:spPr>
      </p:sp>
      <p:sp>
        <p:nvSpPr>
          <p:cNvPr id="7" name="Shape 5"/>
          <p:cNvSpPr/>
          <p:nvPr/>
        </p:nvSpPr>
        <p:spPr>
          <a:xfrm>
            <a:off x="0" y="4572000"/>
            <a:ext cx="9144000" cy="0"/>
          </a:xfrm>
          <a:prstGeom prst="line">
            <a:avLst/>
          </a:prstGeom>
          <a:noFill/>
          <a:ln w="6350">
            <a:solidFill>
              <a:srgbClr val="1A2540"/>
            </a:solidFill>
            <a:prstDash val="solid"/>
          </a:ln>
        </p:spPr>
      </p:sp>
      <p:sp>
        <p:nvSpPr>
          <p:cNvPr id="8" name="Shape 6"/>
          <p:cNvSpPr/>
          <p:nvPr/>
        </p:nvSpPr>
        <p:spPr>
          <a:xfrm>
            <a:off x="-1828800" y="1828800"/>
            <a:ext cx="6400800" cy="6400800"/>
          </a:xfrm>
          <a:prstGeom prst="ellipse">
            <a:avLst/>
          </a:prstGeom>
          <a:solidFill>
            <a:srgbClr val="FF6B35">
              <a:alpha val="6000"/>
            </a:srgbClr>
          </a:solidFill>
          <a:ln/>
        </p:spPr>
      </p:sp>
      <p:sp>
        <p:nvSpPr>
          <p:cNvPr id="9" name="Text 7"/>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01 — PROBLEM</a:t>
            </a:r>
            <a:endParaRPr lang="en-US" sz="900" dirty="0"/>
          </a:p>
        </p:txBody>
      </p:sp>
      <p:sp>
        <p:nvSpPr>
          <p:cNvPr id="10" name="Text 8"/>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FDM Problem</a:t>
            </a:r>
            <a:endParaRPr lang="en-US" sz="2600" dirty="0"/>
          </a:p>
        </p:txBody>
      </p:sp>
      <p:sp>
        <p:nvSpPr>
          <p:cNvPr id="11" name="Shape 9"/>
          <p:cNvSpPr/>
          <p:nvPr/>
        </p:nvSpPr>
        <p:spPr>
          <a:xfrm>
            <a:off x="457200" y="1051560"/>
            <a:ext cx="3200400" cy="1051560"/>
          </a:xfrm>
          <a:prstGeom prst="roundRect">
            <a:avLst>
              <a:gd name="adj" fmla="val 8696"/>
            </a:avLst>
          </a:prstGeom>
          <a:solidFill>
            <a:srgbClr val="131E35"/>
          </a:solidFill>
          <a:ln w="6350">
            <a:solidFill>
              <a:srgbClr val="FF6B35"/>
            </a:solidFill>
            <a:prstDash val="solid"/>
          </a:ln>
        </p:spPr>
      </p:sp>
      <p:sp>
        <p:nvSpPr>
          <p:cNvPr id="12" name="Text 10"/>
          <p:cNvSpPr/>
          <p:nvPr/>
        </p:nvSpPr>
        <p:spPr>
          <a:xfrm>
            <a:off x="640080" y="1097280"/>
            <a:ext cx="2834640" cy="502920"/>
          </a:xfrm>
          <a:prstGeom prst="rect">
            <a:avLst/>
          </a:prstGeom>
          <a:noFill/>
          <a:ln/>
        </p:spPr>
        <p:txBody>
          <a:bodyPr wrap="square" lIns="0" tIns="0" rIns="0" bIns="0" rtlCol="0" anchor="ctr"/>
          <a:lstStyle/>
          <a:p>
            <a:pPr marL="0" indent="0" algn="l">
              <a:buNone/>
            </a:pPr>
            <a:r>
              <a:rPr lang="en-US" sz="3200" b="1" dirty="0">
                <a:solidFill>
                  <a:srgbClr val="FF6B35"/>
                </a:solidFill>
                <a:latin typeface="Cambria" pitchFamily="34" charset="0"/>
                <a:ea typeface="Cambria" pitchFamily="34" charset="-122"/>
                <a:cs typeface="Cambria" pitchFamily="34" charset="-120"/>
              </a:rPr>
              <a:t>&gt;20%</a:t>
            </a:r>
            <a:endParaRPr lang="en-US" sz="3200" dirty="0"/>
          </a:p>
        </p:txBody>
      </p:sp>
      <p:sp>
        <p:nvSpPr>
          <p:cNvPr id="13" name="Text 11"/>
          <p:cNvSpPr/>
          <p:nvPr/>
        </p:nvSpPr>
        <p:spPr>
          <a:xfrm>
            <a:off x="640080" y="1618488"/>
            <a:ext cx="2834640" cy="384048"/>
          </a:xfrm>
          <a:prstGeom prst="rect">
            <a:avLst/>
          </a:prstGeom>
          <a:noFill/>
          <a:ln/>
        </p:spPr>
        <p:txBody>
          <a:bodyPr wrap="square" lIns="0" tIns="0" rIns="0" bIns="0" rtlCol="0" anchor="ctr"/>
          <a:lstStyle/>
          <a:p>
            <a:pPr marL="0" indent="0" algn="l">
              <a:buNone/>
            </a:pPr>
            <a:r>
              <a:rPr lang="en-US" sz="1200" dirty="0">
                <a:solidFill>
                  <a:srgbClr val="8B9CC8"/>
                </a:solidFill>
                <a:latin typeface="Calibri" pitchFamily="34" charset="0"/>
                <a:ea typeface="Calibri" pitchFamily="34" charset="-122"/>
                <a:cs typeface="Calibri" pitchFamily="34" charset="-120"/>
              </a:rPr>
              <a:t>Failure rate in real-world FDM use</a:t>
            </a:r>
            <a:endParaRPr lang="en-US" sz="1200" dirty="0"/>
          </a:p>
        </p:txBody>
      </p:sp>
      <p:sp>
        <p:nvSpPr>
          <p:cNvPr id="14" name="Shape 12"/>
          <p:cNvSpPr/>
          <p:nvPr/>
        </p:nvSpPr>
        <p:spPr>
          <a:xfrm>
            <a:off x="457200" y="2286000"/>
            <a:ext cx="3200400" cy="1051560"/>
          </a:xfrm>
          <a:prstGeom prst="roundRect">
            <a:avLst>
              <a:gd name="adj" fmla="val 8696"/>
            </a:avLst>
          </a:prstGeom>
          <a:solidFill>
            <a:srgbClr val="131E35"/>
          </a:solidFill>
          <a:ln w="6350">
            <a:solidFill>
              <a:srgbClr val="FF6B35"/>
            </a:solidFill>
            <a:prstDash val="solid"/>
          </a:ln>
        </p:spPr>
      </p:sp>
      <p:sp>
        <p:nvSpPr>
          <p:cNvPr id="15" name="Text 13"/>
          <p:cNvSpPr/>
          <p:nvPr/>
        </p:nvSpPr>
        <p:spPr>
          <a:xfrm>
            <a:off x="640080" y="2331720"/>
            <a:ext cx="2834640" cy="502920"/>
          </a:xfrm>
          <a:prstGeom prst="rect">
            <a:avLst/>
          </a:prstGeom>
          <a:noFill/>
          <a:ln/>
        </p:spPr>
        <p:txBody>
          <a:bodyPr wrap="square" lIns="0" tIns="0" rIns="0" bIns="0" rtlCol="0" anchor="ctr"/>
          <a:lstStyle/>
          <a:p>
            <a:pPr marL="0" indent="0" algn="l">
              <a:buNone/>
            </a:pPr>
            <a:r>
              <a:rPr lang="en-US" sz="3200" b="1" dirty="0">
                <a:solidFill>
                  <a:srgbClr val="FF6B35"/>
                </a:solidFill>
                <a:latin typeface="Cambria" pitchFamily="34" charset="0"/>
                <a:ea typeface="Cambria" pitchFamily="34" charset="-122"/>
                <a:cs typeface="Cambria" pitchFamily="34" charset="-120"/>
              </a:rPr>
              <a:t>34%</a:t>
            </a:r>
            <a:endParaRPr lang="en-US" sz="3200" dirty="0"/>
          </a:p>
        </p:txBody>
      </p:sp>
      <p:sp>
        <p:nvSpPr>
          <p:cNvPr id="16" name="Text 14"/>
          <p:cNvSpPr/>
          <p:nvPr/>
        </p:nvSpPr>
        <p:spPr>
          <a:xfrm>
            <a:off x="640080" y="2852928"/>
            <a:ext cx="2834640" cy="384048"/>
          </a:xfrm>
          <a:prstGeom prst="rect">
            <a:avLst/>
          </a:prstGeom>
          <a:noFill/>
          <a:ln/>
        </p:spPr>
        <p:txBody>
          <a:bodyPr wrap="square" lIns="0" tIns="0" rIns="0" bIns="0" rtlCol="0" anchor="ctr"/>
          <a:lstStyle/>
          <a:p>
            <a:pPr marL="0" indent="0" algn="l">
              <a:buNone/>
            </a:pPr>
            <a:r>
              <a:rPr lang="en-US" sz="1200" dirty="0">
                <a:solidFill>
                  <a:srgbClr val="8B9CC8"/>
                </a:solidFill>
                <a:latin typeface="Calibri" pitchFamily="34" charset="0"/>
                <a:ea typeface="Calibri" pitchFamily="34" charset="-122"/>
                <a:cs typeface="Calibri" pitchFamily="34" charset="-120"/>
              </a:rPr>
              <a:t>Average material waste per failed print</a:t>
            </a:r>
            <a:endParaRPr lang="en-US" sz="1200" dirty="0"/>
          </a:p>
        </p:txBody>
      </p:sp>
      <p:sp>
        <p:nvSpPr>
          <p:cNvPr id="17" name="Shape 15"/>
          <p:cNvSpPr/>
          <p:nvPr/>
        </p:nvSpPr>
        <p:spPr>
          <a:xfrm>
            <a:off x="457200" y="3520440"/>
            <a:ext cx="3200400" cy="1051560"/>
          </a:xfrm>
          <a:prstGeom prst="roundRect">
            <a:avLst>
              <a:gd name="adj" fmla="val 8696"/>
            </a:avLst>
          </a:prstGeom>
          <a:solidFill>
            <a:srgbClr val="131E35"/>
          </a:solidFill>
          <a:ln w="6350">
            <a:solidFill>
              <a:srgbClr val="FF6B35"/>
            </a:solidFill>
            <a:prstDash val="solid"/>
          </a:ln>
        </p:spPr>
      </p:sp>
      <p:sp>
        <p:nvSpPr>
          <p:cNvPr id="18" name="Text 16"/>
          <p:cNvSpPr/>
          <p:nvPr/>
        </p:nvSpPr>
        <p:spPr>
          <a:xfrm>
            <a:off x="640080" y="3566160"/>
            <a:ext cx="2834640" cy="502920"/>
          </a:xfrm>
          <a:prstGeom prst="rect">
            <a:avLst/>
          </a:prstGeom>
          <a:noFill/>
          <a:ln/>
        </p:spPr>
        <p:txBody>
          <a:bodyPr wrap="square" lIns="0" tIns="0" rIns="0" bIns="0" rtlCol="0" anchor="ctr"/>
          <a:lstStyle/>
          <a:p>
            <a:pPr marL="0" indent="0" algn="l">
              <a:buNone/>
            </a:pPr>
            <a:r>
              <a:rPr lang="en-US" sz="3200" b="1" dirty="0">
                <a:solidFill>
                  <a:srgbClr val="FF6B35"/>
                </a:solidFill>
                <a:latin typeface="Cambria" pitchFamily="34" charset="0"/>
                <a:ea typeface="Cambria" pitchFamily="34" charset="-122"/>
                <a:cs typeface="Cambria" pitchFamily="34" charset="-120"/>
              </a:rPr>
              <a:t>Zero</a:t>
            </a:r>
            <a:endParaRPr lang="en-US" sz="3200" dirty="0"/>
          </a:p>
        </p:txBody>
      </p:sp>
      <p:sp>
        <p:nvSpPr>
          <p:cNvPr id="19" name="Text 17"/>
          <p:cNvSpPr/>
          <p:nvPr/>
        </p:nvSpPr>
        <p:spPr>
          <a:xfrm>
            <a:off x="640080" y="4087368"/>
            <a:ext cx="2834640" cy="384048"/>
          </a:xfrm>
          <a:prstGeom prst="rect">
            <a:avLst/>
          </a:prstGeom>
          <a:noFill/>
          <a:ln/>
        </p:spPr>
        <p:txBody>
          <a:bodyPr wrap="square" lIns="0" tIns="0" rIns="0" bIns="0" rtlCol="0" anchor="ctr"/>
          <a:lstStyle/>
          <a:p>
            <a:pPr marL="0" indent="0" algn="l">
              <a:buNone/>
            </a:pPr>
            <a:r>
              <a:rPr lang="en-US" sz="1200" dirty="0">
                <a:solidFill>
                  <a:srgbClr val="8B9CC8"/>
                </a:solidFill>
                <a:latin typeface="Calibri" pitchFamily="34" charset="0"/>
                <a:ea typeface="Calibri" pitchFamily="34" charset="-122"/>
                <a:cs typeface="Calibri" pitchFamily="34" charset="-120"/>
              </a:rPr>
              <a:t>Monitoring built into most desktop printers</a:t>
            </a:r>
            <a:endParaRPr lang="en-US" sz="1200" dirty="0"/>
          </a:p>
        </p:txBody>
      </p:sp>
      <p:sp>
        <p:nvSpPr>
          <p:cNvPr id="20" name="Text 18"/>
          <p:cNvSpPr/>
          <p:nvPr/>
        </p:nvSpPr>
        <p:spPr>
          <a:xfrm>
            <a:off x="3931920" y="1005840"/>
            <a:ext cx="4754880" cy="320040"/>
          </a:xfrm>
          <a:prstGeom prst="rect">
            <a:avLst/>
          </a:prstGeom>
          <a:noFill/>
          <a:ln/>
        </p:spPr>
        <p:txBody>
          <a:bodyPr wrap="square" lIns="0" tIns="0" rIns="0" bIns="0" rtlCol="0" anchor="ctr"/>
          <a:lstStyle/>
          <a:p>
            <a:pPr marL="0" indent="0" algn="l">
              <a:buNone/>
            </a:pPr>
            <a:r>
              <a:rPr lang="en-US" sz="1600" b="1" dirty="0">
                <a:solidFill>
                  <a:srgbClr val="00C896"/>
                </a:solidFill>
                <a:latin typeface="Calibri" pitchFamily="34" charset="0"/>
                <a:ea typeface="Calibri" pitchFamily="34" charset="-122"/>
                <a:cs typeface="Calibri" pitchFamily="34" charset="-120"/>
              </a:rPr>
              <a:t>Common Failure Modes</a:t>
            </a:r>
            <a:endParaRPr lang="en-US" sz="1600" dirty="0"/>
          </a:p>
        </p:txBody>
      </p:sp>
      <p:sp>
        <p:nvSpPr>
          <p:cNvPr id="21" name="Shape 19"/>
          <p:cNvSpPr/>
          <p:nvPr/>
        </p:nvSpPr>
        <p:spPr>
          <a:xfrm>
            <a:off x="3931920" y="1417320"/>
            <a:ext cx="4754880" cy="566928"/>
          </a:xfrm>
          <a:prstGeom prst="roundRect">
            <a:avLst>
              <a:gd name="adj" fmla="val 12903"/>
            </a:avLst>
          </a:prstGeom>
          <a:solidFill>
            <a:srgbClr val="131E35"/>
          </a:solidFill>
          <a:ln w="6350">
            <a:solidFill>
              <a:srgbClr val="00C896"/>
            </a:solidFill>
            <a:prstDash val="solid"/>
          </a:ln>
        </p:spPr>
      </p:sp>
      <p:sp>
        <p:nvSpPr>
          <p:cNvPr id="22" name="Text 20"/>
          <p:cNvSpPr/>
          <p:nvPr/>
        </p:nvSpPr>
        <p:spPr>
          <a:xfrm>
            <a:off x="4160520" y="1463040"/>
            <a:ext cx="4297680" cy="23774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Nozzle Clogging</a:t>
            </a:r>
            <a:endParaRPr lang="en-US" sz="1200" dirty="0"/>
          </a:p>
        </p:txBody>
      </p:sp>
      <p:sp>
        <p:nvSpPr>
          <p:cNvPr id="23" name="Text 21"/>
          <p:cNvSpPr/>
          <p:nvPr/>
        </p:nvSpPr>
        <p:spPr>
          <a:xfrm>
            <a:off x="4160520" y="1691640"/>
            <a:ext cx="4297680" cy="219456"/>
          </a:xfrm>
          <a:prstGeom prst="rect">
            <a:avLst/>
          </a:prstGeom>
          <a:noFill/>
          <a:ln/>
        </p:spPr>
        <p:txBody>
          <a:bodyPr wrap="square" lIns="0" tIns="0" rIns="0" bIns="0" rtlCol="0" anchor="ctr"/>
          <a:lstStyle/>
          <a:p>
            <a:pPr marL="0" indent="0" algn="l">
              <a:buNone/>
            </a:pPr>
            <a:r>
              <a:rPr lang="en-US" sz="1000" dirty="0">
                <a:solidFill>
                  <a:srgbClr val="8B9CC8"/>
                </a:solidFill>
                <a:latin typeface="Calibri" pitchFamily="34" charset="0"/>
                <a:ea typeface="Calibri" pitchFamily="34" charset="-122"/>
                <a:cs typeface="Calibri" pitchFamily="34" charset="-120"/>
              </a:rPr>
              <a:t>Most critical failure mode</a:t>
            </a:r>
            <a:endParaRPr lang="en-US" sz="1000" dirty="0"/>
          </a:p>
        </p:txBody>
      </p:sp>
      <p:sp>
        <p:nvSpPr>
          <p:cNvPr id="24" name="Shape 22"/>
          <p:cNvSpPr/>
          <p:nvPr/>
        </p:nvSpPr>
        <p:spPr>
          <a:xfrm>
            <a:off x="3931920" y="2101595"/>
            <a:ext cx="4754880" cy="566928"/>
          </a:xfrm>
          <a:prstGeom prst="roundRect">
            <a:avLst>
              <a:gd name="adj" fmla="val 12903"/>
            </a:avLst>
          </a:prstGeom>
          <a:solidFill>
            <a:srgbClr val="131E35"/>
          </a:solidFill>
          <a:ln w="6350">
            <a:solidFill>
              <a:srgbClr val="00C896"/>
            </a:solidFill>
            <a:prstDash val="solid"/>
          </a:ln>
        </p:spPr>
      </p:sp>
      <p:sp>
        <p:nvSpPr>
          <p:cNvPr id="25" name="Text 23"/>
          <p:cNvSpPr/>
          <p:nvPr/>
        </p:nvSpPr>
        <p:spPr>
          <a:xfrm>
            <a:off x="4160520" y="2121408"/>
            <a:ext cx="4297680" cy="23774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Overheating / Heat Creep</a:t>
            </a:r>
            <a:endParaRPr lang="en-US" sz="1200" dirty="0"/>
          </a:p>
        </p:txBody>
      </p:sp>
      <p:sp>
        <p:nvSpPr>
          <p:cNvPr id="26" name="Text 24"/>
          <p:cNvSpPr/>
          <p:nvPr/>
        </p:nvSpPr>
        <p:spPr>
          <a:xfrm>
            <a:off x="4160520" y="2350008"/>
            <a:ext cx="4297680" cy="219456"/>
          </a:xfrm>
          <a:prstGeom prst="rect">
            <a:avLst/>
          </a:prstGeom>
          <a:noFill/>
          <a:ln/>
        </p:spPr>
        <p:txBody>
          <a:bodyPr wrap="square" lIns="0" tIns="0" rIns="0" bIns="0" rtlCol="0" anchor="ctr"/>
          <a:lstStyle/>
          <a:p>
            <a:r>
              <a:rPr lang="en-US" sz="1000" dirty="0">
                <a:solidFill>
                  <a:srgbClr val="8B9CC8"/>
                </a:solidFill>
                <a:latin typeface="Calibri" pitchFamily="34" charset="0"/>
                <a:ea typeface="Calibri" pitchFamily="34" charset="-122"/>
                <a:cs typeface="Calibri" pitchFamily="34" charset="-120"/>
              </a:rPr>
              <a:t>Fan failure → fire risk</a:t>
            </a:r>
            <a:endParaRPr lang="en-US" sz="1000" dirty="0"/>
          </a:p>
        </p:txBody>
      </p:sp>
      <p:sp>
        <p:nvSpPr>
          <p:cNvPr id="27" name="Shape 25"/>
          <p:cNvSpPr/>
          <p:nvPr/>
        </p:nvSpPr>
        <p:spPr>
          <a:xfrm>
            <a:off x="3931920" y="2734056"/>
            <a:ext cx="4754880" cy="566928"/>
          </a:xfrm>
          <a:prstGeom prst="roundRect">
            <a:avLst>
              <a:gd name="adj" fmla="val 12903"/>
            </a:avLst>
          </a:prstGeom>
          <a:solidFill>
            <a:srgbClr val="131E35"/>
          </a:solidFill>
          <a:ln w="6350">
            <a:solidFill>
              <a:srgbClr val="00C896"/>
            </a:solidFill>
            <a:prstDash val="solid"/>
          </a:ln>
        </p:spPr>
      </p:sp>
      <p:sp>
        <p:nvSpPr>
          <p:cNvPr id="28" name="Text 26"/>
          <p:cNvSpPr/>
          <p:nvPr/>
        </p:nvSpPr>
        <p:spPr>
          <a:xfrm>
            <a:off x="4160520" y="2779776"/>
            <a:ext cx="4297680" cy="23774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Layer Shifting</a:t>
            </a:r>
            <a:endParaRPr lang="en-US" sz="1200" dirty="0"/>
          </a:p>
        </p:txBody>
      </p:sp>
      <p:sp>
        <p:nvSpPr>
          <p:cNvPr id="29" name="Text 27"/>
          <p:cNvSpPr/>
          <p:nvPr/>
        </p:nvSpPr>
        <p:spPr>
          <a:xfrm>
            <a:off x="4160520" y="3008376"/>
            <a:ext cx="4297680" cy="219456"/>
          </a:xfrm>
          <a:prstGeom prst="rect">
            <a:avLst/>
          </a:prstGeom>
          <a:noFill/>
          <a:ln/>
        </p:spPr>
        <p:txBody>
          <a:bodyPr wrap="square" lIns="0" tIns="0" rIns="0" bIns="0" rtlCol="0" anchor="ctr"/>
          <a:lstStyle/>
          <a:p>
            <a:r>
              <a:rPr lang="en-US" sz="1000" dirty="0">
                <a:solidFill>
                  <a:srgbClr val="8B9CC8"/>
                </a:solidFill>
                <a:latin typeface="Calibri" pitchFamily="34" charset="0"/>
                <a:ea typeface="Calibri" pitchFamily="34" charset="-122"/>
                <a:cs typeface="Calibri" pitchFamily="34" charset="-120"/>
              </a:rPr>
              <a:t>Belt slippage, missed steps</a:t>
            </a:r>
            <a:endParaRPr lang="en-US" sz="1000" dirty="0"/>
          </a:p>
        </p:txBody>
      </p:sp>
      <p:sp>
        <p:nvSpPr>
          <p:cNvPr id="30" name="Shape 28"/>
          <p:cNvSpPr/>
          <p:nvPr/>
        </p:nvSpPr>
        <p:spPr>
          <a:xfrm>
            <a:off x="3931920" y="3392424"/>
            <a:ext cx="4754880" cy="566928"/>
          </a:xfrm>
          <a:prstGeom prst="roundRect">
            <a:avLst>
              <a:gd name="adj" fmla="val 12903"/>
            </a:avLst>
          </a:prstGeom>
          <a:solidFill>
            <a:srgbClr val="131E35"/>
          </a:solidFill>
          <a:ln w="6350">
            <a:solidFill>
              <a:srgbClr val="00C896"/>
            </a:solidFill>
            <a:prstDash val="solid"/>
          </a:ln>
        </p:spPr>
      </p:sp>
      <p:sp>
        <p:nvSpPr>
          <p:cNvPr id="31" name="Text 29"/>
          <p:cNvSpPr/>
          <p:nvPr/>
        </p:nvSpPr>
        <p:spPr>
          <a:xfrm>
            <a:off x="4160520" y="3438144"/>
            <a:ext cx="4297680" cy="23774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Bearing Wear</a:t>
            </a:r>
            <a:endParaRPr lang="en-US" sz="1200" dirty="0"/>
          </a:p>
        </p:txBody>
      </p:sp>
      <p:sp>
        <p:nvSpPr>
          <p:cNvPr id="32" name="Text 30"/>
          <p:cNvSpPr/>
          <p:nvPr/>
        </p:nvSpPr>
        <p:spPr>
          <a:xfrm>
            <a:off x="4160520" y="3666744"/>
            <a:ext cx="4297680" cy="219456"/>
          </a:xfrm>
          <a:prstGeom prst="rect">
            <a:avLst/>
          </a:prstGeom>
          <a:noFill/>
          <a:ln/>
        </p:spPr>
        <p:txBody>
          <a:bodyPr wrap="square" lIns="0" tIns="0" rIns="0" bIns="0" rtlCol="0" anchor="ctr"/>
          <a:lstStyle/>
          <a:p>
            <a:r>
              <a:rPr lang="en-US" sz="1000" dirty="0">
                <a:solidFill>
                  <a:srgbClr val="8B9CC8"/>
                </a:solidFill>
                <a:latin typeface="Calibri" pitchFamily="34" charset="0"/>
                <a:ea typeface="Calibri" pitchFamily="34" charset="-122"/>
                <a:cs typeface="Calibri" pitchFamily="34" charset="-120"/>
              </a:rPr>
              <a:t>Vibration increase over time</a:t>
            </a:r>
            <a:endParaRPr lang="en-US" sz="1000" dirty="0"/>
          </a:p>
        </p:txBody>
      </p:sp>
      <p:sp>
        <p:nvSpPr>
          <p:cNvPr id="33" name="Shape 31"/>
          <p:cNvSpPr/>
          <p:nvPr/>
        </p:nvSpPr>
        <p:spPr>
          <a:xfrm>
            <a:off x="3931920" y="4050792"/>
            <a:ext cx="4754880" cy="566928"/>
          </a:xfrm>
          <a:prstGeom prst="roundRect">
            <a:avLst>
              <a:gd name="adj" fmla="val 12903"/>
            </a:avLst>
          </a:prstGeom>
          <a:solidFill>
            <a:srgbClr val="131E35"/>
          </a:solidFill>
          <a:ln w="6350">
            <a:solidFill>
              <a:srgbClr val="00C896"/>
            </a:solidFill>
            <a:prstDash val="solid"/>
          </a:ln>
        </p:spPr>
      </p:sp>
      <p:sp>
        <p:nvSpPr>
          <p:cNvPr id="34" name="Text 32"/>
          <p:cNvSpPr/>
          <p:nvPr/>
        </p:nvSpPr>
        <p:spPr>
          <a:xfrm>
            <a:off x="4160520" y="4096512"/>
            <a:ext cx="4297680" cy="23774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Belt Breakage</a:t>
            </a:r>
            <a:endParaRPr lang="en-US" sz="1200" dirty="0"/>
          </a:p>
        </p:txBody>
      </p:sp>
      <p:sp>
        <p:nvSpPr>
          <p:cNvPr id="35" name="Text 33"/>
          <p:cNvSpPr/>
          <p:nvPr/>
        </p:nvSpPr>
        <p:spPr>
          <a:xfrm>
            <a:off x="4160520" y="4325112"/>
            <a:ext cx="4297680" cy="219456"/>
          </a:xfrm>
          <a:prstGeom prst="rect">
            <a:avLst/>
          </a:prstGeom>
          <a:noFill/>
          <a:ln/>
        </p:spPr>
        <p:txBody>
          <a:bodyPr wrap="square" lIns="0" tIns="0" rIns="0" bIns="0" rtlCol="0" anchor="ctr"/>
          <a:lstStyle/>
          <a:p>
            <a:r>
              <a:rPr lang="en-US" sz="1000" dirty="0">
                <a:solidFill>
                  <a:srgbClr val="8B9CC8"/>
                </a:solidFill>
                <a:latin typeface="Calibri" pitchFamily="34" charset="0"/>
                <a:ea typeface="Calibri" pitchFamily="34" charset="-122"/>
                <a:cs typeface="Calibri" pitchFamily="34" charset="-120"/>
              </a:rPr>
              <a:t>Detectable via vibration trends</a:t>
            </a:r>
            <a:endParaRPr lang="en-US" sz="1000" dirty="0"/>
          </a:p>
        </p:txBody>
      </p:sp>
      <p:sp>
        <p:nvSpPr>
          <p:cNvPr id="36" name="Text 34"/>
          <p:cNvSpPr/>
          <p:nvPr/>
        </p:nvSpPr>
        <p:spPr>
          <a:xfrm>
            <a:off x="457200" y="4800600"/>
            <a:ext cx="8229600" cy="256032"/>
          </a:xfrm>
          <a:prstGeom prst="rect">
            <a:avLst/>
          </a:prstGeom>
          <a:noFill/>
          <a:ln/>
        </p:spPr>
        <p:txBody>
          <a:bodyPr wrap="square" lIns="0" tIns="0" rIns="0" bIns="0" rtlCol="0" anchor="ctr"/>
          <a:lstStyle/>
          <a:p>
            <a:pPr marL="0" indent="0" algn="ctr">
              <a:buNone/>
            </a:pPr>
            <a:r>
              <a:rPr lang="en-US" sz="1100" i="1" dirty="0">
                <a:solidFill>
                  <a:srgbClr val="FFD166"/>
                </a:solidFill>
                <a:latin typeface="Calibri" pitchFamily="34" charset="0"/>
                <a:ea typeface="Calibri" pitchFamily="34" charset="-122"/>
                <a:cs typeface="Calibri" pitchFamily="34" charset="-120"/>
              </a:rPr>
              <a:t>Reactive maintenance = expensive downtime, wasted filament, lost productivity</a:t>
            </a:r>
            <a:endParaRPr lang="en-US" sz="1100" dirty="0"/>
          </a:p>
        </p:txBody>
      </p:sp>
      <p:sp>
        <p:nvSpPr>
          <p:cNvPr id="37" name="Shape 9">
            <a:extLst>
              <a:ext uri="{FF2B5EF4-FFF2-40B4-BE49-F238E27FC236}">
                <a16:creationId xmlns:a16="http://schemas.microsoft.com/office/drawing/2014/main" id="{C69B104B-3712-D4BE-43C2-2D8BFD247E0D}"/>
              </a:ext>
            </a:extLst>
          </p:cNvPr>
          <p:cNvSpPr/>
          <p:nvPr/>
        </p:nvSpPr>
        <p:spPr>
          <a:xfrm>
            <a:off x="6172200" y="1184148"/>
            <a:ext cx="2834640" cy="3616448"/>
          </a:xfrm>
          <a:prstGeom prst="roundRect">
            <a:avLst>
              <a:gd name="adj" fmla="val 8696"/>
            </a:avLst>
          </a:prstGeom>
          <a:solidFill>
            <a:srgbClr val="131E35"/>
          </a:solidFill>
          <a:ln w="6350">
            <a:solidFill>
              <a:srgbClr val="7030A0"/>
            </a:solidFill>
            <a:prstDash val="solid"/>
          </a:ln>
        </p:spPr>
      </p:sp>
      <p:sp>
        <p:nvSpPr>
          <p:cNvPr id="38" name="Text 14">
            <a:extLst>
              <a:ext uri="{FF2B5EF4-FFF2-40B4-BE49-F238E27FC236}">
                <a16:creationId xmlns:a16="http://schemas.microsoft.com/office/drawing/2014/main" id="{74A5B49C-DCC6-8B55-B496-415273ABE0DA}"/>
              </a:ext>
            </a:extLst>
          </p:cNvPr>
          <p:cNvSpPr/>
          <p:nvPr/>
        </p:nvSpPr>
        <p:spPr>
          <a:xfrm>
            <a:off x="6316980" y="2410961"/>
            <a:ext cx="2545080" cy="925069"/>
          </a:xfrm>
          <a:prstGeom prst="rect">
            <a:avLst/>
          </a:prstGeom>
          <a:noFill/>
          <a:ln/>
        </p:spPr>
        <p:txBody>
          <a:bodyPr wrap="square" lIns="0" tIns="0" rIns="0" bIns="0" rtlCol="0" anchor="ctr"/>
          <a:lstStyle/>
          <a:p>
            <a:pPr algn="ctr">
              <a:lnSpc>
                <a:spcPct val="150000"/>
              </a:lnSpc>
            </a:pPr>
            <a:r>
              <a:rPr lang="en-US" sz="1600" dirty="0">
                <a:solidFill>
                  <a:srgbClr val="DFE0E3"/>
                </a:solidFill>
              </a:rPr>
              <a:t>The current reactive maintenance model leads to costly downtime, wasted filament, and lost productivity. The blank area on the right suggests a space for proposing a predictive monitoring solution to address these specific failure modes.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914400"/>
            <a:ext cx="9144000" cy="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sp>
      <p:sp>
        <p:nvSpPr>
          <p:cNvPr id="4" name="Shape 2"/>
          <p:cNvSpPr/>
          <p:nvPr/>
        </p:nvSpPr>
        <p:spPr>
          <a:xfrm>
            <a:off x="0" y="2377440"/>
            <a:ext cx="9144000" cy="0"/>
          </a:xfrm>
          <a:prstGeom prst="line">
            <a:avLst/>
          </a:prstGeom>
          <a:noFill/>
          <a:ln w="6350">
            <a:solidFill>
              <a:srgbClr val="1A2540"/>
            </a:solidFill>
            <a:prstDash val="solid"/>
          </a:ln>
        </p:spPr>
      </p:sp>
      <p:sp>
        <p:nvSpPr>
          <p:cNvPr id="5" name="Shape 3"/>
          <p:cNvSpPr/>
          <p:nvPr/>
        </p:nvSpPr>
        <p:spPr>
          <a:xfrm>
            <a:off x="0" y="3108960"/>
            <a:ext cx="9144000" cy="0"/>
          </a:xfrm>
          <a:prstGeom prst="line">
            <a:avLst/>
          </a:prstGeom>
          <a:noFill/>
          <a:ln w="6350">
            <a:solidFill>
              <a:srgbClr val="1A2540"/>
            </a:solidFill>
            <a:prstDash val="solid"/>
          </a:ln>
        </p:spPr>
      </p:sp>
      <p:sp>
        <p:nvSpPr>
          <p:cNvPr id="6" name="Shape 4"/>
          <p:cNvSpPr/>
          <p:nvPr/>
        </p:nvSpPr>
        <p:spPr>
          <a:xfrm>
            <a:off x="0" y="3840480"/>
            <a:ext cx="9144000" cy="0"/>
          </a:xfrm>
          <a:prstGeom prst="line">
            <a:avLst/>
          </a:prstGeom>
          <a:noFill/>
          <a:ln w="6350">
            <a:solidFill>
              <a:srgbClr val="1A2540"/>
            </a:solidFill>
            <a:prstDash val="solid"/>
          </a:ln>
        </p:spPr>
      </p:sp>
      <p:sp>
        <p:nvSpPr>
          <p:cNvPr id="7" name="Shape 5"/>
          <p:cNvSpPr/>
          <p:nvPr/>
        </p:nvSpPr>
        <p:spPr>
          <a:xfrm>
            <a:off x="0" y="4572000"/>
            <a:ext cx="9144000" cy="0"/>
          </a:xfrm>
          <a:prstGeom prst="line">
            <a:avLst/>
          </a:prstGeom>
          <a:noFill/>
          <a:ln w="6350">
            <a:solidFill>
              <a:srgbClr val="1A2540"/>
            </a:solidFill>
            <a:prstDash val="solid"/>
          </a:ln>
        </p:spPr>
      </p:sp>
      <p:sp>
        <p:nvSpPr>
          <p:cNvPr id="8" name="Shape 6"/>
          <p:cNvSpPr/>
          <p:nvPr/>
        </p:nvSpPr>
        <p:spPr>
          <a:xfrm>
            <a:off x="3657600" y="-914400"/>
            <a:ext cx="7315200" cy="7315200"/>
          </a:xfrm>
          <a:prstGeom prst="ellipse">
            <a:avLst/>
          </a:prstGeom>
          <a:solidFill>
            <a:srgbClr val="00C896">
              <a:alpha val="7000"/>
            </a:srgbClr>
          </a:solidFill>
          <a:ln/>
        </p:spPr>
      </p:sp>
      <p:sp>
        <p:nvSpPr>
          <p:cNvPr id="9" name="Text 7"/>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02 — PROPOSED SOLUTION</a:t>
            </a:r>
            <a:endParaRPr lang="en-US" sz="900" dirty="0"/>
          </a:p>
        </p:txBody>
      </p:sp>
      <p:sp>
        <p:nvSpPr>
          <p:cNvPr id="10" name="Text 8"/>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Introducing Octo-Fleet</a:t>
            </a:r>
            <a:endParaRPr lang="en-US" sz="2600" dirty="0"/>
          </a:p>
        </p:txBody>
      </p:sp>
      <p:pic>
        <p:nvPicPr>
          <p:cNvPr id="11" name="Image 0" descr="preencoded.png"/>
          <p:cNvPicPr>
            <a:picLocks noChangeAspect="1"/>
          </p:cNvPicPr>
          <p:nvPr/>
        </p:nvPicPr>
        <p:blipFill>
          <a:blip r:embed="rId3"/>
          <a:srcRect t="21387" b="20809"/>
          <a:stretch>
            <a:fillRect/>
          </a:stretch>
        </p:blipFill>
        <p:spPr>
          <a:xfrm>
            <a:off x="5943600" y="1161288"/>
            <a:ext cx="2834640" cy="914400"/>
          </a:xfrm>
          <a:prstGeom prst="rect">
            <a:avLst/>
          </a:prstGeom>
        </p:spPr>
      </p:pic>
      <p:sp>
        <p:nvSpPr>
          <p:cNvPr id="12" name="Text 9"/>
          <p:cNvSpPr/>
          <p:nvPr/>
        </p:nvSpPr>
        <p:spPr>
          <a:xfrm>
            <a:off x="457200" y="1005840"/>
            <a:ext cx="5303520" cy="640080"/>
          </a:xfrm>
          <a:prstGeom prst="rect">
            <a:avLst/>
          </a:prstGeom>
          <a:noFill/>
          <a:ln/>
        </p:spPr>
        <p:txBody>
          <a:bodyPr wrap="square" lIns="0" tIns="0" rIns="0" bIns="0" rtlCol="0" anchor="ctr"/>
          <a:lstStyle/>
          <a:p>
            <a:pPr marL="0" indent="0" algn="l">
              <a:buNone/>
            </a:pPr>
            <a:r>
              <a:rPr lang="en-US" sz="1600" dirty="0">
                <a:solidFill>
                  <a:srgbClr val="E8EDF8"/>
                </a:solidFill>
                <a:latin typeface="Calibri" pitchFamily="34" charset="0"/>
                <a:ea typeface="Calibri" pitchFamily="34" charset="-122"/>
                <a:cs typeface="Calibri" pitchFamily="34" charset="-120"/>
              </a:rPr>
              <a:t>A web-based Hybrid Digital Twin platform for predictive maintenance of FDM 3D printers, built on top of OctoPrint.</a:t>
            </a:r>
            <a:endParaRPr lang="en-US" sz="1600" dirty="0"/>
          </a:p>
        </p:txBody>
      </p:sp>
      <p:sp>
        <p:nvSpPr>
          <p:cNvPr id="13" name="Shape 10"/>
          <p:cNvSpPr/>
          <p:nvPr/>
        </p:nvSpPr>
        <p:spPr>
          <a:xfrm>
            <a:off x="457200" y="1737360"/>
            <a:ext cx="5303520" cy="640080"/>
          </a:xfrm>
          <a:prstGeom prst="roundRect">
            <a:avLst>
              <a:gd name="adj" fmla="val 14286"/>
            </a:avLst>
          </a:prstGeom>
          <a:solidFill>
            <a:srgbClr val="0F2535"/>
          </a:solidFill>
          <a:ln w="6350">
            <a:solidFill>
              <a:srgbClr val="00C896"/>
            </a:solidFill>
            <a:prstDash val="solid"/>
          </a:ln>
        </p:spPr>
      </p:sp>
      <p:sp>
        <p:nvSpPr>
          <p:cNvPr id="14" name="Text 11"/>
          <p:cNvSpPr/>
          <p:nvPr/>
        </p:nvSpPr>
        <p:spPr>
          <a:xfrm>
            <a:off x="640080" y="1783080"/>
            <a:ext cx="4937760" cy="502920"/>
          </a:xfrm>
          <a:prstGeom prst="rect">
            <a:avLst/>
          </a:prstGeom>
          <a:noFill/>
          <a:ln/>
        </p:spPr>
        <p:txBody>
          <a:bodyPr wrap="square" lIns="0" tIns="0" rIns="0" bIns="0" rtlCol="0" anchor="ctr"/>
          <a:lstStyle/>
          <a:p>
            <a:pPr marL="0" indent="0" algn="l">
              <a:buNone/>
            </a:pPr>
            <a:r>
              <a:rPr lang="en-US" sz="1200" i="1" dirty="0">
                <a:solidFill>
                  <a:srgbClr val="00C896"/>
                </a:solidFill>
                <a:latin typeface="Calibri" pitchFamily="34" charset="0"/>
                <a:ea typeface="Calibri" pitchFamily="34" charset="-122"/>
                <a:cs typeface="Calibri" pitchFamily="34" charset="-120"/>
              </a:rPr>
              <a:t>"Octo" from OctoPrint · "Fleet" for multi-printer management</a:t>
            </a:r>
            <a:endParaRPr lang="en-US" sz="1200" dirty="0"/>
          </a:p>
        </p:txBody>
      </p:sp>
      <p:sp>
        <p:nvSpPr>
          <p:cNvPr id="15" name="Shape 12"/>
          <p:cNvSpPr/>
          <p:nvPr/>
        </p:nvSpPr>
        <p:spPr>
          <a:xfrm>
            <a:off x="457200" y="2542032"/>
            <a:ext cx="4160520" cy="1051560"/>
          </a:xfrm>
          <a:prstGeom prst="roundRect">
            <a:avLst>
              <a:gd name="adj" fmla="val 8696"/>
            </a:avLst>
          </a:prstGeom>
          <a:solidFill>
            <a:srgbClr val="131E35"/>
          </a:solidFill>
          <a:ln w="6350">
            <a:solidFill>
              <a:srgbClr val="1E2D4A"/>
            </a:solidFill>
            <a:prstDash val="solid"/>
          </a:ln>
          <a:effectLst>
            <a:outerShdw blurRad="101600" dist="38100" dir="2700000" algn="bl" rotWithShape="0">
              <a:srgbClr val="000000">
                <a:alpha val="30000"/>
              </a:srgbClr>
            </a:outerShdw>
          </a:effectLst>
        </p:spPr>
      </p:sp>
      <p:sp>
        <p:nvSpPr>
          <p:cNvPr id="16" name="Text 13"/>
          <p:cNvSpPr/>
          <p:nvPr/>
        </p:nvSpPr>
        <p:spPr>
          <a:xfrm>
            <a:off x="640080" y="2633472"/>
            <a:ext cx="3749040" cy="274320"/>
          </a:xfrm>
          <a:prstGeom prst="rect">
            <a:avLst/>
          </a:prstGeom>
          <a:noFill/>
          <a:ln/>
        </p:spPr>
        <p:txBody>
          <a:bodyPr wrap="square" lIns="0" tIns="0" rIns="0" bIns="0" rtlCol="0" anchor="ctr"/>
          <a:lstStyle/>
          <a:p>
            <a:pPr marL="0" indent="0" algn="l">
              <a:buNone/>
            </a:pPr>
            <a:r>
              <a:rPr lang="en-US" sz="1600" b="1" dirty="0">
                <a:solidFill>
                  <a:srgbClr val="00C896"/>
                </a:solidFill>
                <a:latin typeface="Calibri" pitchFamily="34" charset="0"/>
                <a:ea typeface="Calibri" pitchFamily="34" charset="-122"/>
                <a:cs typeface="Calibri" pitchFamily="34" charset="-120"/>
              </a:rPr>
              <a:t>Real-Time Monitoring</a:t>
            </a:r>
            <a:endParaRPr lang="en-US" sz="1600" dirty="0"/>
          </a:p>
        </p:txBody>
      </p:sp>
      <p:sp>
        <p:nvSpPr>
          <p:cNvPr id="17" name="Text 14"/>
          <p:cNvSpPr/>
          <p:nvPr/>
        </p:nvSpPr>
        <p:spPr>
          <a:xfrm>
            <a:off x="640080" y="2926080"/>
            <a:ext cx="3794760" cy="576072"/>
          </a:xfrm>
          <a:prstGeom prst="rect">
            <a:avLst/>
          </a:prstGeom>
          <a:noFill/>
          <a:ln/>
        </p:spPr>
        <p:txBody>
          <a:bodyPr wrap="square" lIns="0" tIns="0" rIns="0" bIns="0" rtlCol="0" anchor="ctr"/>
          <a:lstStyle/>
          <a:p>
            <a:pPr marL="0" indent="0" algn="l">
              <a:buNone/>
            </a:pPr>
            <a:r>
              <a:rPr lang="en-US" sz="1200" dirty="0">
                <a:solidFill>
                  <a:srgbClr val="8B9CC8"/>
                </a:solidFill>
                <a:latin typeface="Calibri" pitchFamily="34" charset="0"/>
                <a:ea typeface="Calibri" pitchFamily="34" charset="-122"/>
                <a:cs typeface="Calibri" pitchFamily="34" charset="-120"/>
              </a:rPr>
              <a:t>Live machine data such as vibration, temperature, extrusion state in synchronized time with low latency</a:t>
            </a:r>
            <a:endParaRPr lang="en-US" sz="1200" dirty="0"/>
          </a:p>
        </p:txBody>
      </p:sp>
      <p:sp>
        <p:nvSpPr>
          <p:cNvPr id="18" name="Shape 15"/>
          <p:cNvSpPr/>
          <p:nvPr/>
        </p:nvSpPr>
        <p:spPr>
          <a:xfrm>
            <a:off x="4892040" y="2542032"/>
            <a:ext cx="4160520" cy="1051560"/>
          </a:xfrm>
          <a:prstGeom prst="roundRect">
            <a:avLst>
              <a:gd name="adj" fmla="val 8696"/>
            </a:avLst>
          </a:prstGeom>
          <a:solidFill>
            <a:srgbClr val="131E35"/>
          </a:solidFill>
          <a:ln w="6350">
            <a:solidFill>
              <a:srgbClr val="1E2D4A"/>
            </a:solidFill>
            <a:prstDash val="solid"/>
          </a:ln>
          <a:effectLst>
            <a:outerShdw blurRad="101600" dist="38100" dir="2700000" algn="bl" rotWithShape="0">
              <a:srgbClr val="000000">
                <a:alpha val="30000"/>
              </a:srgbClr>
            </a:outerShdw>
          </a:effectLst>
        </p:spPr>
      </p:sp>
      <p:sp>
        <p:nvSpPr>
          <p:cNvPr id="19" name="Text 16"/>
          <p:cNvSpPr/>
          <p:nvPr/>
        </p:nvSpPr>
        <p:spPr>
          <a:xfrm>
            <a:off x="5074920" y="2633472"/>
            <a:ext cx="3749040" cy="274320"/>
          </a:xfrm>
          <a:prstGeom prst="rect">
            <a:avLst/>
          </a:prstGeom>
          <a:noFill/>
          <a:ln/>
        </p:spPr>
        <p:txBody>
          <a:bodyPr wrap="square" lIns="0" tIns="0" rIns="0" bIns="0" rtlCol="0" anchor="ctr"/>
          <a:lstStyle/>
          <a:p>
            <a:pPr marL="0" indent="0" algn="l">
              <a:buNone/>
            </a:pPr>
            <a:r>
              <a:rPr lang="en-US" sz="1600" b="1" dirty="0">
                <a:solidFill>
                  <a:srgbClr val="00C896"/>
                </a:solidFill>
                <a:latin typeface="Calibri" pitchFamily="34" charset="0"/>
                <a:ea typeface="Calibri" pitchFamily="34" charset="-122"/>
                <a:cs typeface="Calibri" pitchFamily="34" charset="-120"/>
              </a:rPr>
              <a:t>Intelligent Failure Detection</a:t>
            </a:r>
            <a:endParaRPr lang="en-US" sz="1600" dirty="0"/>
          </a:p>
        </p:txBody>
      </p:sp>
      <p:sp>
        <p:nvSpPr>
          <p:cNvPr id="20" name="Text 17"/>
          <p:cNvSpPr/>
          <p:nvPr/>
        </p:nvSpPr>
        <p:spPr>
          <a:xfrm>
            <a:off x="5074920" y="2926080"/>
            <a:ext cx="3794760" cy="576072"/>
          </a:xfrm>
          <a:prstGeom prst="rect">
            <a:avLst/>
          </a:prstGeom>
          <a:noFill/>
          <a:ln/>
        </p:spPr>
        <p:txBody>
          <a:bodyPr wrap="square" lIns="0" tIns="0" rIns="0" bIns="0" rtlCol="0" anchor="ctr"/>
          <a:lstStyle/>
          <a:p>
            <a:pPr marL="0" indent="0" algn="l">
              <a:buNone/>
            </a:pPr>
            <a:r>
              <a:rPr lang="en-US" sz="1200" dirty="0">
                <a:solidFill>
                  <a:srgbClr val="8B9CC8"/>
                </a:solidFill>
                <a:latin typeface="Calibri" pitchFamily="34" charset="0"/>
                <a:ea typeface="Calibri" pitchFamily="34" charset="-122"/>
                <a:cs typeface="Calibri" pitchFamily="34" charset="-120"/>
              </a:rPr>
              <a:t>Multi-stage analysis pipeline for early anomaly detection and fault identification.</a:t>
            </a:r>
            <a:endParaRPr lang="en-US" sz="1200" dirty="0"/>
          </a:p>
        </p:txBody>
      </p:sp>
      <p:sp>
        <p:nvSpPr>
          <p:cNvPr id="21" name="Shape 18"/>
          <p:cNvSpPr/>
          <p:nvPr/>
        </p:nvSpPr>
        <p:spPr>
          <a:xfrm>
            <a:off x="457200" y="3730752"/>
            <a:ext cx="4160520" cy="1051560"/>
          </a:xfrm>
          <a:prstGeom prst="roundRect">
            <a:avLst>
              <a:gd name="adj" fmla="val 8696"/>
            </a:avLst>
          </a:prstGeom>
          <a:solidFill>
            <a:srgbClr val="131E35"/>
          </a:solidFill>
          <a:ln w="6350">
            <a:solidFill>
              <a:srgbClr val="1E2D4A"/>
            </a:solidFill>
            <a:prstDash val="solid"/>
          </a:ln>
          <a:effectLst>
            <a:outerShdw blurRad="101600" dist="38100" dir="2700000" algn="bl" rotWithShape="0">
              <a:srgbClr val="000000">
                <a:alpha val="30000"/>
              </a:srgbClr>
            </a:outerShdw>
          </a:effectLst>
        </p:spPr>
      </p:sp>
      <p:sp>
        <p:nvSpPr>
          <p:cNvPr id="22" name="Text 19"/>
          <p:cNvSpPr/>
          <p:nvPr/>
        </p:nvSpPr>
        <p:spPr>
          <a:xfrm>
            <a:off x="640080" y="3822192"/>
            <a:ext cx="3749040" cy="274320"/>
          </a:xfrm>
          <a:prstGeom prst="rect">
            <a:avLst/>
          </a:prstGeom>
          <a:noFill/>
          <a:ln/>
        </p:spPr>
        <p:txBody>
          <a:bodyPr wrap="square" lIns="0" tIns="0" rIns="0" bIns="0" rtlCol="0" anchor="ctr"/>
          <a:lstStyle/>
          <a:p>
            <a:pPr marL="0" indent="0" algn="l">
              <a:buNone/>
            </a:pPr>
            <a:r>
              <a:rPr lang="en-US" sz="1600" b="1" dirty="0">
                <a:solidFill>
                  <a:srgbClr val="00C896"/>
                </a:solidFill>
                <a:latin typeface="Calibri" pitchFamily="34" charset="0"/>
                <a:ea typeface="Calibri" pitchFamily="34" charset="-122"/>
                <a:cs typeface="Calibri" pitchFamily="34" charset="-120"/>
              </a:rPr>
              <a:t>Browser-Native Dashboard</a:t>
            </a:r>
            <a:endParaRPr lang="en-US" sz="1600" dirty="0"/>
          </a:p>
        </p:txBody>
      </p:sp>
      <p:sp>
        <p:nvSpPr>
          <p:cNvPr id="23" name="Text 20"/>
          <p:cNvSpPr/>
          <p:nvPr/>
        </p:nvSpPr>
        <p:spPr>
          <a:xfrm>
            <a:off x="640080" y="4114800"/>
            <a:ext cx="3794760" cy="576072"/>
          </a:xfrm>
          <a:prstGeom prst="rect">
            <a:avLst/>
          </a:prstGeom>
          <a:noFill/>
          <a:ln/>
        </p:spPr>
        <p:txBody>
          <a:bodyPr wrap="square" lIns="0" tIns="0" rIns="0" bIns="0" rtlCol="0" anchor="ctr"/>
          <a:lstStyle/>
          <a:p>
            <a:pPr marL="0" indent="0" algn="l">
              <a:buNone/>
            </a:pPr>
            <a:r>
              <a:rPr lang="en-US" sz="1200" dirty="0">
                <a:solidFill>
                  <a:srgbClr val="8B9CC8"/>
                </a:solidFill>
                <a:latin typeface="Calibri" pitchFamily="34" charset="0"/>
                <a:ea typeface="Calibri" pitchFamily="34" charset="-122"/>
                <a:cs typeface="Calibri" pitchFamily="34" charset="-120"/>
              </a:rPr>
              <a:t>No installation needed. Interactive 3D printer visualization runs in any web browser on the local network.</a:t>
            </a:r>
            <a:endParaRPr lang="en-US" sz="1200" dirty="0"/>
          </a:p>
        </p:txBody>
      </p:sp>
      <p:sp>
        <p:nvSpPr>
          <p:cNvPr id="24" name="Shape 21"/>
          <p:cNvSpPr/>
          <p:nvPr/>
        </p:nvSpPr>
        <p:spPr>
          <a:xfrm>
            <a:off x="4892040" y="3730752"/>
            <a:ext cx="4160520" cy="1051560"/>
          </a:xfrm>
          <a:prstGeom prst="roundRect">
            <a:avLst>
              <a:gd name="adj" fmla="val 8696"/>
            </a:avLst>
          </a:prstGeom>
          <a:solidFill>
            <a:srgbClr val="131E35"/>
          </a:solidFill>
          <a:ln w="6350">
            <a:solidFill>
              <a:srgbClr val="1E2D4A"/>
            </a:solidFill>
            <a:prstDash val="solid"/>
          </a:ln>
          <a:effectLst>
            <a:outerShdw blurRad="101600" dist="38100" dir="2700000" algn="bl" rotWithShape="0">
              <a:srgbClr val="000000">
                <a:alpha val="30000"/>
              </a:srgbClr>
            </a:outerShdw>
          </a:effectLst>
        </p:spPr>
      </p:sp>
      <p:sp>
        <p:nvSpPr>
          <p:cNvPr id="25" name="Text 22"/>
          <p:cNvSpPr/>
          <p:nvPr/>
        </p:nvSpPr>
        <p:spPr>
          <a:xfrm>
            <a:off x="5074920" y="3822192"/>
            <a:ext cx="3749040" cy="274320"/>
          </a:xfrm>
          <a:prstGeom prst="rect">
            <a:avLst/>
          </a:prstGeom>
          <a:noFill/>
          <a:ln/>
        </p:spPr>
        <p:txBody>
          <a:bodyPr wrap="square" lIns="0" tIns="0" rIns="0" bIns="0" rtlCol="0" anchor="ctr"/>
          <a:lstStyle/>
          <a:p>
            <a:pPr marL="0" indent="0" algn="l">
              <a:buNone/>
            </a:pPr>
            <a:r>
              <a:rPr lang="en-US" sz="1600" b="1" dirty="0">
                <a:solidFill>
                  <a:srgbClr val="00C896"/>
                </a:solidFill>
                <a:latin typeface="Calibri" pitchFamily="34" charset="0"/>
                <a:ea typeface="Calibri" pitchFamily="34" charset="-122"/>
                <a:cs typeface="Calibri" pitchFamily="34" charset="-120"/>
              </a:rPr>
              <a:t>Low-Cost Hardware</a:t>
            </a:r>
            <a:endParaRPr lang="en-US" sz="1600" dirty="0"/>
          </a:p>
        </p:txBody>
      </p:sp>
      <p:sp>
        <p:nvSpPr>
          <p:cNvPr id="26" name="Text 23"/>
          <p:cNvSpPr/>
          <p:nvPr/>
        </p:nvSpPr>
        <p:spPr>
          <a:xfrm>
            <a:off x="5074920" y="4037075"/>
            <a:ext cx="3794760" cy="576072"/>
          </a:xfrm>
          <a:prstGeom prst="rect">
            <a:avLst/>
          </a:prstGeom>
          <a:noFill/>
          <a:ln/>
        </p:spPr>
        <p:txBody>
          <a:bodyPr wrap="square" lIns="0" tIns="0" rIns="0" bIns="0" rtlCol="0" anchor="ctr"/>
          <a:lstStyle/>
          <a:p>
            <a:pPr marL="0" indent="0" algn="l">
              <a:buNone/>
            </a:pPr>
            <a:r>
              <a:rPr lang="en-US" sz="1100" dirty="0">
                <a:solidFill>
                  <a:srgbClr val="8B9CC8"/>
                </a:solidFill>
                <a:latin typeface="Calibri" pitchFamily="34" charset="0"/>
                <a:ea typeface="Calibri" pitchFamily="34" charset="-122"/>
                <a:cs typeface="Calibri" pitchFamily="34" charset="-120"/>
              </a:rPr>
              <a:t>Affordable </a:t>
            </a:r>
            <a:r>
              <a:rPr lang="en-US" sz="1200" dirty="0">
                <a:solidFill>
                  <a:srgbClr val="8B9CC8"/>
                </a:solidFill>
                <a:latin typeface="Calibri" pitchFamily="34" charset="0"/>
                <a:ea typeface="Calibri" pitchFamily="34" charset="-122"/>
                <a:cs typeface="Calibri" pitchFamily="34" charset="-120"/>
              </a:rPr>
              <a:t>external</a:t>
            </a:r>
            <a:r>
              <a:rPr lang="en-US" sz="1100" dirty="0">
                <a:solidFill>
                  <a:srgbClr val="8B9CC8"/>
                </a:solidFill>
                <a:latin typeface="Calibri" pitchFamily="34" charset="0"/>
                <a:ea typeface="Calibri" pitchFamily="34" charset="-122"/>
                <a:cs typeface="Calibri" pitchFamily="34" charset="-120"/>
              </a:rPr>
              <a:t> sensor kit. No firmware modifications required.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32C454F3-242D-0263-8405-DA9D14EB462D}"/>
            </a:ext>
          </a:extLst>
        </p:cNvPr>
        <p:cNvGrpSpPr/>
        <p:nvPr/>
      </p:nvGrpSpPr>
      <p:grpSpPr>
        <a:xfrm>
          <a:off x="0" y="0"/>
          <a:ext cx="0" cy="0"/>
          <a:chOff x="0" y="0"/>
          <a:chExt cx="0" cy="0"/>
        </a:xfrm>
      </p:grpSpPr>
      <p:sp>
        <p:nvSpPr>
          <p:cNvPr id="49" name="Shape 10">
            <a:extLst>
              <a:ext uri="{FF2B5EF4-FFF2-40B4-BE49-F238E27FC236}">
                <a16:creationId xmlns:a16="http://schemas.microsoft.com/office/drawing/2014/main" id="{EB6B82BF-D725-3608-1C0E-29972AB00C3C}"/>
              </a:ext>
            </a:extLst>
          </p:cNvPr>
          <p:cNvSpPr/>
          <p:nvPr/>
        </p:nvSpPr>
        <p:spPr>
          <a:xfrm>
            <a:off x="2758965" y="322501"/>
            <a:ext cx="6385034" cy="3171747"/>
          </a:xfrm>
          <a:prstGeom prst="roundRect">
            <a:avLst>
              <a:gd name="adj" fmla="val 3429"/>
            </a:avLst>
          </a:prstGeom>
          <a:solidFill>
            <a:srgbClr val="131E35"/>
          </a:solidFill>
          <a:ln w="12700">
            <a:solidFill>
              <a:srgbClr val="1E2D4A"/>
            </a:solidFill>
            <a:prstDash val="solid"/>
          </a:ln>
        </p:spPr>
        <p:txBody>
          <a:bodyPr/>
          <a:lstStyle/>
          <a:p>
            <a:endParaRPr lang="en-US" dirty="0">
              <a:solidFill>
                <a:srgbClr val="DFE0E3"/>
              </a:solidFill>
            </a:endParaRPr>
          </a:p>
        </p:txBody>
      </p:sp>
      <p:sp>
        <p:nvSpPr>
          <p:cNvPr id="27" name="Shape 10">
            <a:extLst>
              <a:ext uri="{FF2B5EF4-FFF2-40B4-BE49-F238E27FC236}">
                <a16:creationId xmlns:a16="http://schemas.microsoft.com/office/drawing/2014/main" id="{2E883277-0FA4-CB78-3473-A926FCEDB511}"/>
              </a:ext>
            </a:extLst>
          </p:cNvPr>
          <p:cNvSpPr/>
          <p:nvPr/>
        </p:nvSpPr>
        <p:spPr>
          <a:xfrm>
            <a:off x="457200" y="1106424"/>
            <a:ext cx="8229600" cy="4037076"/>
          </a:xfrm>
          <a:prstGeom prst="roundRect">
            <a:avLst>
              <a:gd name="adj" fmla="val 3429"/>
            </a:avLst>
          </a:prstGeom>
          <a:solidFill>
            <a:srgbClr val="131E35"/>
          </a:solidFill>
          <a:ln w="12700">
            <a:solidFill>
              <a:srgbClr val="1E2D4A"/>
            </a:solidFill>
            <a:prstDash val="solid"/>
          </a:ln>
        </p:spPr>
        <p:txBody>
          <a:bodyPr/>
          <a:lstStyle/>
          <a:p>
            <a:endParaRPr lang="en-US" dirty="0">
              <a:solidFill>
                <a:srgbClr val="DFE0E3"/>
              </a:solidFill>
            </a:endParaRPr>
          </a:p>
        </p:txBody>
      </p:sp>
      <p:sp>
        <p:nvSpPr>
          <p:cNvPr id="2" name="Shape 0">
            <a:extLst>
              <a:ext uri="{FF2B5EF4-FFF2-40B4-BE49-F238E27FC236}">
                <a16:creationId xmlns:a16="http://schemas.microsoft.com/office/drawing/2014/main" id="{B685E6D0-6FBA-C4A2-8D59-93A971EA3B83}"/>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24BFAE45-26D3-69E4-1635-25DB8E6EF6FA}"/>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5474D829-8FD0-5758-70B2-CA3CC3075B1A}"/>
              </a:ext>
            </a:extLst>
          </p:cNvPr>
          <p:cNvSpPr/>
          <p:nvPr/>
        </p:nvSpPr>
        <p:spPr>
          <a:xfrm>
            <a:off x="0" y="2377440"/>
            <a:ext cx="9144000" cy="0"/>
          </a:xfrm>
          <a:prstGeom prst="line">
            <a:avLst/>
          </a:prstGeom>
          <a:noFill/>
          <a:ln w="6350">
            <a:solidFill>
              <a:srgbClr val="1A2540"/>
            </a:solidFill>
            <a:prstDash val="solid"/>
          </a:ln>
        </p:spPr>
        <p:txBody>
          <a:bodyPr/>
          <a:lstStyle/>
          <a:p>
            <a:endParaRPr lang="en-US" dirty="0"/>
          </a:p>
        </p:txBody>
      </p:sp>
      <p:sp>
        <p:nvSpPr>
          <p:cNvPr id="5" name="Shape 3">
            <a:extLst>
              <a:ext uri="{FF2B5EF4-FFF2-40B4-BE49-F238E27FC236}">
                <a16:creationId xmlns:a16="http://schemas.microsoft.com/office/drawing/2014/main" id="{2BED9BC5-E416-87DC-0A0B-EB4AE3AD69F6}"/>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7162BBF5-07D8-B876-0512-FEABE54CD833}"/>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52B8DB53-31A0-6498-001F-F58684D9AD0B}"/>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01F59485-E322-6D4C-BBF6-BECEAD030A1E}"/>
              </a:ext>
            </a:extLst>
          </p:cNvPr>
          <p:cNvSpPr/>
          <p:nvPr/>
        </p:nvSpPr>
        <p:spPr>
          <a:xfrm>
            <a:off x="731520" y="0"/>
            <a:ext cx="0" cy="5143500"/>
          </a:xfrm>
          <a:prstGeom prst="line">
            <a:avLst/>
          </a:prstGeom>
          <a:noFill/>
          <a:ln w="6350">
            <a:solidFill>
              <a:srgbClr val="1A2540"/>
            </a:solidFill>
            <a:prstDash val="solid"/>
          </a:ln>
        </p:spPr>
        <p:txBody>
          <a:bodyPr/>
          <a:lstStyle/>
          <a:p>
            <a:endParaRPr lang="en-US" dirty="0"/>
          </a:p>
        </p:txBody>
      </p:sp>
      <p:sp>
        <p:nvSpPr>
          <p:cNvPr id="9" name="Shape 7">
            <a:extLst>
              <a:ext uri="{FF2B5EF4-FFF2-40B4-BE49-F238E27FC236}">
                <a16:creationId xmlns:a16="http://schemas.microsoft.com/office/drawing/2014/main" id="{7D1B027A-5E2A-0775-E9D4-BB4532E9AFE2}"/>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B472D2A7-471E-08DB-61EF-3912CDDCF6A0}"/>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A646F5C1-DEF9-0178-1A17-D78C007DA61E}"/>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7EAB1D4B-0F0C-366C-3F0A-CB9D6B5DCAF1}"/>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C86F8954-678A-29F9-A52A-A6814B296164}"/>
              </a:ext>
            </a:extLst>
          </p:cNvPr>
          <p:cNvSpPr/>
          <p:nvPr/>
        </p:nvSpPr>
        <p:spPr>
          <a:xfrm>
            <a:off x="1694410" y="-1136073"/>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0863D897-EF6B-5E89-A6C0-AB35F4367CDE}"/>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55B0DE1A-FA7B-F418-CE95-9520118B562C}"/>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C3A7DDF1-83D0-B0D1-ABCB-8FCD4DA55228}"/>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CBA93619-B41B-4D49-E7EC-3E72D27DB87C}"/>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80CE089C-25C4-683C-2688-A925723D17DC}"/>
              </a:ext>
            </a:extLst>
          </p:cNvPr>
          <p:cNvSpPr/>
          <p:nvPr/>
        </p:nvSpPr>
        <p:spPr>
          <a:xfrm>
            <a:off x="3200400" y="-1828800"/>
            <a:ext cx="6400800" cy="6400800"/>
          </a:xfrm>
          <a:prstGeom prst="ellipse">
            <a:avLst/>
          </a:prstGeom>
          <a:solidFill>
            <a:srgbClr val="00C896">
              <a:alpha val="8000"/>
            </a:srgbClr>
          </a:solidFill>
          <a:ln/>
        </p:spPr>
      </p:sp>
      <p:sp>
        <p:nvSpPr>
          <p:cNvPr id="19" name="Shape 17">
            <a:extLst>
              <a:ext uri="{FF2B5EF4-FFF2-40B4-BE49-F238E27FC236}">
                <a16:creationId xmlns:a16="http://schemas.microsoft.com/office/drawing/2014/main" id="{6A32B996-DD4A-1260-90C8-C3AB1D519693}"/>
              </a:ext>
            </a:extLst>
          </p:cNvPr>
          <p:cNvSpPr/>
          <p:nvPr/>
        </p:nvSpPr>
        <p:spPr>
          <a:xfrm>
            <a:off x="5486400" y="2743200"/>
            <a:ext cx="5486400" cy="5486400"/>
          </a:xfrm>
          <a:prstGeom prst="ellipse">
            <a:avLst/>
          </a:prstGeom>
          <a:solidFill>
            <a:srgbClr val="0050FF">
              <a:alpha val="8000"/>
            </a:srgbClr>
          </a:solidFill>
          <a:ln/>
        </p:spPr>
      </p:sp>
      <p:sp>
        <p:nvSpPr>
          <p:cNvPr id="25" name="Text 7">
            <a:extLst>
              <a:ext uri="{FF2B5EF4-FFF2-40B4-BE49-F238E27FC236}">
                <a16:creationId xmlns:a16="http://schemas.microsoft.com/office/drawing/2014/main" id="{EB161466-58E8-C4CD-8156-388700DE34DC}"/>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03 — Added Value</a:t>
            </a:r>
          </a:p>
        </p:txBody>
      </p:sp>
      <p:sp>
        <p:nvSpPr>
          <p:cNvPr id="26" name="Text 8">
            <a:extLst>
              <a:ext uri="{FF2B5EF4-FFF2-40B4-BE49-F238E27FC236}">
                <a16:creationId xmlns:a16="http://schemas.microsoft.com/office/drawing/2014/main" id="{A9EC754C-9AE8-1302-DBE6-0932394865DE}"/>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Added Value</a:t>
            </a:r>
          </a:p>
        </p:txBody>
      </p:sp>
      <p:sp>
        <p:nvSpPr>
          <p:cNvPr id="20" name="Shape 10">
            <a:extLst>
              <a:ext uri="{FF2B5EF4-FFF2-40B4-BE49-F238E27FC236}">
                <a16:creationId xmlns:a16="http://schemas.microsoft.com/office/drawing/2014/main" id="{A421ABCD-B8AE-E375-4DD6-AD1AC8E97A5D}"/>
              </a:ext>
            </a:extLst>
          </p:cNvPr>
          <p:cNvSpPr/>
          <p:nvPr/>
        </p:nvSpPr>
        <p:spPr>
          <a:xfrm>
            <a:off x="2579198" y="2903219"/>
            <a:ext cx="1830872" cy="1717821"/>
          </a:xfrm>
          <a:prstGeom prst="roundRect">
            <a:avLst>
              <a:gd name="adj" fmla="val 3429"/>
            </a:avLst>
          </a:prstGeom>
          <a:solidFill>
            <a:srgbClr val="131E35"/>
          </a:solidFill>
          <a:ln w="12700">
            <a:solidFill>
              <a:schemeClr val="accent2"/>
            </a:solidFill>
            <a:prstDash val="solid"/>
          </a:ln>
        </p:spPr>
        <p:txBody>
          <a:bodyPr/>
          <a:lstStyle/>
          <a:p>
            <a:endParaRPr lang="en-US" dirty="0"/>
          </a:p>
        </p:txBody>
      </p:sp>
      <p:sp>
        <p:nvSpPr>
          <p:cNvPr id="21" name="Shape 10">
            <a:extLst>
              <a:ext uri="{FF2B5EF4-FFF2-40B4-BE49-F238E27FC236}">
                <a16:creationId xmlns:a16="http://schemas.microsoft.com/office/drawing/2014/main" id="{7B46C93E-E419-E001-D8E0-DA51F96E99AE}"/>
              </a:ext>
            </a:extLst>
          </p:cNvPr>
          <p:cNvSpPr/>
          <p:nvPr/>
        </p:nvSpPr>
        <p:spPr>
          <a:xfrm>
            <a:off x="4732363" y="2571751"/>
            <a:ext cx="1830872" cy="2049290"/>
          </a:xfrm>
          <a:prstGeom prst="roundRect">
            <a:avLst>
              <a:gd name="adj" fmla="val 3429"/>
            </a:avLst>
          </a:prstGeom>
          <a:solidFill>
            <a:srgbClr val="131E35"/>
          </a:solidFill>
          <a:ln w="12700">
            <a:solidFill>
              <a:schemeClr val="accent2"/>
            </a:solidFill>
            <a:prstDash val="solid"/>
          </a:ln>
        </p:spPr>
        <p:txBody>
          <a:bodyPr/>
          <a:lstStyle/>
          <a:p>
            <a:endParaRPr lang="en-US" dirty="0"/>
          </a:p>
        </p:txBody>
      </p:sp>
      <p:sp>
        <p:nvSpPr>
          <p:cNvPr id="22" name="Shape 10">
            <a:extLst>
              <a:ext uri="{FF2B5EF4-FFF2-40B4-BE49-F238E27FC236}">
                <a16:creationId xmlns:a16="http://schemas.microsoft.com/office/drawing/2014/main" id="{FE737736-BF7E-647E-62FE-32CE321946E5}"/>
              </a:ext>
            </a:extLst>
          </p:cNvPr>
          <p:cNvSpPr/>
          <p:nvPr/>
        </p:nvSpPr>
        <p:spPr>
          <a:xfrm>
            <a:off x="6854892" y="2234662"/>
            <a:ext cx="1830872" cy="2386381"/>
          </a:xfrm>
          <a:prstGeom prst="roundRect">
            <a:avLst>
              <a:gd name="adj" fmla="val 3429"/>
            </a:avLst>
          </a:prstGeom>
          <a:solidFill>
            <a:srgbClr val="131E35"/>
          </a:solidFill>
          <a:ln w="12700">
            <a:solidFill>
              <a:schemeClr val="accent2"/>
            </a:solidFill>
            <a:prstDash val="solid"/>
          </a:ln>
        </p:spPr>
        <p:txBody>
          <a:bodyPr/>
          <a:lstStyle/>
          <a:p>
            <a:endParaRPr lang="en-US" dirty="0"/>
          </a:p>
        </p:txBody>
      </p:sp>
      <p:sp>
        <p:nvSpPr>
          <p:cNvPr id="34" name="ZoneTexte 33">
            <a:extLst>
              <a:ext uri="{FF2B5EF4-FFF2-40B4-BE49-F238E27FC236}">
                <a16:creationId xmlns:a16="http://schemas.microsoft.com/office/drawing/2014/main" id="{50FF9204-F3D3-2494-EDED-AA49EA3409CB}"/>
              </a:ext>
            </a:extLst>
          </p:cNvPr>
          <p:cNvSpPr txBox="1"/>
          <p:nvPr/>
        </p:nvSpPr>
        <p:spPr>
          <a:xfrm>
            <a:off x="2772137" y="3271252"/>
            <a:ext cx="1454027" cy="1169551"/>
          </a:xfrm>
          <a:prstGeom prst="rect">
            <a:avLst/>
          </a:prstGeom>
          <a:noFill/>
        </p:spPr>
        <p:txBody>
          <a:bodyPr wrap="square">
            <a:spAutoFit/>
          </a:bodyPr>
          <a:lstStyle/>
          <a:p>
            <a:pPr marL="0" indent="0" algn="ctr">
              <a:buNone/>
            </a:pPr>
            <a:r>
              <a:rPr lang="en-US" sz="1400" b="1" dirty="0">
                <a:solidFill>
                  <a:srgbClr val="DFE0E3"/>
                </a:solidFill>
                <a:ea typeface="Calibri" pitchFamily="34" charset="-122"/>
                <a:cs typeface="Calibri" pitchFamily="34" charset="-120"/>
              </a:rPr>
              <a:t>Cost savings of</a:t>
            </a:r>
          </a:p>
          <a:p>
            <a:pPr marL="0" indent="0" algn="ctr">
              <a:buNone/>
            </a:pPr>
            <a:r>
              <a:rPr lang="en-US" sz="1400" b="1" dirty="0">
                <a:solidFill>
                  <a:srgbClr val="DFE0E3"/>
                </a:solidFill>
                <a:ea typeface="Calibri" pitchFamily="34" charset="-122"/>
                <a:cs typeface="Calibri" pitchFamily="34" charset="-120"/>
              </a:rPr>
              <a:t>ruined prints, wasted filament</a:t>
            </a:r>
          </a:p>
          <a:p>
            <a:pPr algn="ctr"/>
            <a:r>
              <a:rPr lang="en-US" sz="1400" b="1" dirty="0">
                <a:solidFill>
                  <a:srgbClr val="DFE0E3"/>
                </a:solidFill>
              </a:rPr>
              <a:t>, hardware maintain cost</a:t>
            </a:r>
            <a:r>
              <a:rPr lang="en-US" sz="1400" b="1" dirty="0">
                <a:solidFill>
                  <a:srgbClr val="DFE0E3"/>
                </a:solidFill>
                <a:ea typeface="Calibri" pitchFamily="34" charset="-122"/>
                <a:cs typeface="Calibri" pitchFamily="34" charset="-120"/>
              </a:rPr>
              <a:t> </a:t>
            </a:r>
            <a:endParaRPr lang="en-US" sz="1400" b="1" dirty="0">
              <a:solidFill>
                <a:srgbClr val="DFE0E3"/>
              </a:solidFill>
            </a:endParaRPr>
          </a:p>
        </p:txBody>
      </p:sp>
      <p:sp>
        <p:nvSpPr>
          <p:cNvPr id="35" name="ZoneTexte 34">
            <a:extLst>
              <a:ext uri="{FF2B5EF4-FFF2-40B4-BE49-F238E27FC236}">
                <a16:creationId xmlns:a16="http://schemas.microsoft.com/office/drawing/2014/main" id="{65A45A78-E5AD-CFF8-7874-FCA86220B51A}"/>
              </a:ext>
            </a:extLst>
          </p:cNvPr>
          <p:cNvSpPr txBox="1"/>
          <p:nvPr/>
        </p:nvSpPr>
        <p:spPr>
          <a:xfrm>
            <a:off x="7078386" y="2429587"/>
            <a:ext cx="1454027" cy="2031325"/>
          </a:xfrm>
          <a:prstGeom prst="rect">
            <a:avLst/>
          </a:prstGeom>
          <a:noFill/>
        </p:spPr>
        <p:txBody>
          <a:bodyPr wrap="square">
            <a:spAutoFit/>
          </a:bodyPr>
          <a:lstStyle/>
          <a:p>
            <a:pPr marL="0" indent="0" algn="ctr">
              <a:buNone/>
            </a:pPr>
            <a:r>
              <a:rPr lang="en-US" sz="1400" b="1" dirty="0">
                <a:solidFill>
                  <a:srgbClr val="DFE0E3"/>
                </a:solidFill>
                <a:ea typeface="Calibri" pitchFamily="34" charset="-122"/>
                <a:cs typeface="Calibri" pitchFamily="34" charset="-120"/>
              </a:rPr>
              <a:t>No firmware changes needed &amp; affordable hardware makes predictive maintenance accessible to labs and businesses.</a:t>
            </a:r>
            <a:endParaRPr lang="en-US" sz="1400" b="1" dirty="0">
              <a:solidFill>
                <a:srgbClr val="DFE0E3"/>
              </a:solidFill>
            </a:endParaRPr>
          </a:p>
        </p:txBody>
      </p:sp>
      <p:sp>
        <p:nvSpPr>
          <p:cNvPr id="38" name="ZoneTexte 37">
            <a:extLst>
              <a:ext uri="{FF2B5EF4-FFF2-40B4-BE49-F238E27FC236}">
                <a16:creationId xmlns:a16="http://schemas.microsoft.com/office/drawing/2014/main" id="{D9E1AE0E-4D3D-C6BF-106D-DC0013D8A773}"/>
              </a:ext>
            </a:extLst>
          </p:cNvPr>
          <p:cNvSpPr txBox="1"/>
          <p:nvPr/>
        </p:nvSpPr>
        <p:spPr>
          <a:xfrm>
            <a:off x="4935257" y="3042843"/>
            <a:ext cx="1454027" cy="1384995"/>
          </a:xfrm>
          <a:prstGeom prst="rect">
            <a:avLst/>
          </a:prstGeom>
          <a:noFill/>
        </p:spPr>
        <p:txBody>
          <a:bodyPr wrap="square">
            <a:spAutoFit/>
          </a:bodyPr>
          <a:lstStyle/>
          <a:p>
            <a:pPr marL="0" indent="0" algn="ctr">
              <a:buNone/>
            </a:pPr>
            <a:r>
              <a:rPr lang="en-US" sz="1400" b="1" dirty="0">
                <a:solidFill>
                  <a:srgbClr val="DFE0E3"/>
                </a:solidFill>
                <a:ea typeface="Calibri" pitchFamily="34" charset="-122"/>
                <a:cs typeface="Calibri" pitchFamily="34" charset="-120"/>
              </a:rPr>
              <a:t>Health monitoring shows each machine’s condition instantly</a:t>
            </a:r>
          </a:p>
        </p:txBody>
      </p:sp>
      <p:sp>
        <p:nvSpPr>
          <p:cNvPr id="44" name="Shape 10">
            <a:extLst>
              <a:ext uri="{FF2B5EF4-FFF2-40B4-BE49-F238E27FC236}">
                <a16:creationId xmlns:a16="http://schemas.microsoft.com/office/drawing/2014/main" id="{3A09D0F5-5754-1055-B026-78C4B37C3654}"/>
              </a:ext>
            </a:extLst>
          </p:cNvPr>
          <p:cNvSpPr/>
          <p:nvPr/>
        </p:nvSpPr>
        <p:spPr>
          <a:xfrm>
            <a:off x="521805" y="3255704"/>
            <a:ext cx="1830872" cy="1354531"/>
          </a:xfrm>
          <a:prstGeom prst="roundRect">
            <a:avLst>
              <a:gd name="adj" fmla="val 3429"/>
            </a:avLst>
          </a:prstGeom>
          <a:solidFill>
            <a:srgbClr val="131E35"/>
          </a:solidFill>
          <a:ln w="12700">
            <a:solidFill>
              <a:schemeClr val="accent2"/>
            </a:solidFill>
            <a:prstDash val="solid"/>
          </a:ln>
        </p:spPr>
        <p:txBody>
          <a:bodyPr/>
          <a:lstStyle/>
          <a:p>
            <a:endParaRPr lang="en-US" dirty="0"/>
          </a:p>
        </p:txBody>
      </p:sp>
      <p:sp>
        <p:nvSpPr>
          <p:cNvPr id="37" name="ZoneTexte 36">
            <a:extLst>
              <a:ext uri="{FF2B5EF4-FFF2-40B4-BE49-F238E27FC236}">
                <a16:creationId xmlns:a16="http://schemas.microsoft.com/office/drawing/2014/main" id="{EAE32076-0CC2-9F1B-2AA7-C3FF70B60019}"/>
              </a:ext>
            </a:extLst>
          </p:cNvPr>
          <p:cNvSpPr txBox="1"/>
          <p:nvPr/>
        </p:nvSpPr>
        <p:spPr>
          <a:xfrm>
            <a:off x="664859" y="3463911"/>
            <a:ext cx="1454027" cy="954107"/>
          </a:xfrm>
          <a:prstGeom prst="rect">
            <a:avLst/>
          </a:prstGeom>
          <a:noFill/>
        </p:spPr>
        <p:txBody>
          <a:bodyPr wrap="square">
            <a:spAutoFit/>
          </a:bodyPr>
          <a:lstStyle/>
          <a:p>
            <a:pPr marL="0" indent="0" algn="ctr">
              <a:buNone/>
            </a:pPr>
            <a:r>
              <a:rPr lang="en-US" sz="1400" b="1" dirty="0">
                <a:solidFill>
                  <a:srgbClr val="DFE0E3"/>
                </a:solidFill>
                <a:ea typeface="Calibri" pitchFamily="34" charset="-122"/>
                <a:cs typeface="Calibri" pitchFamily="34" charset="-120"/>
              </a:rPr>
              <a:t>Fault alerts map directly to clear maintenance steps</a:t>
            </a:r>
          </a:p>
        </p:txBody>
      </p:sp>
      <p:pic>
        <p:nvPicPr>
          <p:cNvPr id="46" name="Image 45">
            <a:extLst>
              <a:ext uri="{FF2B5EF4-FFF2-40B4-BE49-F238E27FC236}">
                <a16:creationId xmlns:a16="http://schemas.microsoft.com/office/drawing/2014/main" id="{1C6F7055-8390-3561-DAF8-76EE77B0EAF9}"/>
              </a:ext>
            </a:extLst>
          </p:cNvPr>
          <p:cNvPicPr>
            <a:picLocks noChangeAspect="1"/>
          </p:cNvPicPr>
          <p:nvPr/>
        </p:nvPicPr>
        <p:blipFill>
          <a:blip r:embed="rId3"/>
          <a:stretch>
            <a:fillRect/>
          </a:stretch>
        </p:blipFill>
        <p:spPr>
          <a:xfrm>
            <a:off x="2921953" y="1539298"/>
            <a:ext cx="1196975" cy="1196975"/>
          </a:xfrm>
          <a:prstGeom prst="rect">
            <a:avLst/>
          </a:prstGeom>
        </p:spPr>
      </p:pic>
      <p:pic>
        <p:nvPicPr>
          <p:cNvPr id="48" name="Image 47">
            <a:extLst>
              <a:ext uri="{FF2B5EF4-FFF2-40B4-BE49-F238E27FC236}">
                <a16:creationId xmlns:a16="http://schemas.microsoft.com/office/drawing/2014/main" id="{F8606357-7956-50BC-37BF-591AF62EE7FD}"/>
              </a:ext>
            </a:extLst>
          </p:cNvPr>
          <p:cNvPicPr>
            <a:picLocks noChangeAspect="1"/>
          </p:cNvPicPr>
          <p:nvPr/>
        </p:nvPicPr>
        <p:blipFill>
          <a:blip r:embed="rId4"/>
          <a:stretch>
            <a:fillRect/>
          </a:stretch>
        </p:blipFill>
        <p:spPr>
          <a:xfrm>
            <a:off x="853428" y="1816355"/>
            <a:ext cx="1281798" cy="1281798"/>
          </a:xfrm>
          <a:prstGeom prst="rect">
            <a:avLst/>
          </a:prstGeom>
        </p:spPr>
      </p:pic>
      <p:pic>
        <p:nvPicPr>
          <p:cNvPr id="50" name="Image 49" descr="Heart rate monitor - Free medical icons">
            <a:extLst>
              <a:ext uri="{FF2B5EF4-FFF2-40B4-BE49-F238E27FC236}">
                <a16:creationId xmlns:a16="http://schemas.microsoft.com/office/drawing/2014/main" id="{EB81DB6B-8F16-8251-E8D4-9E6244A361B5}"/>
              </a:ext>
            </a:extLst>
          </p:cNvPr>
          <p:cNvPicPr>
            <a:picLocks noChangeAspect="1"/>
          </p:cNvPicPr>
          <p:nvPr/>
        </p:nvPicPr>
        <p:blipFill>
          <a:blip r:embed="rId5"/>
          <a:stretch>
            <a:fillRect/>
          </a:stretch>
        </p:blipFill>
        <p:spPr>
          <a:xfrm>
            <a:off x="4996428" y="1100936"/>
            <a:ext cx="1256977" cy="1256977"/>
          </a:xfrm>
          <a:prstGeom prst="rect">
            <a:avLst/>
          </a:prstGeom>
        </p:spPr>
      </p:pic>
      <p:pic>
        <p:nvPicPr>
          <p:cNvPr id="54" name="Image 53">
            <a:extLst>
              <a:ext uri="{FF2B5EF4-FFF2-40B4-BE49-F238E27FC236}">
                <a16:creationId xmlns:a16="http://schemas.microsoft.com/office/drawing/2014/main" id="{0B9BD955-52F4-D93A-FABF-A5635CBFECB3}"/>
              </a:ext>
            </a:extLst>
          </p:cNvPr>
          <p:cNvPicPr>
            <a:picLocks noChangeAspect="1"/>
          </p:cNvPicPr>
          <p:nvPr/>
        </p:nvPicPr>
        <p:blipFill>
          <a:blip r:embed="rId6"/>
          <a:stretch>
            <a:fillRect/>
          </a:stretch>
        </p:blipFill>
        <p:spPr>
          <a:xfrm>
            <a:off x="7024053" y="504280"/>
            <a:ext cx="1508360" cy="1508360"/>
          </a:xfrm>
          <a:prstGeom prst="rect">
            <a:avLst/>
          </a:prstGeom>
        </p:spPr>
      </p:pic>
    </p:spTree>
    <p:extLst>
      <p:ext uri="{BB962C8B-B14F-4D97-AF65-F5344CB8AC3E}">
        <p14:creationId xmlns:p14="http://schemas.microsoft.com/office/powerpoint/2010/main" val="3314399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2B7046F3-E2BE-1469-B5EA-F01E66EB8E41}"/>
            </a:ext>
          </a:extLst>
        </p:cNvPr>
        <p:cNvGrpSpPr/>
        <p:nvPr/>
      </p:nvGrpSpPr>
      <p:grpSpPr>
        <a:xfrm>
          <a:off x="0" y="0"/>
          <a:ext cx="0" cy="0"/>
          <a:chOff x="0" y="0"/>
          <a:chExt cx="0" cy="0"/>
        </a:xfrm>
      </p:grpSpPr>
      <p:sp>
        <p:nvSpPr>
          <p:cNvPr id="23" name="Shape 12">
            <a:extLst>
              <a:ext uri="{FF2B5EF4-FFF2-40B4-BE49-F238E27FC236}">
                <a16:creationId xmlns:a16="http://schemas.microsoft.com/office/drawing/2014/main" id="{528CC2D7-0497-F377-658A-26CE51840FF8}"/>
              </a:ext>
            </a:extLst>
          </p:cNvPr>
          <p:cNvSpPr/>
          <p:nvPr/>
        </p:nvSpPr>
        <p:spPr>
          <a:xfrm>
            <a:off x="5754054" y="289561"/>
            <a:ext cx="2658424" cy="990600"/>
          </a:xfrm>
          <a:prstGeom prst="roundRect">
            <a:avLst>
              <a:gd name="adj" fmla="val 8696"/>
            </a:avLst>
          </a:prstGeom>
          <a:solidFill>
            <a:srgbClr val="131E35"/>
          </a:solidFill>
          <a:ln w="6350">
            <a:solidFill>
              <a:srgbClr val="1E2D4A"/>
            </a:solidFill>
            <a:prstDash val="solid"/>
          </a:ln>
          <a:effectLst>
            <a:outerShdw blurRad="101600" dist="38100" dir="2700000" algn="bl" rotWithShape="0">
              <a:srgbClr val="000000">
                <a:alpha val="30000"/>
              </a:srgbClr>
            </a:outerShdw>
          </a:effectLst>
        </p:spPr>
      </p:sp>
      <p:sp>
        <p:nvSpPr>
          <p:cNvPr id="2" name="Shape 0">
            <a:extLst>
              <a:ext uri="{FF2B5EF4-FFF2-40B4-BE49-F238E27FC236}">
                <a16:creationId xmlns:a16="http://schemas.microsoft.com/office/drawing/2014/main" id="{0FBB91A1-E488-272E-5A16-4A0B09109A5E}"/>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BCE538E4-4EED-1A58-BE82-55470C3DD251}"/>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95D59A40-7D10-7526-D693-6C5A57657D04}"/>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2634EF13-6E0F-ABCE-58C8-DCB6C295568C}"/>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7523CE57-C3CE-8074-7324-76EFFA866E73}"/>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7D688771-AE0D-525E-2373-0236FB5C36AB}"/>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76CCB8E5-8756-3A65-34DC-F295C28C5792}"/>
              </a:ext>
            </a:extLst>
          </p:cNvPr>
          <p:cNvSpPr/>
          <p:nvPr/>
        </p:nvSpPr>
        <p:spPr>
          <a:xfrm>
            <a:off x="731520" y="0"/>
            <a:ext cx="0" cy="5143500"/>
          </a:xfrm>
          <a:prstGeom prst="line">
            <a:avLst/>
          </a:prstGeom>
          <a:noFill/>
          <a:ln w="6350">
            <a:solidFill>
              <a:srgbClr val="1A2540"/>
            </a:solidFill>
            <a:prstDash val="solid"/>
          </a:ln>
        </p:spPr>
      </p:sp>
      <p:sp>
        <p:nvSpPr>
          <p:cNvPr id="9" name="Shape 7">
            <a:extLst>
              <a:ext uri="{FF2B5EF4-FFF2-40B4-BE49-F238E27FC236}">
                <a16:creationId xmlns:a16="http://schemas.microsoft.com/office/drawing/2014/main" id="{1DDD571E-7EDD-BF07-B1B4-722A2476CA38}"/>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FAC61C64-382C-9911-50F5-49A07A2C8581}"/>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A322B116-FF12-7869-24D6-A700601BE0EE}"/>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E22FA0D3-1458-4E1E-D810-6D6B86BA24AD}"/>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5AA1BBA5-F8BA-1756-BFAE-EEDDF14D3E65}"/>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52B529FF-D680-BBF0-9812-E9FD8E7EF507}"/>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37409286-4CC1-4DE0-9676-FC5BE2171FEF}"/>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567A9D7D-2D65-8008-0C75-8229AEB98E86}"/>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858E395E-50EB-7B1D-0349-024C4AF9A85A}"/>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3BD101EA-D7C0-1173-A8AD-83168B331B5A}"/>
              </a:ext>
            </a:extLst>
          </p:cNvPr>
          <p:cNvSpPr/>
          <p:nvPr/>
        </p:nvSpPr>
        <p:spPr>
          <a:xfrm>
            <a:off x="3200400" y="-1828800"/>
            <a:ext cx="6400800" cy="6400800"/>
          </a:xfrm>
          <a:prstGeom prst="ellipse">
            <a:avLst/>
          </a:prstGeom>
          <a:solidFill>
            <a:srgbClr val="00C896">
              <a:alpha val="8000"/>
            </a:srgbClr>
          </a:solidFill>
          <a:ln/>
        </p:spPr>
        <p:txBody>
          <a:bodyPr/>
          <a:lstStyle/>
          <a:p>
            <a:endParaRPr lang="en-US"/>
          </a:p>
        </p:txBody>
      </p:sp>
      <p:sp>
        <p:nvSpPr>
          <p:cNvPr id="19" name="Shape 17">
            <a:extLst>
              <a:ext uri="{FF2B5EF4-FFF2-40B4-BE49-F238E27FC236}">
                <a16:creationId xmlns:a16="http://schemas.microsoft.com/office/drawing/2014/main" id="{D85B8170-C5FA-6648-5AC9-8E7FE3FCF0A7}"/>
              </a:ext>
            </a:extLst>
          </p:cNvPr>
          <p:cNvSpPr/>
          <p:nvPr/>
        </p:nvSpPr>
        <p:spPr>
          <a:xfrm>
            <a:off x="5486400" y="2743200"/>
            <a:ext cx="5486400" cy="5486400"/>
          </a:xfrm>
          <a:prstGeom prst="ellipse">
            <a:avLst/>
          </a:prstGeom>
          <a:solidFill>
            <a:srgbClr val="0050FF">
              <a:alpha val="8000"/>
            </a:srgbClr>
          </a:solidFill>
          <a:ln/>
        </p:spPr>
      </p:sp>
      <p:sp>
        <p:nvSpPr>
          <p:cNvPr id="25" name="Text 7">
            <a:extLst>
              <a:ext uri="{FF2B5EF4-FFF2-40B4-BE49-F238E27FC236}">
                <a16:creationId xmlns:a16="http://schemas.microsoft.com/office/drawing/2014/main" id="{5C3A4A76-DE01-7523-A637-43A376A6FE51}"/>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04 — Innovation</a:t>
            </a:r>
            <a:endParaRPr lang="en-US" sz="900" dirty="0"/>
          </a:p>
        </p:txBody>
      </p:sp>
      <p:sp>
        <p:nvSpPr>
          <p:cNvPr id="26" name="Text 8">
            <a:extLst>
              <a:ext uri="{FF2B5EF4-FFF2-40B4-BE49-F238E27FC236}">
                <a16:creationId xmlns:a16="http://schemas.microsoft.com/office/drawing/2014/main" id="{79EBE8EA-6391-08BE-D44F-4F9FB2631CE5}"/>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Innovation</a:t>
            </a:r>
            <a:endParaRPr lang="en-US" sz="2600" dirty="0"/>
          </a:p>
        </p:txBody>
      </p:sp>
      <p:sp>
        <p:nvSpPr>
          <p:cNvPr id="27" name="Shape 10">
            <a:extLst>
              <a:ext uri="{FF2B5EF4-FFF2-40B4-BE49-F238E27FC236}">
                <a16:creationId xmlns:a16="http://schemas.microsoft.com/office/drawing/2014/main" id="{9EC18C8C-95A9-BFFF-9E00-DAF4CA89B413}"/>
              </a:ext>
            </a:extLst>
          </p:cNvPr>
          <p:cNvSpPr/>
          <p:nvPr/>
        </p:nvSpPr>
        <p:spPr>
          <a:xfrm>
            <a:off x="457200" y="1106423"/>
            <a:ext cx="8229600" cy="3493007"/>
          </a:xfrm>
          <a:prstGeom prst="roundRect">
            <a:avLst>
              <a:gd name="adj" fmla="val 3429"/>
            </a:avLst>
          </a:prstGeom>
          <a:solidFill>
            <a:srgbClr val="131E35"/>
          </a:solidFill>
          <a:ln w="12700">
            <a:solidFill>
              <a:srgbClr val="1E2D4A"/>
            </a:solidFill>
            <a:prstDash val="solid"/>
          </a:ln>
        </p:spPr>
        <p:txBody>
          <a:bodyPr/>
          <a:lstStyle/>
          <a:p>
            <a:r>
              <a:rPr lang="en-US" dirty="0">
                <a:solidFill>
                  <a:srgbClr val="DFE0E3"/>
                </a:solidFill>
              </a:rPr>
              <a:t>Octo-Fleet is the first 100% Algerian hybrid digital twin for predictive maintenance of FDM 3D printers. It combines live 3D visualization with smart failure detection inside a web browser. No installation &amp; No firmware changes.</a:t>
            </a:r>
          </a:p>
          <a:p>
            <a:endParaRPr lang="en-US" dirty="0">
              <a:solidFill>
                <a:srgbClr val="DFE0E3"/>
              </a:solidFill>
            </a:endParaRPr>
          </a:p>
          <a:p>
            <a:r>
              <a:rPr lang="en-US" dirty="0">
                <a:solidFill>
                  <a:srgbClr val="DFE0E3"/>
                </a:solidFill>
              </a:rPr>
              <a:t>The system works from day one and gets smarter with every print. Low-cost hardware makes predictive maintenance accessible to labs, makerspaces, and small businesses. Alerts are reliable and easy to understand so no unnecessary warnings or confusing data.</a:t>
            </a:r>
          </a:p>
          <a:p>
            <a:endParaRPr lang="en-US" dirty="0">
              <a:solidFill>
                <a:srgbClr val="DFE0E3"/>
              </a:solidFill>
            </a:endParaRPr>
          </a:p>
          <a:p>
            <a:r>
              <a:rPr lang="en-US" dirty="0">
                <a:solidFill>
                  <a:srgbClr val="DFE0E3"/>
                </a:solidFill>
              </a:rPr>
              <a:t>With proven accuracy and less unplanned downtime, Octo-Fleet lets you print with confidence, save filament, and keep your machines running longer.</a:t>
            </a:r>
            <a:endParaRPr lang="en-US" dirty="0"/>
          </a:p>
        </p:txBody>
      </p:sp>
      <p:pic>
        <p:nvPicPr>
          <p:cNvPr id="22" name="Image 21">
            <a:extLst>
              <a:ext uri="{FF2B5EF4-FFF2-40B4-BE49-F238E27FC236}">
                <a16:creationId xmlns:a16="http://schemas.microsoft.com/office/drawing/2014/main" id="{2D76297E-413E-5FAF-464A-8ADE620587D4}"/>
              </a:ext>
            </a:extLst>
          </p:cNvPr>
          <p:cNvPicPr>
            <a:picLocks noChangeAspect="1"/>
          </p:cNvPicPr>
          <p:nvPr/>
        </p:nvPicPr>
        <p:blipFill>
          <a:blip r:embed="rId3"/>
          <a:stretch>
            <a:fillRect/>
          </a:stretch>
        </p:blipFill>
        <p:spPr>
          <a:xfrm>
            <a:off x="5584507" y="-155732"/>
            <a:ext cx="3028941" cy="1688782"/>
          </a:xfrm>
          <a:prstGeom prst="rect">
            <a:avLst/>
          </a:prstGeom>
        </p:spPr>
      </p:pic>
    </p:spTree>
    <p:extLst>
      <p:ext uri="{BB962C8B-B14F-4D97-AF65-F5344CB8AC3E}">
        <p14:creationId xmlns:p14="http://schemas.microsoft.com/office/powerpoint/2010/main" val="1451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DE654D94-C832-8062-BF1D-59A5152D7F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83DC704-5FBE-E793-CDAD-70EF60B06215}"/>
              </a:ext>
            </a:extLst>
          </p:cNvPr>
          <p:cNvSpPr/>
          <p:nvPr/>
        </p:nvSpPr>
        <p:spPr>
          <a:xfrm>
            <a:off x="0" y="857252"/>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37991DE9-854C-BCB7-AD74-5C9F9834D362}"/>
              </a:ext>
            </a:extLst>
          </p:cNvPr>
          <p:cNvSpPr/>
          <p:nvPr/>
        </p:nvSpPr>
        <p:spPr>
          <a:xfrm>
            <a:off x="0" y="1588772"/>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CDD6B499-4BBD-60D5-B6E0-B6B049B9C9A2}"/>
              </a:ext>
            </a:extLst>
          </p:cNvPr>
          <p:cNvSpPr/>
          <p:nvPr/>
        </p:nvSpPr>
        <p:spPr>
          <a:xfrm>
            <a:off x="0" y="2320292"/>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75FB57AB-7DB3-1FB5-DD16-422B422F3E93}"/>
              </a:ext>
            </a:extLst>
          </p:cNvPr>
          <p:cNvSpPr/>
          <p:nvPr/>
        </p:nvSpPr>
        <p:spPr>
          <a:xfrm>
            <a:off x="0" y="3051812"/>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AF32C8B8-CDA1-3886-8643-8143AB31860F}"/>
              </a:ext>
            </a:extLst>
          </p:cNvPr>
          <p:cNvSpPr/>
          <p:nvPr/>
        </p:nvSpPr>
        <p:spPr>
          <a:xfrm>
            <a:off x="0" y="3783332"/>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B890B15E-4798-39D0-3265-8999D3249451}"/>
              </a:ext>
            </a:extLst>
          </p:cNvPr>
          <p:cNvSpPr/>
          <p:nvPr/>
        </p:nvSpPr>
        <p:spPr>
          <a:xfrm>
            <a:off x="0" y="4255772"/>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AEBBB84C-DE40-5876-A529-C84898E7B436}"/>
              </a:ext>
            </a:extLst>
          </p:cNvPr>
          <p:cNvSpPr/>
          <p:nvPr/>
        </p:nvSpPr>
        <p:spPr>
          <a:xfrm>
            <a:off x="731520" y="0"/>
            <a:ext cx="0" cy="5143500"/>
          </a:xfrm>
          <a:prstGeom prst="line">
            <a:avLst/>
          </a:prstGeom>
          <a:noFill/>
          <a:ln w="6350">
            <a:solidFill>
              <a:srgbClr val="1A2540"/>
            </a:solidFill>
            <a:prstDash val="solid"/>
          </a:ln>
        </p:spPr>
      </p:sp>
      <p:sp>
        <p:nvSpPr>
          <p:cNvPr id="9" name="Shape 7">
            <a:extLst>
              <a:ext uri="{FF2B5EF4-FFF2-40B4-BE49-F238E27FC236}">
                <a16:creationId xmlns:a16="http://schemas.microsoft.com/office/drawing/2014/main" id="{302B8A4B-77FD-9366-C3EE-344EC86E19DC}"/>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E9343A8A-E006-E5D9-3654-E27DC328360B}"/>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C827A757-F1CC-C7CF-FEC7-2CDB0CD97EEB}"/>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DE6776D3-4618-E644-07DE-373A7E9923DF}"/>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59BF982B-96FD-BC04-90DD-47D69BEC3E4F}"/>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5A30E097-B064-C4EC-A2D0-454D4CB1D7A0}"/>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EB78C1A0-398F-69DE-B815-99D3E3EA0277}"/>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50C6A449-CDD2-70EC-AFAE-1B02D2965465}"/>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91804D97-5949-A282-36C9-4FBDF953595B}"/>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114C5EF4-8005-7C1F-00C8-C31FE9BC1982}"/>
              </a:ext>
            </a:extLst>
          </p:cNvPr>
          <p:cNvSpPr/>
          <p:nvPr/>
        </p:nvSpPr>
        <p:spPr>
          <a:xfrm>
            <a:off x="3200400" y="-1828800"/>
            <a:ext cx="6400800" cy="6400800"/>
          </a:xfrm>
          <a:prstGeom prst="ellipse">
            <a:avLst/>
          </a:prstGeom>
          <a:solidFill>
            <a:srgbClr val="00C896">
              <a:alpha val="8000"/>
            </a:srgbClr>
          </a:solidFill>
          <a:ln/>
        </p:spPr>
      </p:sp>
      <p:sp>
        <p:nvSpPr>
          <p:cNvPr id="19" name="Shape 17">
            <a:extLst>
              <a:ext uri="{FF2B5EF4-FFF2-40B4-BE49-F238E27FC236}">
                <a16:creationId xmlns:a16="http://schemas.microsoft.com/office/drawing/2014/main" id="{0A976388-6F79-893A-6C33-C66A90A4EDD4}"/>
              </a:ext>
            </a:extLst>
          </p:cNvPr>
          <p:cNvSpPr/>
          <p:nvPr/>
        </p:nvSpPr>
        <p:spPr>
          <a:xfrm>
            <a:off x="5486400" y="2743200"/>
            <a:ext cx="5486400" cy="5486400"/>
          </a:xfrm>
          <a:prstGeom prst="ellipse">
            <a:avLst/>
          </a:prstGeom>
          <a:solidFill>
            <a:srgbClr val="0050FF">
              <a:alpha val="8000"/>
            </a:srgbClr>
          </a:solidFill>
          <a:ln/>
        </p:spPr>
      </p:sp>
      <p:sp>
        <p:nvSpPr>
          <p:cNvPr id="25" name="Text 7">
            <a:extLst>
              <a:ext uri="{FF2B5EF4-FFF2-40B4-BE49-F238E27FC236}">
                <a16:creationId xmlns:a16="http://schemas.microsoft.com/office/drawing/2014/main" id="{2C33CCC9-1742-D83D-CAA4-F09D3723C46B}"/>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05 — Business Model Canvas</a:t>
            </a:r>
          </a:p>
        </p:txBody>
      </p:sp>
      <p:sp>
        <p:nvSpPr>
          <p:cNvPr id="26" name="Text 8">
            <a:extLst>
              <a:ext uri="{FF2B5EF4-FFF2-40B4-BE49-F238E27FC236}">
                <a16:creationId xmlns:a16="http://schemas.microsoft.com/office/drawing/2014/main" id="{21D6AF6F-A2B1-94B8-C90C-0ACA50F6C9B7}"/>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Business Model Canvas</a:t>
            </a:r>
          </a:p>
        </p:txBody>
      </p:sp>
      <p:sp>
        <p:nvSpPr>
          <p:cNvPr id="187" name="Rectangle 186">
            <a:extLst>
              <a:ext uri="{FF2B5EF4-FFF2-40B4-BE49-F238E27FC236}">
                <a16:creationId xmlns:a16="http://schemas.microsoft.com/office/drawing/2014/main" id="{1CA41578-58F0-8B35-B1F1-163F6A4D961F}"/>
              </a:ext>
            </a:extLst>
          </p:cNvPr>
          <p:cNvSpPr/>
          <p:nvPr/>
        </p:nvSpPr>
        <p:spPr>
          <a:xfrm>
            <a:off x="206931" y="881382"/>
            <a:ext cx="1714500" cy="2901950"/>
          </a:xfrm>
          <a:prstGeom prst="rect">
            <a:avLst/>
          </a:prstGeom>
          <a:solidFill>
            <a:srgbClr val="025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8" name="Rectangle 187">
            <a:extLst>
              <a:ext uri="{FF2B5EF4-FFF2-40B4-BE49-F238E27FC236}">
                <a16:creationId xmlns:a16="http://schemas.microsoft.com/office/drawing/2014/main" id="{038DE5C8-EF38-C73B-84B7-40A396DA0FC8}"/>
              </a:ext>
            </a:extLst>
          </p:cNvPr>
          <p:cNvSpPr/>
          <p:nvPr/>
        </p:nvSpPr>
        <p:spPr>
          <a:xfrm>
            <a:off x="4013121" y="881382"/>
            <a:ext cx="2057400" cy="289653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89" name="Rectangle 188">
            <a:extLst>
              <a:ext uri="{FF2B5EF4-FFF2-40B4-BE49-F238E27FC236}">
                <a16:creationId xmlns:a16="http://schemas.microsoft.com/office/drawing/2014/main" id="{B0AD239A-E1D6-3409-6B3B-22C7EC05EE91}"/>
              </a:ext>
            </a:extLst>
          </p:cNvPr>
          <p:cNvSpPr/>
          <p:nvPr/>
        </p:nvSpPr>
        <p:spPr>
          <a:xfrm>
            <a:off x="6207681" y="881382"/>
            <a:ext cx="2708910" cy="2901950"/>
          </a:xfrm>
          <a:prstGeom prst="rect">
            <a:avLst/>
          </a:prstGeom>
          <a:solidFill>
            <a:srgbClr val="025F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0" name="Rectangle 189">
            <a:extLst>
              <a:ext uri="{FF2B5EF4-FFF2-40B4-BE49-F238E27FC236}">
                <a16:creationId xmlns:a16="http://schemas.microsoft.com/office/drawing/2014/main" id="{99FC3319-36A4-1B28-AC6C-4CF9E0111E10}"/>
              </a:ext>
            </a:extLst>
          </p:cNvPr>
          <p:cNvSpPr/>
          <p:nvPr/>
        </p:nvSpPr>
        <p:spPr>
          <a:xfrm>
            <a:off x="2024301" y="881382"/>
            <a:ext cx="1885950" cy="1508760"/>
          </a:xfrm>
          <a:prstGeom prst="rect">
            <a:avLst/>
          </a:prstGeom>
          <a:solidFill>
            <a:srgbClr val="02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1" name="Rectangle 190">
            <a:extLst>
              <a:ext uri="{FF2B5EF4-FFF2-40B4-BE49-F238E27FC236}">
                <a16:creationId xmlns:a16="http://schemas.microsoft.com/office/drawing/2014/main" id="{F466F998-987C-C220-AB3E-DF57C67D5EBE}"/>
              </a:ext>
            </a:extLst>
          </p:cNvPr>
          <p:cNvSpPr/>
          <p:nvPr/>
        </p:nvSpPr>
        <p:spPr>
          <a:xfrm>
            <a:off x="2024301" y="2493012"/>
            <a:ext cx="1885950" cy="1290320"/>
          </a:xfrm>
          <a:prstGeom prst="rect">
            <a:avLst/>
          </a:prstGeom>
          <a:solidFill>
            <a:srgbClr val="02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4" name="TextBox 10">
            <a:extLst>
              <a:ext uri="{FF2B5EF4-FFF2-40B4-BE49-F238E27FC236}">
                <a16:creationId xmlns:a16="http://schemas.microsoft.com/office/drawing/2014/main" id="{F0CF54EC-353E-AF29-6AD4-514C48437D10}"/>
              </a:ext>
            </a:extLst>
          </p:cNvPr>
          <p:cNvSpPr txBox="1"/>
          <p:nvPr/>
        </p:nvSpPr>
        <p:spPr>
          <a:xfrm>
            <a:off x="309800" y="963678"/>
            <a:ext cx="1543050" cy="253916"/>
          </a:xfrm>
          <a:prstGeom prst="rect">
            <a:avLst/>
          </a:prstGeom>
          <a:noFill/>
        </p:spPr>
        <p:txBody>
          <a:bodyPr wrap="square">
            <a:spAutoFit/>
          </a:bodyPr>
          <a:lstStyle/>
          <a:p>
            <a:pPr algn="l"/>
            <a:r>
              <a:rPr sz="1050" b="1" dirty="0">
                <a:solidFill>
                  <a:srgbClr val="00C6BB"/>
                </a:solidFill>
                <a:latin typeface="Calibri"/>
              </a:rPr>
              <a:t>KEY PARTNERS</a:t>
            </a:r>
          </a:p>
        </p:txBody>
      </p:sp>
      <p:sp>
        <p:nvSpPr>
          <p:cNvPr id="195" name="TextBox 11">
            <a:extLst>
              <a:ext uri="{FF2B5EF4-FFF2-40B4-BE49-F238E27FC236}">
                <a16:creationId xmlns:a16="http://schemas.microsoft.com/office/drawing/2014/main" id="{79B3E26D-9461-0564-3477-ACB1E6D977F4}"/>
              </a:ext>
            </a:extLst>
          </p:cNvPr>
          <p:cNvSpPr txBox="1"/>
          <p:nvPr/>
        </p:nvSpPr>
        <p:spPr>
          <a:xfrm>
            <a:off x="309800" y="1224282"/>
            <a:ext cx="1479254" cy="415498"/>
          </a:xfrm>
          <a:prstGeom prst="rect">
            <a:avLst/>
          </a:prstGeom>
          <a:noFill/>
        </p:spPr>
        <p:txBody>
          <a:bodyPr wrap="square">
            <a:spAutoFit/>
          </a:bodyPr>
          <a:lstStyle/>
          <a:p>
            <a:r>
              <a:rPr sz="1050" dirty="0">
                <a:solidFill>
                  <a:srgbClr val="00C6BB"/>
                </a:solidFill>
              </a:rPr>
              <a:t>▸ </a:t>
            </a:r>
            <a:r>
              <a:rPr sz="1050" dirty="0">
                <a:solidFill>
                  <a:srgbClr val="FFFFFF"/>
                </a:solidFill>
              </a:rPr>
              <a:t>Algerian universities / MESRS</a:t>
            </a:r>
          </a:p>
        </p:txBody>
      </p:sp>
      <p:sp>
        <p:nvSpPr>
          <p:cNvPr id="196" name="TextBox 12">
            <a:extLst>
              <a:ext uri="{FF2B5EF4-FFF2-40B4-BE49-F238E27FC236}">
                <a16:creationId xmlns:a16="http://schemas.microsoft.com/office/drawing/2014/main" id="{BB3D943D-3CA3-B9CD-4AF5-D73263646A36}"/>
              </a:ext>
            </a:extLst>
          </p:cNvPr>
          <p:cNvSpPr txBox="1"/>
          <p:nvPr/>
        </p:nvSpPr>
        <p:spPr>
          <a:xfrm>
            <a:off x="309799" y="1604564"/>
            <a:ext cx="1493548" cy="415498"/>
          </a:xfrm>
          <a:prstGeom prst="rect">
            <a:avLst/>
          </a:prstGeom>
          <a:noFill/>
        </p:spPr>
        <p:txBody>
          <a:bodyPr wrap="square">
            <a:spAutoFit/>
          </a:bodyPr>
          <a:lstStyle/>
          <a:p>
            <a:r>
              <a:rPr sz="1050" dirty="0">
                <a:solidFill>
                  <a:srgbClr val="00C6BB"/>
                </a:solidFill>
              </a:rPr>
              <a:t>▸ </a:t>
            </a:r>
            <a:r>
              <a:rPr sz="1050" dirty="0">
                <a:solidFill>
                  <a:srgbClr val="FFFFFF"/>
                </a:solidFill>
              </a:rPr>
              <a:t>Local 3D printer distributors</a:t>
            </a:r>
          </a:p>
        </p:txBody>
      </p:sp>
      <p:sp>
        <p:nvSpPr>
          <p:cNvPr id="197" name="TextBox 13">
            <a:extLst>
              <a:ext uri="{FF2B5EF4-FFF2-40B4-BE49-F238E27FC236}">
                <a16:creationId xmlns:a16="http://schemas.microsoft.com/office/drawing/2014/main" id="{F357FC9C-DF47-516D-F103-5927B3797F05}"/>
              </a:ext>
            </a:extLst>
          </p:cNvPr>
          <p:cNvSpPr txBox="1"/>
          <p:nvPr/>
        </p:nvSpPr>
        <p:spPr>
          <a:xfrm>
            <a:off x="315039" y="2012743"/>
            <a:ext cx="1498547" cy="415498"/>
          </a:xfrm>
          <a:prstGeom prst="rect">
            <a:avLst/>
          </a:prstGeom>
          <a:noFill/>
        </p:spPr>
        <p:txBody>
          <a:bodyPr wrap="square">
            <a:spAutoFit/>
          </a:bodyPr>
          <a:lstStyle/>
          <a:p>
            <a:r>
              <a:rPr sz="1050" dirty="0">
                <a:solidFill>
                  <a:srgbClr val="00C6BB"/>
                </a:solidFill>
              </a:rPr>
              <a:t>▸ </a:t>
            </a:r>
            <a:r>
              <a:rPr sz="1050" dirty="0">
                <a:solidFill>
                  <a:srgbClr val="FFFFFF"/>
                </a:solidFill>
              </a:rPr>
              <a:t>Marlin/Klipper communities</a:t>
            </a:r>
          </a:p>
        </p:txBody>
      </p:sp>
      <p:sp>
        <p:nvSpPr>
          <p:cNvPr id="198" name="TextBox 14">
            <a:extLst>
              <a:ext uri="{FF2B5EF4-FFF2-40B4-BE49-F238E27FC236}">
                <a16:creationId xmlns:a16="http://schemas.microsoft.com/office/drawing/2014/main" id="{961E58A7-6F99-903E-E439-F7339F1E86F3}"/>
              </a:ext>
            </a:extLst>
          </p:cNvPr>
          <p:cNvSpPr txBox="1"/>
          <p:nvPr/>
        </p:nvSpPr>
        <p:spPr>
          <a:xfrm>
            <a:off x="280581" y="2390105"/>
            <a:ext cx="1533005" cy="415498"/>
          </a:xfrm>
          <a:prstGeom prst="rect">
            <a:avLst/>
          </a:prstGeom>
          <a:noFill/>
        </p:spPr>
        <p:txBody>
          <a:bodyPr wrap="square">
            <a:spAutoFit/>
          </a:bodyPr>
          <a:lstStyle/>
          <a:p>
            <a:r>
              <a:rPr sz="1050" dirty="0">
                <a:solidFill>
                  <a:srgbClr val="00C6BB"/>
                </a:solidFill>
              </a:rPr>
              <a:t>▸ </a:t>
            </a:r>
            <a:r>
              <a:rPr sz="1050" dirty="0">
                <a:solidFill>
                  <a:srgbClr val="FFFFFF"/>
                </a:solidFill>
              </a:rPr>
              <a:t>Sensor &amp; edge hardware vendors</a:t>
            </a:r>
          </a:p>
        </p:txBody>
      </p:sp>
      <p:sp>
        <p:nvSpPr>
          <p:cNvPr id="199" name="TextBox 15">
            <a:extLst>
              <a:ext uri="{FF2B5EF4-FFF2-40B4-BE49-F238E27FC236}">
                <a16:creationId xmlns:a16="http://schemas.microsoft.com/office/drawing/2014/main" id="{0301D786-A55F-FA80-5C44-F869BFED33EE}"/>
              </a:ext>
            </a:extLst>
          </p:cNvPr>
          <p:cNvSpPr txBox="1"/>
          <p:nvPr/>
        </p:nvSpPr>
        <p:spPr>
          <a:xfrm>
            <a:off x="2127171" y="963678"/>
            <a:ext cx="1714500" cy="253916"/>
          </a:xfrm>
          <a:prstGeom prst="rect">
            <a:avLst/>
          </a:prstGeom>
          <a:noFill/>
        </p:spPr>
        <p:txBody>
          <a:bodyPr wrap="square">
            <a:spAutoFit/>
          </a:bodyPr>
          <a:lstStyle/>
          <a:p>
            <a:pPr algn="l"/>
            <a:r>
              <a:rPr sz="1050" b="1">
                <a:solidFill>
                  <a:srgbClr val="00C6BB"/>
                </a:solidFill>
                <a:latin typeface="Calibri"/>
              </a:rPr>
              <a:t>KEY ACTIVITIES</a:t>
            </a:r>
          </a:p>
        </p:txBody>
      </p:sp>
      <p:sp>
        <p:nvSpPr>
          <p:cNvPr id="200" name="TextBox 16">
            <a:extLst>
              <a:ext uri="{FF2B5EF4-FFF2-40B4-BE49-F238E27FC236}">
                <a16:creationId xmlns:a16="http://schemas.microsoft.com/office/drawing/2014/main" id="{80E30C1C-2003-FFE5-D2C1-F1B95E57C61A}"/>
              </a:ext>
            </a:extLst>
          </p:cNvPr>
          <p:cNvSpPr txBox="1"/>
          <p:nvPr/>
        </p:nvSpPr>
        <p:spPr>
          <a:xfrm>
            <a:off x="2127171" y="1224282"/>
            <a:ext cx="1595309" cy="253916"/>
          </a:xfrm>
          <a:prstGeom prst="rect">
            <a:avLst/>
          </a:prstGeom>
          <a:noFill/>
        </p:spPr>
        <p:txBody>
          <a:bodyPr wrap="none">
            <a:spAutoFit/>
          </a:bodyPr>
          <a:lstStyle/>
          <a:p>
            <a:r>
              <a:rPr sz="1050">
                <a:solidFill>
                  <a:srgbClr val="00C6BB"/>
                </a:solidFill>
              </a:rPr>
              <a:t>▸ </a:t>
            </a:r>
            <a:r>
              <a:rPr sz="1050">
                <a:solidFill>
                  <a:srgbClr val="FFFFFF"/>
                </a:solidFill>
              </a:rPr>
              <a:t>Sensor data acquisition</a:t>
            </a:r>
          </a:p>
        </p:txBody>
      </p:sp>
      <p:sp>
        <p:nvSpPr>
          <p:cNvPr id="201" name="TextBox 17">
            <a:extLst>
              <a:ext uri="{FF2B5EF4-FFF2-40B4-BE49-F238E27FC236}">
                <a16:creationId xmlns:a16="http://schemas.microsoft.com/office/drawing/2014/main" id="{9B9A3810-74BB-DF62-C65D-41989D94CF7E}"/>
              </a:ext>
            </a:extLst>
          </p:cNvPr>
          <p:cNvSpPr txBox="1"/>
          <p:nvPr/>
        </p:nvSpPr>
        <p:spPr>
          <a:xfrm>
            <a:off x="2127171" y="1484886"/>
            <a:ext cx="1489510" cy="253916"/>
          </a:xfrm>
          <a:prstGeom prst="rect">
            <a:avLst/>
          </a:prstGeom>
          <a:noFill/>
        </p:spPr>
        <p:txBody>
          <a:bodyPr wrap="none">
            <a:spAutoFit/>
          </a:bodyPr>
          <a:lstStyle/>
          <a:p>
            <a:r>
              <a:rPr sz="1050">
                <a:solidFill>
                  <a:srgbClr val="00C6BB"/>
                </a:solidFill>
              </a:rPr>
              <a:t>▸ </a:t>
            </a:r>
            <a:r>
              <a:rPr sz="1050">
                <a:solidFill>
                  <a:srgbClr val="FFFFFF"/>
                </a:solidFill>
              </a:rPr>
              <a:t>Digital twin modeling</a:t>
            </a:r>
          </a:p>
        </p:txBody>
      </p:sp>
      <p:sp>
        <p:nvSpPr>
          <p:cNvPr id="202" name="TextBox 18">
            <a:extLst>
              <a:ext uri="{FF2B5EF4-FFF2-40B4-BE49-F238E27FC236}">
                <a16:creationId xmlns:a16="http://schemas.microsoft.com/office/drawing/2014/main" id="{57510E81-0C4F-A9C0-D31E-B08D64773880}"/>
              </a:ext>
            </a:extLst>
          </p:cNvPr>
          <p:cNvSpPr txBox="1"/>
          <p:nvPr/>
        </p:nvSpPr>
        <p:spPr>
          <a:xfrm>
            <a:off x="2127171" y="1745490"/>
            <a:ext cx="1470274" cy="253916"/>
          </a:xfrm>
          <a:prstGeom prst="rect">
            <a:avLst/>
          </a:prstGeom>
          <a:noFill/>
        </p:spPr>
        <p:txBody>
          <a:bodyPr wrap="none">
            <a:spAutoFit/>
          </a:bodyPr>
          <a:lstStyle/>
          <a:p>
            <a:r>
              <a:rPr sz="1050">
                <a:solidFill>
                  <a:srgbClr val="00C6BB"/>
                </a:solidFill>
              </a:rPr>
              <a:t>▸ </a:t>
            </a:r>
            <a:r>
              <a:rPr sz="1050">
                <a:solidFill>
                  <a:srgbClr val="FFFFFF"/>
                </a:solidFill>
              </a:rPr>
              <a:t>ML failure prediction</a:t>
            </a:r>
          </a:p>
        </p:txBody>
      </p:sp>
      <p:sp>
        <p:nvSpPr>
          <p:cNvPr id="203" name="TextBox 19">
            <a:extLst>
              <a:ext uri="{FF2B5EF4-FFF2-40B4-BE49-F238E27FC236}">
                <a16:creationId xmlns:a16="http://schemas.microsoft.com/office/drawing/2014/main" id="{3178E22D-E92B-5749-C8CC-F611C67DE56B}"/>
              </a:ext>
            </a:extLst>
          </p:cNvPr>
          <p:cNvSpPr txBox="1"/>
          <p:nvPr/>
        </p:nvSpPr>
        <p:spPr>
          <a:xfrm>
            <a:off x="2127171" y="2006094"/>
            <a:ext cx="1542410" cy="253916"/>
          </a:xfrm>
          <a:prstGeom prst="rect">
            <a:avLst/>
          </a:prstGeom>
          <a:noFill/>
        </p:spPr>
        <p:txBody>
          <a:bodyPr wrap="none">
            <a:spAutoFit/>
          </a:bodyPr>
          <a:lstStyle/>
          <a:p>
            <a:r>
              <a:rPr sz="1050">
                <a:solidFill>
                  <a:srgbClr val="00C6BB"/>
                </a:solidFill>
              </a:rPr>
              <a:t>▸ </a:t>
            </a:r>
            <a:r>
              <a:rPr sz="1050">
                <a:solidFill>
                  <a:srgbClr val="FFFFFF"/>
                </a:solidFill>
              </a:rPr>
              <a:t>Pilot site deployments</a:t>
            </a:r>
          </a:p>
        </p:txBody>
      </p:sp>
      <p:sp>
        <p:nvSpPr>
          <p:cNvPr id="204" name="TextBox 20">
            <a:extLst>
              <a:ext uri="{FF2B5EF4-FFF2-40B4-BE49-F238E27FC236}">
                <a16:creationId xmlns:a16="http://schemas.microsoft.com/office/drawing/2014/main" id="{6CAEF7A1-0DB5-A6AE-B9C2-DDD9BA660991}"/>
              </a:ext>
            </a:extLst>
          </p:cNvPr>
          <p:cNvSpPr txBox="1"/>
          <p:nvPr/>
        </p:nvSpPr>
        <p:spPr>
          <a:xfrm>
            <a:off x="2127171" y="2575308"/>
            <a:ext cx="1714500" cy="253916"/>
          </a:xfrm>
          <a:prstGeom prst="rect">
            <a:avLst/>
          </a:prstGeom>
          <a:noFill/>
        </p:spPr>
        <p:txBody>
          <a:bodyPr wrap="square">
            <a:spAutoFit/>
          </a:bodyPr>
          <a:lstStyle/>
          <a:p>
            <a:pPr algn="l"/>
            <a:r>
              <a:rPr sz="1050" b="1">
                <a:solidFill>
                  <a:srgbClr val="00C6BB"/>
                </a:solidFill>
                <a:latin typeface="Calibri"/>
              </a:rPr>
              <a:t>KEY RESOURCES</a:t>
            </a:r>
          </a:p>
        </p:txBody>
      </p:sp>
      <p:sp>
        <p:nvSpPr>
          <p:cNvPr id="205" name="TextBox 21">
            <a:extLst>
              <a:ext uri="{FF2B5EF4-FFF2-40B4-BE49-F238E27FC236}">
                <a16:creationId xmlns:a16="http://schemas.microsoft.com/office/drawing/2014/main" id="{9607AB8D-AA81-D627-9162-91BE3EFE33D7}"/>
              </a:ext>
            </a:extLst>
          </p:cNvPr>
          <p:cNvSpPr txBox="1"/>
          <p:nvPr/>
        </p:nvSpPr>
        <p:spPr>
          <a:xfrm>
            <a:off x="2127172" y="2835912"/>
            <a:ext cx="1511952" cy="253916"/>
          </a:xfrm>
          <a:prstGeom prst="rect">
            <a:avLst/>
          </a:prstGeom>
          <a:noFill/>
        </p:spPr>
        <p:txBody>
          <a:bodyPr wrap="none">
            <a:spAutoFit/>
          </a:bodyPr>
          <a:lstStyle/>
          <a:p>
            <a:r>
              <a:rPr sz="1050">
                <a:solidFill>
                  <a:srgbClr val="00C6BB"/>
                </a:solidFill>
              </a:rPr>
              <a:t>▸ </a:t>
            </a:r>
            <a:r>
              <a:rPr sz="1050">
                <a:solidFill>
                  <a:srgbClr val="FFFFFF"/>
                </a:solidFill>
              </a:rPr>
              <a:t>Digital Twin AI engine</a:t>
            </a:r>
          </a:p>
        </p:txBody>
      </p:sp>
      <p:sp>
        <p:nvSpPr>
          <p:cNvPr id="206" name="TextBox 22">
            <a:extLst>
              <a:ext uri="{FF2B5EF4-FFF2-40B4-BE49-F238E27FC236}">
                <a16:creationId xmlns:a16="http://schemas.microsoft.com/office/drawing/2014/main" id="{4C402C38-B400-9FB5-BF98-4EC4B91FFDCE}"/>
              </a:ext>
            </a:extLst>
          </p:cNvPr>
          <p:cNvSpPr txBox="1"/>
          <p:nvPr/>
        </p:nvSpPr>
        <p:spPr>
          <a:xfrm>
            <a:off x="2127171" y="3096516"/>
            <a:ext cx="1487908" cy="253916"/>
          </a:xfrm>
          <a:prstGeom prst="rect">
            <a:avLst/>
          </a:prstGeom>
          <a:noFill/>
        </p:spPr>
        <p:txBody>
          <a:bodyPr wrap="none">
            <a:spAutoFit/>
          </a:bodyPr>
          <a:lstStyle/>
          <a:p>
            <a:r>
              <a:rPr sz="1050">
                <a:solidFill>
                  <a:srgbClr val="00C6BB"/>
                </a:solidFill>
              </a:rPr>
              <a:t>▸ </a:t>
            </a:r>
            <a:r>
              <a:rPr sz="1050">
                <a:solidFill>
                  <a:srgbClr val="FFFFFF"/>
                </a:solidFill>
              </a:rPr>
              <a:t>Agnostic sensor layer</a:t>
            </a:r>
          </a:p>
        </p:txBody>
      </p:sp>
      <p:sp>
        <p:nvSpPr>
          <p:cNvPr id="207" name="TextBox 23">
            <a:extLst>
              <a:ext uri="{FF2B5EF4-FFF2-40B4-BE49-F238E27FC236}">
                <a16:creationId xmlns:a16="http://schemas.microsoft.com/office/drawing/2014/main" id="{9E482C52-362D-5ABE-FBFB-CBD5B15B5B73}"/>
              </a:ext>
            </a:extLst>
          </p:cNvPr>
          <p:cNvSpPr txBox="1"/>
          <p:nvPr/>
        </p:nvSpPr>
        <p:spPr>
          <a:xfrm>
            <a:off x="2127171" y="3357120"/>
            <a:ext cx="1611339" cy="253916"/>
          </a:xfrm>
          <a:prstGeom prst="rect">
            <a:avLst/>
          </a:prstGeom>
          <a:noFill/>
        </p:spPr>
        <p:txBody>
          <a:bodyPr wrap="none">
            <a:spAutoFit/>
          </a:bodyPr>
          <a:lstStyle/>
          <a:p>
            <a:r>
              <a:rPr sz="1050">
                <a:solidFill>
                  <a:srgbClr val="00C6BB"/>
                </a:solidFill>
              </a:rPr>
              <a:t>▸ </a:t>
            </a:r>
            <a:r>
              <a:rPr sz="1050">
                <a:solidFill>
                  <a:srgbClr val="FFFFFF"/>
                </a:solidFill>
              </a:rPr>
              <a:t>FDM &amp; ML expert team</a:t>
            </a:r>
          </a:p>
        </p:txBody>
      </p:sp>
      <p:sp>
        <p:nvSpPr>
          <p:cNvPr id="208" name="TextBox 24">
            <a:extLst>
              <a:ext uri="{FF2B5EF4-FFF2-40B4-BE49-F238E27FC236}">
                <a16:creationId xmlns:a16="http://schemas.microsoft.com/office/drawing/2014/main" id="{27381A2E-6602-4DB5-6548-62FDBD8EC8B4}"/>
              </a:ext>
            </a:extLst>
          </p:cNvPr>
          <p:cNvSpPr txBox="1"/>
          <p:nvPr/>
        </p:nvSpPr>
        <p:spPr>
          <a:xfrm>
            <a:off x="4115991" y="963678"/>
            <a:ext cx="1885950" cy="253916"/>
          </a:xfrm>
          <a:prstGeom prst="rect">
            <a:avLst/>
          </a:prstGeom>
          <a:noFill/>
        </p:spPr>
        <p:txBody>
          <a:bodyPr wrap="square">
            <a:spAutoFit/>
          </a:bodyPr>
          <a:lstStyle/>
          <a:p>
            <a:pPr algn="l"/>
            <a:r>
              <a:rPr sz="1050" b="1" dirty="0">
                <a:solidFill>
                  <a:srgbClr val="00C6BB"/>
                </a:solidFill>
                <a:latin typeface="Calibri"/>
              </a:rPr>
              <a:t>VALUE PROPOSITION</a:t>
            </a:r>
          </a:p>
        </p:txBody>
      </p:sp>
      <p:sp>
        <p:nvSpPr>
          <p:cNvPr id="222" name="TextBox 38">
            <a:extLst>
              <a:ext uri="{FF2B5EF4-FFF2-40B4-BE49-F238E27FC236}">
                <a16:creationId xmlns:a16="http://schemas.microsoft.com/office/drawing/2014/main" id="{8303F05A-EA10-0E1C-D099-2166CFAF0ED2}"/>
              </a:ext>
            </a:extLst>
          </p:cNvPr>
          <p:cNvSpPr txBox="1"/>
          <p:nvPr/>
        </p:nvSpPr>
        <p:spPr>
          <a:xfrm>
            <a:off x="6310551" y="963678"/>
            <a:ext cx="2537460" cy="253916"/>
          </a:xfrm>
          <a:prstGeom prst="rect">
            <a:avLst/>
          </a:prstGeom>
          <a:noFill/>
        </p:spPr>
        <p:txBody>
          <a:bodyPr wrap="square">
            <a:spAutoFit/>
          </a:bodyPr>
          <a:lstStyle/>
          <a:p>
            <a:pPr algn="l"/>
            <a:r>
              <a:rPr sz="1050" b="1">
                <a:solidFill>
                  <a:srgbClr val="00C6BB"/>
                </a:solidFill>
                <a:latin typeface="Calibri"/>
              </a:rPr>
              <a:t>CUSTOMER SEGMENTS</a:t>
            </a:r>
          </a:p>
        </p:txBody>
      </p:sp>
      <p:sp>
        <p:nvSpPr>
          <p:cNvPr id="223" name="TextBox 39">
            <a:extLst>
              <a:ext uri="{FF2B5EF4-FFF2-40B4-BE49-F238E27FC236}">
                <a16:creationId xmlns:a16="http://schemas.microsoft.com/office/drawing/2014/main" id="{E088EBDF-AB4B-F109-E534-DDE5E087D8CA}"/>
              </a:ext>
            </a:extLst>
          </p:cNvPr>
          <p:cNvSpPr txBox="1"/>
          <p:nvPr/>
        </p:nvSpPr>
        <p:spPr>
          <a:xfrm>
            <a:off x="6310551" y="1224282"/>
            <a:ext cx="1813317" cy="253916"/>
          </a:xfrm>
          <a:prstGeom prst="rect">
            <a:avLst/>
          </a:prstGeom>
          <a:noFill/>
        </p:spPr>
        <p:txBody>
          <a:bodyPr wrap="none">
            <a:spAutoFit/>
          </a:bodyPr>
          <a:lstStyle/>
          <a:p>
            <a:r>
              <a:rPr sz="1050">
                <a:solidFill>
                  <a:srgbClr val="00C6BB"/>
                </a:solidFill>
              </a:rPr>
              <a:t>▸ </a:t>
            </a:r>
            <a:r>
              <a:rPr sz="1050">
                <a:solidFill>
                  <a:srgbClr val="FFFFFF"/>
                </a:solidFill>
              </a:rPr>
              <a:t>Primary: universities &amp; labs</a:t>
            </a:r>
          </a:p>
        </p:txBody>
      </p:sp>
      <p:sp>
        <p:nvSpPr>
          <p:cNvPr id="224" name="TextBox 40">
            <a:extLst>
              <a:ext uri="{FF2B5EF4-FFF2-40B4-BE49-F238E27FC236}">
                <a16:creationId xmlns:a16="http://schemas.microsoft.com/office/drawing/2014/main" id="{C968D709-42D7-6111-05FB-F1EFFF2FA47E}"/>
              </a:ext>
            </a:extLst>
          </p:cNvPr>
          <p:cNvSpPr txBox="1"/>
          <p:nvPr/>
        </p:nvSpPr>
        <p:spPr>
          <a:xfrm>
            <a:off x="6310551" y="1484886"/>
            <a:ext cx="1802096" cy="253916"/>
          </a:xfrm>
          <a:prstGeom prst="rect">
            <a:avLst/>
          </a:prstGeom>
          <a:noFill/>
        </p:spPr>
        <p:txBody>
          <a:bodyPr wrap="none">
            <a:spAutoFit/>
          </a:bodyPr>
          <a:lstStyle/>
          <a:p>
            <a:r>
              <a:rPr sz="1050">
                <a:solidFill>
                  <a:srgbClr val="00C6BB"/>
                </a:solidFill>
              </a:rPr>
              <a:t>▸ </a:t>
            </a:r>
            <a:r>
              <a:rPr sz="1050">
                <a:solidFill>
                  <a:srgbClr val="FFFFFF"/>
                </a:solidFill>
              </a:rPr>
              <a:t>Secondary: industrial SMEs</a:t>
            </a:r>
          </a:p>
        </p:txBody>
      </p:sp>
      <p:sp>
        <p:nvSpPr>
          <p:cNvPr id="225" name="TextBox 41">
            <a:extLst>
              <a:ext uri="{FF2B5EF4-FFF2-40B4-BE49-F238E27FC236}">
                <a16:creationId xmlns:a16="http://schemas.microsoft.com/office/drawing/2014/main" id="{102F76A9-7081-2526-7EA5-01996D0B62CC}"/>
              </a:ext>
            </a:extLst>
          </p:cNvPr>
          <p:cNvSpPr txBox="1"/>
          <p:nvPr/>
        </p:nvSpPr>
        <p:spPr>
          <a:xfrm>
            <a:off x="6310551" y="1745490"/>
            <a:ext cx="1968809" cy="253916"/>
          </a:xfrm>
          <a:prstGeom prst="rect">
            <a:avLst/>
          </a:prstGeom>
          <a:noFill/>
        </p:spPr>
        <p:txBody>
          <a:bodyPr wrap="none">
            <a:spAutoFit/>
          </a:bodyPr>
          <a:lstStyle/>
          <a:p>
            <a:r>
              <a:rPr sz="1050">
                <a:solidFill>
                  <a:srgbClr val="00C6BB"/>
                </a:solidFill>
              </a:rPr>
              <a:t>▸ </a:t>
            </a:r>
            <a:r>
              <a:rPr sz="1050">
                <a:solidFill>
                  <a:srgbClr val="FFFFFF"/>
                </a:solidFill>
              </a:rPr>
              <a:t>Tertiary: print service bureaus</a:t>
            </a:r>
          </a:p>
        </p:txBody>
      </p:sp>
      <p:sp>
        <p:nvSpPr>
          <p:cNvPr id="226" name="Rectangle 225">
            <a:extLst>
              <a:ext uri="{FF2B5EF4-FFF2-40B4-BE49-F238E27FC236}">
                <a16:creationId xmlns:a16="http://schemas.microsoft.com/office/drawing/2014/main" id="{15394487-F9F3-A7F4-B226-371ED8C80DF6}"/>
              </a:ext>
            </a:extLst>
          </p:cNvPr>
          <p:cNvSpPr/>
          <p:nvPr/>
        </p:nvSpPr>
        <p:spPr>
          <a:xfrm>
            <a:off x="206931" y="3914141"/>
            <a:ext cx="4183380" cy="919733"/>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7" name="Rectangle 226">
            <a:extLst>
              <a:ext uri="{FF2B5EF4-FFF2-40B4-BE49-F238E27FC236}">
                <a16:creationId xmlns:a16="http://schemas.microsoft.com/office/drawing/2014/main" id="{7CA95915-EA6F-73AE-8DFF-40EBFFCF36AD}"/>
              </a:ext>
            </a:extLst>
          </p:cNvPr>
          <p:cNvSpPr/>
          <p:nvPr/>
        </p:nvSpPr>
        <p:spPr>
          <a:xfrm>
            <a:off x="4493181" y="3914142"/>
            <a:ext cx="4423410" cy="919732"/>
          </a:xfrm>
          <a:prstGeom prst="rect">
            <a:avLst/>
          </a:prstGeom>
          <a:solidFill>
            <a:srgbClr val="445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8" name="TextBox 44">
            <a:extLst>
              <a:ext uri="{FF2B5EF4-FFF2-40B4-BE49-F238E27FC236}">
                <a16:creationId xmlns:a16="http://schemas.microsoft.com/office/drawing/2014/main" id="{FC37CF36-EED6-CD7E-C6C7-E9D98E7BEE45}"/>
              </a:ext>
            </a:extLst>
          </p:cNvPr>
          <p:cNvSpPr txBox="1"/>
          <p:nvPr/>
        </p:nvSpPr>
        <p:spPr>
          <a:xfrm>
            <a:off x="309800" y="3996438"/>
            <a:ext cx="4011930" cy="253916"/>
          </a:xfrm>
          <a:prstGeom prst="rect">
            <a:avLst/>
          </a:prstGeom>
          <a:noFill/>
        </p:spPr>
        <p:txBody>
          <a:bodyPr wrap="square">
            <a:spAutoFit/>
          </a:bodyPr>
          <a:lstStyle/>
          <a:p>
            <a:pPr algn="l"/>
            <a:r>
              <a:rPr sz="1050" b="1">
                <a:solidFill>
                  <a:srgbClr val="00C6BB"/>
                </a:solidFill>
                <a:latin typeface="Calibri"/>
              </a:rPr>
              <a:t>COST STRUCTURE</a:t>
            </a:r>
          </a:p>
        </p:txBody>
      </p:sp>
      <p:sp>
        <p:nvSpPr>
          <p:cNvPr id="229" name="TextBox 45">
            <a:extLst>
              <a:ext uri="{FF2B5EF4-FFF2-40B4-BE49-F238E27FC236}">
                <a16:creationId xmlns:a16="http://schemas.microsoft.com/office/drawing/2014/main" id="{B1E35270-954D-5565-9B1E-AFBC8B41B54A}"/>
              </a:ext>
            </a:extLst>
          </p:cNvPr>
          <p:cNvSpPr txBox="1"/>
          <p:nvPr/>
        </p:nvSpPr>
        <p:spPr>
          <a:xfrm>
            <a:off x="309800" y="4257042"/>
            <a:ext cx="3953589" cy="415498"/>
          </a:xfrm>
          <a:prstGeom prst="rect">
            <a:avLst/>
          </a:prstGeom>
          <a:noFill/>
        </p:spPr>
        <p:txBody>
          <a:bodyPr wrap="square">
            <a:spAutoFit/>
          </a:bodyPr>
          <a:lstStyle/>
          <a:p>
            <a:r>
              <a:rPr sz="1050" dirty="0">
                <a:solidFill>
                  <a:srgbClr val="00C6BB"/>
                </a:solidFill>
              </a:rPr>
              <a:t>▸ </a:t>
            </a:r>
            <a:r>
              <a:rPr sz="1050" dirty="0">
                <a:solidFill>
                  <a:srgbClr val="FFFFFF"/>
                </a:solidFill>
              </a:rPr>
              <a:t>Core team salaries &amp; local server  |  Hardware sensor kits &amp; travel  |  R&amp;D fleet testing</a:t>
            </a:r>
          </a:p>
        </p:txBody>
      </p:sp>
      <p:sp>
        <p:nvSpPr>
          <p:cNvPr id="230" name="TextBox 46">
            <a:extLst>
              <a:ext uri="{FF2B5EF4-FFF2-40B4-BE49-F238E27FC236}">
                <a16:creationId xmlns:a16="http://schemas.microsoft.com/office/drawing/2014/main" id="{89497D05-8F32-DD13-991C-7A8DD6A09C92}"/>
              </a:ext>
            </a:extLst>
          </p:cNvPr>
          <p:cNvSpPr txBox="1"/>
          <p:nvPr/>
        </p:nvSpPr>
        <p:spPr>
          <a:xfrm>
            <a:off x="4596051" y="3996438"/>
            <a:ext cx="4251960" cy="253916"/>
          </a:xfrm>
          <a:prstGeom prst="rect">
            <a:avLst/>
          </a:prstGeom>
          <a:noFill/>
        </p:spPr>
        <p:txBody>
          <a:bodyPr wrap="square">
            <a:spAutoFit/>
          </a:bodyPr>
          <a:lstStyle/>
          <a:p>
            <a:pPr algn="l"/>
            <a:r>
              <a:rPr sz="1050" b="1">
                <a:solidFill>
                  <a:srgbClr val="00C6BB"/>
                </a:solidFill>
                <a:latin typeface="Calibri"/>
              </a:rPr>
              <a:t>REVENUE STREAMS</a:t>
            </a:r>
          </a:p>
        </p:txBody>
      </p:sp>
      <p:sp>
        <p:nvSpPr>
          <p:cNvPr id="231" name="TextBox 47">
            <a:extLst>
              <a:ext uri="{FF2B5EF4-FFF2-40B4-BE49-F238E27FC236}">
                <a16:creationId xmlns:a16="http://schemas.microsoft.com/office/drawing/2014/main" id="{7F402E73-C33A-A954-CEC5-9496D47CB5F6}"/>
              </a:ext>
            </a:extLst>
          </p:cNvPr>
          <p:cNvSpPr txBox="1"/>
          <p:nvPr/>
        </p:nvSpPr>
        <p:spPr>
          <a:xfrm>
            <a:off x="4596051" y="4257042"/>
            <a:ext cx="4238149" cy="415498"/>
          </a:xfrm>
          <a:prstGeom prst="rect">
            <a:avLst/>
          </a:prstGeom>
          <a:noFill/>
        </p:spPr>
        <p:txBody>
          <a:bodyPr wrap="square">
            <a:spAutoFit/>
          </a:bodyPr>
          <a:lstStyle/>
          <a:p>
            <a:r>
              <a:rPr sz="1050" dirty="0">
                <a:solidFill>
                  <a:srgbClr val="00C6BB"/>
                </a:solidFill>
              </a:rPr>
              <a:t>▸ </a:t>
            </a:r>
            <a:r>
              <a:rPr sz="1050" dirty="0">
                <a:solidFill>
                  <a:srgbClr val="FFFFFF"/>
                </a:solidFill>
              </a:rPr>
              <a:t>Annual subscriptions (per site)  |  Hardware kit &amp; installation fees  |  Bank virement &amp; </a:t>
            </a:r>
            <a:r>
              <a:rPr lang="en-US" sz="1050" dirty="0">
                <a:solidFill>
                  <a:srgbClr val="FFFFFF"/>
                </a:solidFill>
              </a:rPr>
              <a:t>"</a:t>
            </a:r>
            <a:r>
              <a:rPr sz="1050" dirty="0">
                <a:solidFill>
                  <a:srgbClr val="FFFFFF"/>
                </a:solidFill>
              </a:rPr>
              <a:t>bon de </a:t>
            </a:r>
            <a:r>
              <a:rPr sz="1050" dirty="0" err="1">
                <a:solidFill>
                  <a:srgbClr val="FFFFFF"/>
                </a:solidFill>
              </a:rPr>
              <a:t>commande</a:t>
            </a:r>
            <a:r>
              <a:rPr lang="en-US" sz="1050" dirty="0">
                <a:solidFill>
                  <a:srgbClr val="FFFFFF"/>
                </a:solidFill>
              </a:rPr>
              <a:t>"</a:t>
            </a:r>
            <a:endParaRPr sz="1050" dirty="0">
              <a:solidFill>
                <a:srgbClr val="FFFFFF"/>
              </a:solidFill>
            </a:endParaRPr>
          </a:p>
        </p:txBody>
      </p:sp>
      <p:sp>
        <p:nvSpPr>
          <p:cNvPr id="236" name="TextBox 52">
            <a:extLst>
              <a:ext uri="{FF2B5EF4-FFF2-40B4-BE49-F238E27FC236}">
                <a16:creationId xmlns:a16="http://schemas.microsoft.com/office/drawing/2014/main" id="{DBFEA21D-7F5A-8968-2B76-82F390FD27AB}"/>
              </a:ext>
            </a:extLst>
          </p:cNvPr>
          <p:cNvSpPr txBox="1"/>
          <p:nvPr/>
        </p:nvSpPr>
        <p:spPr>
          <a:xfrm>
            <a:off x="4095417" y="1238648"/>
            <a:ext cx="1636987" cy="253916"/>
          </a:xfrm>
          <a:prstGeom prst="rect">
            <a:avLst/>
          </a:prstGeom>
          <a:noFill/>
        </p:spPr>
        <p:txBody>
          <a:bodyPr wrap="none">
            <a:spAutoFit/>
          </a:bodyPr>
          <a:lstStyle/>
          <a:p>
            <a:r>
              <a:rPr sz="1000" dirty="0">
                <a:solidFill>
                  <a:srgbClr val="00C6BB"/>
                </a:solidFill>
              </a:rPr>
              <a:t>▸ </a:t>
            </a:r>
            <a:r>
              <a:rPr sz="1050" dirty="0">
                <a:solidFill>
                  <a:srgbClr val="FFFFFF"/>
                </a:solidFill>
                <a:latin typeface="Calibri"/>
              </a:rPr>
              <a:t>60–8</a:t>
            </a:r>
            <a:r>
              <a:rPr lang="en-US" sz="1050" dirty="0">
                <a:solidFill>
                  <a:srgbClr val="FFFFFF"/>
                </a:solidFill>
                <a:latin typeface="Calibri"/>
              </a:rPr>
              <a:t>0</a:t>
            </a:r>
            <a:r>
              <a:rPr sz="1050" dirty="0">
                <a:solidFill>
                  <a:srgbClr val="FFFFFF"/>
                </a:solidFill>
                <a:latin typeface="Calibri"/>
              </a:rPr>
              <a:t>% downtime drop</a:t>
            </a:r>
          </a:p>
        </p:txBody>
      </p:sp>
      <p:sp>
        <p:nvSpPr>
          <p:cNvPr id="237" name="TextBox 53">
            <a:extLst>
              <a:ext uri="{FF2B5EF4-FFF2-40B4-BE49-F238E27FC236}">
                <a16:creationId xmlns:a16="http://schemas.microsoft.com/office/drawing/2014/main" id="{93FC4E87-EC1F-1D1D-B64B-72148954DAED}"/>
              </a:ext>
            </a:extLst>
          </p:cNvPr>
          <p:cNvSpPr txBox="1"/>
          <p:nvPr/>
        </p:nvSpPr>
        <p:spPr>
          <a:xfrm>
            <a:off x="4095417" y="1499252"/>
            <a:ext cx="1463862" cy="253916"/>
          </a:xfrm>
          <a:prstGeom prst="rect">
            <a:avLst/>
          </a:prstGeom>
          <a:noFill/>
        </p:spPr>
        <p:txBody>
          <a:bodyPr wrap="none">
            <a:spAutoFit/>
          </a:bodyPr>
          <a:lstStyle/>
          <a:p>
            <a:r>
              <a:rPr sz="1000">
                <a:solidFill>
                  <a:srgbClr val="00C6BB"/>
                </a:solidFill>
              </a:rPr>
              <a:t>▸ </a:t>
            </a:r>
            <a:r>
              <a:rPr sz="1050">
                <a:solidFill>
                  <a:srgbClr val="FFFFFF"/>
                </a:solidFill>
                <a:latin typeface="Calibri"/>
              </a:rPr>
              <a:t>Saves costly filament</a:t>
            </a:r>
          </a:p>
        </p:txBody>
      </p:sp>
      <p:sp>
        <p:nvSpPr>
          <p:cNvPr id="238" name="TextBox 54">
            <a:extLst>
              <a:ext uri="{FF2B5EF4-FFF2-40B4-BE49-F238E27FC236}">
                <a16:creationId xmlns:a16="http://schemas.microsoft.com/office/drawing/2014/main" id="{6AB70DA8-13D1-D454-F708-ED0F2A0DDA39}"/>
              </a:ext>
            </a:extLst>
          </p:cNvPr>
          <p:cNvSpPr txBox="1"/>
          <p:nvPr/>
        </p:nvSpPr>
        <p:spPr>
          <a:xfrm>
            <a:off x="4095417" y="1759856"/>
            <a:ext cx="1511952" cy="253916"/>
          </a:xfrm>
          <a:prstGeom prst="rect">
            <a:avLst/>
          </a:prstGeom>
          <a:noFill/>
        </p:spPr>
        <p:txBody>
          <a:bodyPr wrap="none">
            <a:spAutoFit/>
          </a:bodyPr>
          <a:lstStyle/>
          <a:p>
            <a:r>
              <a:rPr sz="1000" dirty="0">
                <a:solidFill>
                  <a:srgbClr val="00C6BB"/>
                </a:solidFill>
              </a:rPr>
              <a:t>▸ </a:t>
            </a:r>
            <a:r>
              <a:rPr sz="1050" dirty="0">
                <a:solidFill>
                  <a:srgbClr val="FFFFFF"/>
                </a:solidFill>
                <a:latin typeface="Calibri"/>
              </a:rPr>
              <a:t>No cloud dependency</a:t>
            </a:r>
          </a:p>
        </p:txBody>
      </p:sp>
      <p:sp>
        <p:nvSpPr>
          <p:cNvPr id="239" name="TextBox 55">
            <a:extLst>
              <a:ext uri="{FF2B5EF4-FFF2-40B4-BE49-F238E27FC236}">
                <a16:creationId xmlns:a16="http://schemas.microsoft.com/office/drawing/2014/main" id="{4C80E82F-5E4B-F978-2EE2-377898BFF26D}"/>
              </a:ext>
            </a:extLst>
          </p:cNvPr>
          <p:cNvSpPr txBox="1"/>
          <p:nvPr/>
        </p:nvSpPr>
        <p:spPr>
          <a:xfrm>
            <a:off x="4095418" y="2020460"/>
            <a:ext cx="1386918" cy="253916"/>
          </a:xfrm>
          <a:prstGeom prst="rect">
            <a:avLst/>
          </a:prstGeom>
          <a:noFill/>
        </p:spPr>
        <p:txBody>
          <a:bodyPr wrap="none">
            <a:spAutoFit/>
          </a:bodyPr>
          <a:lstStyle/>
          <a:p>
            <a:r>
              <a:rPr sz="1000" dirty="0">
                <a:solidFill>
                  <a:srgbClr val="00C6BB"/>
                </a:solidFill>
              </a:rPr>
              <a:t>▸ </a:t>
            </a:r>
            <a:r>
              <a:rPr lang="en-US" sz="1050" dirty="0">
                <a:solidFill>
                  <a:srgbClr val="FFFFFF"/>
                </a:solidFill>
                <a:latin typeface="Calibri"/>
              </a:rPr>
              <a:t>Low </a:t>
            </a:r>
            <a:r>
              <a:rPr sz="1050" dirty="0">
                <a:solidFill>
                  <a:srgbClr val="FFFFFF"/>
                </a:solidFill>
                <a:latin typeface="Calibri"/>
              </a:rPr>
              <a:t> hardware</a:t>
            </a:r>
            <a:r>
              <a:rPr lang="en-US" sz="1050" dirty="0">
                <a:solidFill>
                  <a:srgbClr val="FFFFFF"/>
                </a:solidFill>
                <a:latin typeface="Calibri"/>
              </a:rPr>
              <a:t> cost</a:t>
            </a:r>
            <a:endParaRPr sz="1050" dirty="0">
              <a:solidFill>
                <a:srgbClr val="FFFFFF"/>
              </a:solidFill>
              <a:latin typeface="Calibri"/>
            </a:endParaRPr>
          </a:p>
        </p:txBody>
      </p:sp>
      <p:sp>
        <p:nvSpPr>
          <p:cNvPr id="240" name="TextBox 56">
            <a:extLst>
              <a:ext uri="{FF2B5EF4-FFF2-40B4-BE49-F238E27FC236}">
                <a16:creationId xmlns:a16="http://schemas.microsoft.com/office/drawing/2014/main" id="{006E4810-C9BA-5A92-48C6-CBF8D7CAE80A}"/>
              </a:ext>
            </a:extLst>
          </p:cNvPr>
          <p:cNvSpPr txBox="1"/>
          <p:nvPr/>
        </p:nvSpPr>
        <p:spPr>
          <a:xfrm>
            <a:off x="4095417" y="2281064"/>
            <a:ext cx="1632178" cy="253916"/>
          </a:xfrm>
          <a:prstGeom prst="rect">
            <a:avLst/>
          </a:prstGeom>
          <a:noFill/>
        </p:spPr>
        <p:txBody>
          <a:bodyPr wrap="none">
            <a:spAutoFit/>
          </a:bodyPr>
          <a:lstStyle/>
          <a:p>
            <a:r>
              <a:rPr sz="1000" dirty="0">
                <a:solidFill>
                  <a:srgbClr val="00C6BB"/>
                </a:solidFill>
              </a:rPr>
              <a:t>▸ </a:t>
            </a:r>
            <a:r>
              <a:rPr lang="en-US" sz="1050" dirty="0">
                <a:solidFill>
                  <a:srgbClr val="FFFFFF"/>
                </a:solidFill>
                <a:latin typeface="Calibri"/>
              </a:rPr>
              <a:t>Multi-Language</a:t>
            </a:r>
            <a:r>
              <a:rPr sz="1050" dirty="0">
                <a:solidFill>
                  <a:srgbClr val="FFFFFF"/>
                </a:solidFill>
                <a:latin typeface="Calibri"/>
              </a:rPr>
              <a:t> support</a:t>
            </a:r>
          </a:p>
        </p:txBody>
      </p:sp>
    </p:spTree>
    <p:extLst>
      <p:ext uri="{BB962C8B-B14F-4D97-AF65-F5344CB8AC3E}">
        <p14:creationId xmlns:p14="http://schemas.microsoft.com/office/powerpoint/2010/main" val="4251857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7D4DC6F1-3E85-32CD-E193-17A213570E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D2B7EEF-25D6-7E72-B54E-6A6BAF88694F}"/>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02C82A14-F034-5394-61A5-CB623C058E4D}"/>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FE1B3F7E-2AE4-6476-BA39-0DAA3667914F}"/>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1BD08E86-EC7E-4071-62E0-27126DAFCA30}"/>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C4098101-74FF-FDF2-57A9-604DC8F3BAD0}"/>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74A0563D-69D1-7967-CE47-B9711FD9C948}"/>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BD80CD25-9424-31CF-6229-7AC447676782}"/>
              </a:ext>
            </a:extLst>
          </p:cNvPr>
          <p:cNvSpPr/>
          <p:nvPr/>
        </p:nvSpPr>
        <p:spPr>
          <a:xfrm>
            <a:off x="73152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0531CEC0-3058-E3BB-4AA9-3BB0CECF8660}"/>
              </a:ext>
            </a:extLst>
          </p:cNvPr>
          <p:cNvSpPr/>
          <p:nvPr/>
        </p:nvSpPr>
        <p:spPr>
          <a:xfrm>
            <a:off x="2377440" y="0"/>
            <a:ext cx="0" cy="5143500"/>
          </a:xfrm>
          <a:prstGeom prst="line">
            <a:avLst/>
          </a:prstGeom>
          <a:noFill/>
          <a:ln w="6350">
            <a:solidFill>
              <a:srgbClr val="1A2540"/>
            </a:solidFill>
            <a:prstDash val="solid"/>
          </a:ln>
        </p:spPr>
      </p:sp>
      <p:sp>
        <p:nvSpPr>
          <p:cNvPr id="9" name="Shape 7">
            <a:extLst>
              <a:ext uri="{FF2B5EF4-FFF2-40B4-BE49-F238E27FC236}">
                <a16:creationId xmlns:a16="http://schemas.microsoft.com/office/drawing/2014/main" id="{EC5EB5C5-316A-4601-3B64-978838008769}"/>
              </a:ext>
            </a:extLst>
          </p:cNvPr>
          <p:cNvSpPr/>
          <p:nvPr/>
        </p:nvSpPr>
        <p:spPr>
          <a:xfrm>
            <a:off x="155448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EA851EED-0A7A-0941-F252-D3005304D3BD}"/>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E75D6223-D685-D4C1-2188-50B2BDC4259E}"/>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D568A5CC-AA19-D077-FFBA-6255A984D7B8}"/>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0D884429-074F-8A6A-FDD8-2CF308697101}"/>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F9843A50-E17A-A99F-2C99-3DD9649A04FC}"/>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0B4BC236-52ED-3409-F1A6-85E720738BC7}"/>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295DF342-735E-B16F-F7C9-CBC975506686}"/>
              </a:ext>
            </a:extLst>
          </p:cNvPr>
          <p:cNvSpPr/>
          <p:nvPr/>
        </p:nvSpPr>
        <p:spPr>
          <a:xfrm>
            <a:off x="8138160" y="0"/>
            <a:ext cx="0" cy="5143500"/>
          </a:xfrm>
          <a:prstGeom prst="line">
            <a:avLst/>
          </a:prstGeom>
          <a:noFill/>
          <a:ln w="6350">
            <a:solidFill>
              <a:srgbClr val="1A2540"/>
            </a:solidFill>
            <a:prstDash val="solid"/>
          </a:ln>
        </p:spPr>
      </p:sp>
      <p:sp>
        <p:nvSpPr>
          <p:cNvPr id="25" name="Text 7">
            <a:extLst>
              <a:ext uri="{FF2B5EF4-FFF2-40B4-BE49-F238E27FC236}">
                <a16:creationId xmlns:a16="http://schemas.microsoft.com/office/drawing/2014/main" id="{7D650C3E-5AF2-D05F-98FF-993017A85BA4}"/>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06 — Clients</a:t>
            </a:r>
            <a:endParaRPr lang="en-US" sz="900" dirty="0"/>
          </a:p>
        </p:txBody>
      </p:sp>
      <p:sp>
        <p:nvSpPr>
          <p:cNvPr id="26" name="Text 8">
            <a:extLst>
              <a:ext uri="{FF2B5EF4-FFF2-40B4-BE49-F238E27FC236}">
                <a16:creationId xmlns:a16="http://schemas.microsoft.com/office/drawing/2014/main" id="{175C9DB4-2CA0-FB69-ADC0-424CBB7BB526}"/>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Clients</a:t>
            </a:r>
            <a:endParaRPr lang="en-US" sz="2600" dirty="0"/>
          </a:p>
        </p:txBody>
      </p:sp>
      <p:sp>
        <p:nvSpPr>
          <p:cNvPr id="27" name="Shape 10">
            <a:extLst>
              <a:ext uri="{FF2B5EF4-FFF2-40B4-BE49-F238E27FC236}">
                <a16:creationId xmlns:a16="http://schemas.microsoft.com/office/drawing/2014/main" id="{A8173C73-3BF1-1457-F47F-AFC5DB9A3017}"/>
              </a:ext>
            </a:extLst>
          </p:cNvPr>
          <p:cNvSpPr/>
          <p:nvPr/>
        </p:nvSpPr>
        <p:spPr>
          <a:xfrm>
            <a:off x="457200" y="1106423"/>
            <a:ext cx="8229600" cy="4037078"/>
          </a:xfrm>
          <a:prstGeom prst="roundRect">
            <a:avLst>
              <a:gd name="adj" fmla="val 3429"/>
            </a:avLst>
          </a:prstGeom>
          <a:gradFill>
            <a:gsLst>
              <a:gs pos="0">
                <a:srgbClr val="002060"/>
              </a:gs>
              <a:gs pos="100000">
                <a:srgbClr val="0A0F1E"/>
              </a:gs>
            </a:gsLst>
            <a:lin ang="5400000" scaled="1"/>
          </a:gradFill>
          <a:ln w="12700">
            <a:solidFill>
              <a:srgbClr val="1E2D4A"/>
            </a:solidFill>
            <a:prstDash val="solid"/>
          </a:ln>
        </p:spPr>
        <p:txBody>
          <a:bodyPr/>
          <a:lstStyle/>
          <a:p>
            <a:endParaRPr lang="en-US" dirty="0"/>
          </a:p>
        </p:txBody>
      </p:sp>
      <p:sp>
        <p:nvSpPr>
          <p:cNvPr id="23" name="ZoneTexte 22">
            <a:extLst>
              <a:ext uri="{FF2B5EF4-FFF2-40B4-BE49-F238E27FC236}">
                <a16:creationId xmlns:a16="http://schemas.microsoft.com/office/drawing/2014/main" id="{C39654C6-1AD5-4B93-1F67-7D6A776B423D}"/>
              </a:ext>
            </a:extLst>
          </p:cNvPr>
          <p:cNvSpPr txBox="1"/>
          <p:nvPr/>
        </p:nvSpPr>
        <p:spPr>
          <a:xfrm>
            <a:off x="5377020" y="3842824"/>
            <a:ext cx="1864682" cy="923330"/>
          </a:xfrm>
          <a:prstGeom prst="rect">
            <a:avLst/>
          </a:prstGeom>
          <a:noFill/>
        </p:spPr>
        <p:txBody>
          <a:bodyPr wrap="square">
            <a:spAutoFit/>
          </a:bodyPr>
          <a:lstStyle/>
          <a:p>
            <a:pPr algn="ctr"/>
            <a:r>
              <a:rPr lang="en-US" b="1" dirty="0">
                <a:solidFill>
                  <a:srgbClr val="DFE0E3"/>
                </a:solidFill>
                <a:ea typeface="Calibri" pitchFamily="34" charset="-122"/>
                <a:cs typeface="Calibri" pitchFamily="34" charset="-120"/>
              </a:rPr>
              <a:t>Universities</a:t>
            </a:r>
          </a:p>
          <a:p>
            <a:pPr algn="ctr"/>
            <a:r>
              <a:rPr lang="en-US" b="1" dirty="0">
                <a:solidFill>
                  <a:srgbClr val="DFE0E3"/>
                </a:solidFill>
                <a:ea typeface="Calibri" pitchFamily="34" charset="-122"/>
                <a:cs typeface="Calibri" pitchFamily="34" charset="-120"/>
              </a:rPr>
              <a:t>&amp; Laboratories &amp;</a:t>
            </a:r>
          </a:p>
          <a:p>
            <a:pPr algn="ctr"/>
            <a:r>
              <a:rPr lang="en-US" b="1" dirty="0">
                <a:solidFill>
                  <a:srgbClr val="DFE0E3"/>
                </a:solidFill>
                <a:ea typeface="Calibri" pitchFamily="34" charset="-122"/>
                <a:cs typeface="Calibri" pitchFamily="34" charset="-120"/>
              </a:rPr>
              <a:t>Technical schools</a:t>
            </a:r>
          </a:p>
        </p:txBody>
      </p:sp>
      <p:sp>
        <p:nvSpPr>
          <p:cNvPr id="30" name="ZoneTexte 29">
            <a:extLst>
              <a:ext uri="{FF2B5EF4-FFF2-40B4-BE49-F238E27FC236}">
                <a16:creationId xmlns:a16="http://schemas.microsoft.com/office/drawing/2014/main" id="{6AA86C2F-FCF5-2EE2-4CA6-84DBEBECBF6A}"/>
              </a:ext>
            </a:extLst>
          </p:cNvPr>
          <p:cNvSpPr txBox="1"/>
          <p:nvPr/>
        </p:nvSpPr>
        <p:spPr>
          <a:xfrm>
            <a:off x="7488329" y="3821409"/>
            <a:ext cx="1098918" cy="646331"/>
          </a:xfrm>
          <a:prstGeom prst="rect">
            <a:avLst/>
          </a:prstGeom>
          <a:noFill/>
        </p:spPr>
        <p:txBody>
          <a:bodyPr wrap="square">
            <a:spAutoFit/>
          </a:bodyPr>
          <a:lstStyle/>
          <a:p>
            <a:pPr algn="ctr"/>
            <a:r>
              <a:rPr lang="en-US" b="1" dirty="0">
                <a:solidFill>
                  <a:srgbClr val="DFE0E3"/>
                </a:solidFill>
                <a:ea typeface="Calibri" pitchFamily="34" charset="-122"/>
                <a:cs typeface="Calibri" pitchFamily="34" charset="-120"/>
              </a:rPr>
              <a:t>Industrial</a:t>
            </a:r>
          </a:p>
          <a:p>
            <a:pPr algn="ctr"/>
            <a:r>
              <a:rPr lang="en-US" b="1" dirty="0">
                <a:solidFill>
                  <a:srgbClr val="DFE0E3"/>
                </a:solidFill>
                <a:ea typeface="Calibri" pitchFamily="34" charset="-122"/>
                <a:cs typeface="Calibri" pitchFamily="34" charset="-120"/>
              </a:rPr>
              <a:t>SMEs</a:t>
            </a:r>
          </a:p>
        </p:txBody>
      </p:sp>
      <p:sp>
        <p:nvSpPr>
          <p:cNvPr id="32" name="ZoneTexte 31">
            <a:extLst>
              <a:ext uri="{FF2B5EF4-FFF2-40B4-BE49-F238E27FC236}">
                <a16:creationId xmlns:a16="http://schemas.microsoft.com/office/drawing/2014/main" id="{4C766EE3-4ED2-7A1B-BFD9-C60E1D1D6EFC}"/>
              </a:ext>
            </a:extLst>
          </p:cNvPr>
          <p:cNvSpPr txBox="1"/>
          <p:nvPr/>
        </p:nvSpPr>
        <p:spPr>
          <a:xfrm>
            <a:off x="704517" y="3823194"/>
            <a:ext cx="1219437" cy="369332"/>
          </a:xfrm>
          <a:prstGeom prst="rect">
            <a:avLst/>
          </a:prstGeom>
          <a:noFill/>
        </p:spPr>
        <p:txBody>
          <a:bodyPr wrap="square">
            <a:spAutoFit/>
          </a:bodyPr>
          <a:lstStyle/>
          <a:p>
            <a:r>
              <a:rPr lang="en-US" b="1" dirty="0">
                <a:solidFill>
                  <a:srgbClr val="DFE0E3"/>
                </a:solidFill>
                <a:ea typeface="Calibri" pitchFamily="34" charset="-122"/>
                <a:cs typeface="Calibri" pitchFamily="34" charset="-120"/>
              </a:rPr>
              <a:t>Individuals</a:t>
            </a:r>
            <a:endParaRPr lang="en-US" dirty="0"/>
          </a:p>
        </p:txBody>
      </p:sp>
      <p:sp>
        <p:nvSpPr>
          <p:cNvPr id="36" name="ZoneTexte 35">
            <a:extLst>
              <a:ext uri="{FF2B5EF4-FFF2-40B4-BE49-F238E27FC236}">
                <a16:creationId xmlns:a16="http://schemas.microsoft.com/office/drawing/2014/main" id="{8A7EE7B2-F2E8-18CE-1F13-8D53919485D4}"/>
              </a:ext>
            </a:extLst>
          </p:cNvPr>
          <p:cNvSpPr txBox="1"/>
          <p:nvPr/>
        </p:nvSpPr>
        <p:spPr>
          <a:xfrm>
            <a:off x="3876199" y="3840480"/>
            <a:ext cx="1309742" cy="646331"/>
          </a:xfrm>
          <a:prstGeom prst="rect">
            <a:avLst/>
          </a:prstGeom>
          <a:noFill/>
        </p:spPr>
        <p:txBody>
          <a:bodyPr wrap="square">
            <a:spAutoFit/>
          </a:bodyPr>
          <a:lstStyle/>
          <a:p>
            <a:pPr algn="ctr"/>
            <a:r>
              <a:rPr lang="en-US" b="1" dirty="0">
                <a:solidFill>
                  <a:srgbClr val="DFE0E3"/>
                </a:solidFill>
                <a:ea typeface="Calibri" pitchFamily="34" charset="-122"/>
                <a:cs typeface="Calibri" pitchFamily="34" charset="-120"/>
              </a:rPr>
              <a:t>Prototyping studios</a:t>
            </a:r>
          </a:p>
        </p:txBody>
      </p:sp>
      <p:sp>
        <p:nvSpPr>
          <p:cNvPr id="38" name="ZoneTexte 37">
            <a:extLst>
              <a:ext uri="{FF2B5EF4-FFF2-40B4-BE49-F238E27FC236}">
                <a16:creationId xmlns:a16="http://schemas.microsoft.com/office/drawing/2014/main" id="{45238E8E-EC13-1CFF-07AE-79400B7C61B7}"/>
              </a:ext>
            </a:extLst>
          </p:cNvPr>
          <p:cNvSpPr txBox="1"/>
          <p:nvPr/>
        </p:nvSpPr>
        <p:spPr>
          <a:xfrm>
            <a:off x="2124340" y="3823194"/>
            <a:ext cx="1412239" cy="646331"/>
          </a:xfrm>
          <a:prstGeom prst="rect">
            <a:avLst/>
          </a:prstGeom>
          <a:noFill/>
        </p:spPr>
        <p:txBody>
          <a:bodyPr wrap="square">
            <a:spAutoFit/>
          </a:bodyPr>
          <a:lstStyle/>
          <a:p>
            <a:pPr algn="ctr"/>
            <a:r>
              <a:rPr lang="en-US" b="1" dirty="0">
                <a:solidFill>
                  <a:srgbClr val="DFE0E3"/>
                </a:solidFill>
                <a:ea typeface="Calibri" pitchFamily="34" charset="-122"/>
                <a:cs typeface="Calibri" pitchFamily="34" charset="-120"/>
              </a:rPr>
              <a:t>Small print farms</a:t>
            </a:r>
          </a:p>
        </p:txBody>
      </p:sp>
      <p:pic>
        <p:nvPicPr>
          <p:cNvPr id="43" name="Image 42">
            <a:extLst>
              <a:ext uri="{FF2B5EF4-FFF2-40B4-BE49-F238E27FC236}">
                <a16:creationId xmlns:a16="http://schemas.microsoft.com/office/drawing/2014/main" id="{9C2E82B8-66E0-8AD5-FEE2-632B2F063B22}"/>
              </a:ext>
            </a:extLst>
          </p:cNvPr>
          <p:cNvPicPr>
            <a:picLocks noChangeAspect="1"/>
          </p:cNvPicPr>
          <p:nvPr/>
        </p:nvPicPr>
        <p:blipFill>
          <a:blip r:embed="rId3"/>
          <a:stretch>
            <a:fillRect/>
          </a:stretch>
        </p:blipFill>
        <p:spPr>
          <a:xfrm>
            <a:off x="7473827" y="2578154"/>
            <a:ext cx="1051233" cy="1051233"/>
          </a:xfrm>
          <a:prstGeom prst="rect">
            <a:avLst/>
          </a:prstGeom>
        </p:spPr>
      </p:pic>
      <p:pic>
        <p:nvPicPr>
          <p:cNvPr id="45" name="Image 44">
            <a:extLst>
              <a:ext uri="{FF2B5EF4-FFF2-40B4-BE49-F238E27FC236}">
                <a16:creationId xmlns:a16="http://schemas.microsoft.com/office/drawing/2014/main" id="{A3EDCA6B-8B49-F6A5-F34A-8A491ED7D029}"/>
              </a:ext>
            </a:extLst>
          </p:cNvPr>
          <p:cNvPicPr>
            <a:picLocks noChangeAspect="1"/>
          </p:cNvPicPr>
          <p:nvPr/>
        </p:nvPicPr>
        <p:blipFill>
          <a:blip r:embed="rId4"/>
          <a:stretch>
            <a:fillRect/>
          </a:stretch>
        </p:blipFill>
        <p:spPr>
          <a:xfrm>
            <a:off x="5694814" y="2549415"/>
            <a:ext cx="1039268" cy="1039268"/>
          </a:xfrm>
          <a:prstGeom prst="rect">
            <a:avLst/>
          </a:prstGeom>
        </p:spPr>
      </p:pic>
      <p:pic>
        <p:nvPicPr>
          <p:cNvPr id="47" name="Image 46">
            <a:extLst>
              <a:ext uri="{FF2B5EF4-FFF2-40B4-BE49-F238E27FC236}">
                <a16:creationId xmlns:a16="http://schemas.microsoft.com/office/drawing/2014/main" id="{44293948-6218-79D1-8561-E2E61C43573C}"/>
              </a:ext>
            </a:extLst>
          </p:cNvPr>
          <p:cNvPicPr>
            <a:picLocks noChangeAspect="1"/>
          </p:cNvPicPr>
          <p:nvPr/>
        </p:nvPicPr>
        <p:blipFill>
          <a:blip r:embed="rId5"/>
          <a:stretch>
            <a:fillRect/>
          </a:stretch>
        </p:blipFill>
        <p:spPr>
          <a:xfrm>
            <a:off x="3960926" y="2515680"/>
            <a:ext cx="1116706" cy="1116706"/>
          </a:xfrm>
          <a:prstGeom prst="rect">
            <a:avLst/>
          </a:prstGeom>
        </p:spPr>
      </p:pic>
      <p:pic>
        <p:nvPicPr>
          <p:cNvPr id="49" name="Image 48">
            <a:extLst>
              <a:ext uri="{FF2B5EF4-FFF2-40B4-BE49-F238E27FC236}">
                <a16:creationId xmlns:a16="http://schemas.microsoft.com/office/drawing/2014/main" id="{4DD0CF5B-BD9A-B9FA-51EF-CE377C0BEEB0}"/>
              </a:ext>
            </a:extLst>
          </p:cNvPr>
          <p:cNvPicPr>
            <a:picLocks noChangeAspect="1"/>
          </p:cNvPicPr>
          <p:nvPr/>
        </p:nvPicPr>
        <p:blipFill>
          <a:blip r:embed="rId6"/>
          <a:stretch>
            <a:fillRect/>
          </a:stretch>
        </p:blipFill>
        <p:spPr>
          <a:xfrm>
            <a:off x="2343960" y="2515680"/>
            <a:ext cx="1066725" cy="1066725"/>
          </a:xfrm>
          <a:prstGeom prst="rect">
            <a:avLst/>
          </a:prstGeom>
        </p:spPr>
      </p:pic>
      <p:pic>
        <p:nvPicPr>
          <p:cNvPr id="51" name="Image 50">
            <a:extLst>
              <a:ext uri="{FF2B5EF4-FFF2-40B4-BE49-F238E27FC236}">
                <a16:creationId xmlns:a16="http://schemas.microsoft.com/office/drawing/2014/main" id="{452B4728-56DC-1049-FA0B-51F45593A1C7}"/>
              </a:ext>
            </a:extLst>
          </p:cNvPr>
          <p:cNvPicPr>
            <a:picLocks noChangeAspect="1"/>
          </p:cNvPicPr>
          <p:nvPr/>
        </p:nvPicPr>
        <p:blipFill>
          <a:blip r:embed="rId7"/>
          <a:stretch>
            <a:fillRect/>
          </a:stretch>
        </p:blipFill>
        <p:spPr>
          <a:xfrm>
            <a:off x="859019" y="2606616"/>
            <a:ext cx="954669" cy="954669"/>
          </a:xfrm>
          <a:prstGeom prst="rect">
            <a:avLst/>
          </a:prstGeom>
        </p:spPr>
      </p:pic>
      <p:sp>
        <p:nvSpPr>
          <p:cNvPr id="19" name="ZoneTexte 18">
            <a:extLst>
              <a:ext uri="{FF2B5EF4-FFF2-40B4-BE49-F238E27FC236}">
                <a16:creationId xmlns:a16="http://schemas.microsoft.com/office/drawing/2014/main" id="{392FFB79-FBD4-8EA2-F16A-3C7536464DB5}"/>
              </a:ext>
            </a:extLst>
          </p:cNvPr>
          <p:cNvSpPr txBox="1"/>
          <p:nvPr/>
        </p:nvSpPr>
        <p:spPr>
          <a:xfrm>
            <a:off x="956871" y="1373992"/>
            <a:ext cx="5257005" cy="646331"/>
          </a:xfrm>
          <a:prstGeom prst="rect">
            <a:avLst/>
          </a:prstGeom>
          <a:noFill/>
        </p:spPr>
        <p:txBody>
          <a:bodyPr wrap="square">
            <a:spAutoFit/>
          </a:bodyPr>
          <a:lstStyle/>
          <a:p>
            <a:r>
              <a:rPr lang="en-US" sz="1800" b="1" dirty="0">
                <a:solidFill>
                  <a:srgbClr val="FFD166"/>
                </a:solidFill>
                <a:latin typeface="Calibri" pitchFamily="34" charset="0"/>
                <a:ea typeface="Calibri" pitchFamily="34" charset="-122"/>
                <a:cs typeface="Calibri" pitchFamily="34" charset="-120"/>
              </a:rPr>
              <a:t>Octo-Fleet serves anyone who relies on FDM 3D printers for work, research, or personal projects.</a:t>
            </a:r>
            <a:endParaRPr lang="en-US" dirty="0"/>
          </a:p>
        </p:txBody>
      </p:sp>
    </p:spTree>
    <p:extLst>
      <p:ext uri="{BB962C8B-B14F-4D97-AF65-F5344CB8AC3E}">
        <p14:creationId xmlns:p14="http://schemas.microsoft.com/office/powerpoint/2010/main" val="3869403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B259E183-B2E4-9D7E-33C1-6E17D12339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00FD45-2E28-853D-1289-91CD4E6C9B88}"/>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57818C5C-26A1-DEE8-7848-772520C71658}"/>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75BB2820-4705-F0D4-871F-6FC5A542EEC7}"/>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5678E507-1755-8EBD-CDE4-F157A1952DB9}"/>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8B387BE9-601B-74D0-644C-58E432EE6823}"/>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E13BB4EE-F321-FB89-B208-BC43691BEB53}"/>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F2311FAA-4106-4B8A-9F01-2DED04D2D824}"/>
              </a:ext>
            </a:extLst>
          </p:cNvPr>
          <p:cNvSpPr/>
          <p:nvPr/>
        </p:nvSpPr>
        <p:spPr>
          <a:xfrm>
            <a:off x="-914400" y="914400"/>
            <a:ext cx="7315200" cy="7315200"/>
          </a:xfrm>
          <a:prstGeom prst="ellipse">
            <a:avLst/>
          </a:prstGeom>
          <a:solidFill>
            <a:srgbClr val="00C896">
              <a:alpha val="6000"/>
            </a:srgbClr>
          </a:solidFill>
          <a:ln/>
        </p:spPr>
      </p:sp>
      <p:sp>
        <p:nvSpPr>
          <p:cNvPr id="9" name="Text 7">
            <a:extLst>
              <a:ext uri="{FF2B5EF4-FFF2-40B4-BE49-F238E27FC236}">
                <a16:creationId xmlns:a16="http://schemas.microsoft.com/office/drawing/2014/main" id="{77CD4213-DB0B-58E6-9D7F-E053CB189527}"/>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07 — Project Growth</a:t>
            </a:r>
          </a:p>
        </p:txBody>
      </p:sp>
      <p:sp>
        <p:nvSpPr>
          <p:cNvPr id="10" name="Text 8">
            <a:extLst>
              <a:ext uri="{FF2B5EF4-FFF2-40B4-BE49-F238E27FC236}">
                <a16:creationId xmlns:a16="http://schemas.microsoft.com/office/drawing/2014/main" id="{536C04CC-4E2F-40D6-D196-CD21B8E8686E}"/>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Project Growth</a:t>
            </a:r>
          </a:p>
        </p:txBody>
      </p:sp>
      <p:sp>
        <p:nvSpPr>
          <p:cNvPr id="11" name="Shape 9">
            <a:extLst>
              <a:ext uri="{FF2B5EF4-FFF2-40B4-BE49-F238E27FC236}">
                <a16:creationId xmlns:a16="http://schemas.microsoft.com/office/drawing/2014/main" id="{048D2793-EE70-DA1E-3DA4-BAF1BB7ADB2A}"/>
              </a:ext>
            </a:extLst>
          </p:cNvPr>
          <p:cNvSpPr/>
          <p:nvPr/>
        </p:nvSpPr>
        <p:spPr>
          <a:xfrm>
            <a:off x="457200" y="2286000"/>
            <a:ext cx="8229600" cy="0"/>
          </a:xfrm>
          <a:prstGeom prst="line">
            <a:avLst/>
          </a:prstGeom>
          <a:noFill/>
          <a:ln w="25400">
            <a:solidFill>
              <a:srgbClr val="00C896"/>
            </a:solidFill>
            <a:prstDash val="solid"/>
          </a:ln>
        </p:spPr>
      </p:sp>
      <p:sp>
        <p:nvSpPr>
          <p:cNvPr id="12" name="Shape 10">
            <a:extLst>
              <a:ext uri="{FF2B5EF4-FFF2-40B4-BE49-F238E27FC236}">
                <a16:creationId xmlns:a16="http://schemas.microsoft.com/office/drawing/2014/main" id="{0FA2C047-8E92-9D2C-606F-7BBFB805F289}"/>
              </a:ext>
            </a:extLst>
          </p:cNvPr>
          <p:cNvSpPr/>
          <p:nvPr/>
        </p:nvSpPr>
        <p:spPr>
          <a:xfrm>
            <a:off x="1143000" y="2176272"/>
            <a:ext cx="219456" cy="219456"/>
          </a:xfrm>
          <a:prstGeom prst="ellipse">
            <a:avLst/>
          </a:prstGeom>
          <a:solidFill>
            <a:srgbClr val="00C896"/>
          </a:solidFill>
          <a:ln/>
        </p:spPr>
      </p:sp>
      <p:sp>
        <p:nvSpPr>
          <p:cNvPr id="13" name="Text 11">
            <a:extLst>
              <a:ext uri="{FF2B5EF4-FFF2-40B4-BE49-F238E27FC236}">
                <a16:creationId xmlns:a16="http://schemas.microsoft.com/office/drawing/2014/main" id="{FAADC038-95DF-0EA0-6315-0F254CE5DCA5}"/>
              </a:ext>
            </a:extLst>
          </p:cNvPr>
          <p:cNvSpPr/>
          <p:nvPr/>
        </p:nvSpPr>
        <p:spPr>
          <a:xfrm>
            <a:off x="365760" y="1005840"/>
            <a:ext cx="1920240" cy="274320"/>
          </a:xfrm>
          <a:prstGeom prst="rect">
            <a:avLst/>
          </a:prstGeom>
          <a:noFill/>
          <a:ln/>
        </p:spPr>
        <p:txBody>
          <a:bodyPr wrap="square" lIns="0" tIns="0" rIns="0" bIns="0" rtlCol="0" anchor="ctr"/>
          <a:lstStyle/>
          <a:p>
            <a:pPr marL="0" indent="0" algn="ctr">
              <a:buNone/>
            </a:pPr>
            <a:r>
              <a:rPr lang="en-US" sz="1000" b="1" dirty="0">
                <a:solidFill>
                  <a:srgbClr val="00C896"/>
                </a:solidFill>
                <a:latin typeface="Calibri" pitchFamily="34" charset="0"/>
                <a:ea typeface="Calibri" pitchFamily="34" charset="-122"/>
                <a:cs typeface="Calibri" pitchFamily="34" charset="-120"/>
              </a:rPr>
              <a:t>Now</a:t>
            </a:r>
            <a:endParaRPr lang="en-US" sz="1000" dirty="0"/>
          </a:p>
        </p:txBody>
      </p:sp>
      <p:sp>
        <p:nvSpPr>
          <p:cNvPr id="14" name="Text 12">
            <a:extLst>
              <a:ext uri="{FF2B5EF4-FFF2-40B4-BE49-F238E27FC236}">
                <a16:creationId xmlns:a16="http://schemas.microsoft.com/office/drawing/2014/main" id="{B6C39448-A415-174D-FF3A-756BDAF14510}"/>
              </a:ext>
            </a:extLst>
          </p:cNvPr>
          <p:cNvSpPr/>
          <p:nvPr/>
        </p:nvSpPr>
        <p:spPr>
          <a:xfrm>
            <a:off x="365760" y="1261872"/>
            <a:ext cx="19202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Prototype</a:t>
            </a:r>
            <a:endParaRPr lang="en-US" sz="1100" dirty="0"/>
          </a:p>
        </p:txBody>
      </p:sp>
      <p:sp>
        <p:nvSpPr>
          <p:cNvPr id="15" name="Shape 13">
            <a:extLst>
              <a:ext uri="{FF2B5EF4-FFF2-40B4-BE49-F238E27FC236}">
                <a16:creationId xmlns:a16="http://schemas.microsoft.com/office/drawing/2014/main" id="{1FDE8745-9802-75D5-5E91-901022551576}"/>
              </a:ext>
            </a:extLst>
          </p:cNvPr>
          <p:cNvSpPr/>
          <p:nvPr/>
        </p:nvSpPr>
        <p:spPr>
          <a:xfrm>
            <a:off x="365760" y="2542032"/>
            <a:ext cx="1920240" cy="2286000"/>
          </a:xfrm>
          <a:prstGeom prst="roundRect">
            <a:avLst>
              <a:gd name="adj" fmla="val 4762"/>
            </a:avLst>
          </a:prstGeom>
          <a:solidFill>
            <a:srgbClr val="131E35"/>
          </a:solidFill>
          <a:ln w="6350">
            <a:solidFill>
              <a:srgbClr val="1E2D4A"/>
            </a:solidFill>
            <a:prstDash val="solid"/>
          </a:ln>
        </p:spPr>
      </p:sp>
      <p:sp>
        <p:nvSpPr>
          <p:cNvPr id="16" name="Shape 14">
            <a:extLst>
              <a:ext uri="{FF2B5EF4-FFF2-40B4-BE49-F238E27FC236}">
                <a16:creationId xmlns:a16="http://schemas.microsoft.com/office/drawing/2014/main" id="{7DF68AE4-B7C1-3F25-5166-F0A2A0D8DF7D}"/>
              </a:ext>
            </a:extLst>
          </p:cNvPr>
          <p:cNvSpPr/>
          <p:nvPr/>
        </p:nvSpPr>
        <p:spPr>
          <a:xfrm>
            <a:off x="502920" y="2670048"/>
            <a:ext cx="82296" cy="82296"/>
          </a:xfrm>
          <a:prstGeom prst="ellipse">
            <a:avLst/>
          </a:prstGeom>
          <a:solidFill>
            <a:srgbClr val="00C896"/>
          </a:solidFill>
          <a:ln/>
        </p:spPr>
      </p:sp>
      <p:sp>
        <p:nvSpPr>
          <p:cNvPr id="17" name="Text 15">
            <a:extLst>
              <a:ext uri="{FF2B5EF4-FFF2-40B4-BE49-F238E27FC236}">
                <a16:creationId xmlns:a16="http://schemas.microsoft.com/office/drawing/2014/main" id="{7796CA0A-ECAC-DB48-93B8-119F024A1BF4}"/>
              </a:ext>
            </a:extLst>
          </p:cNvPr>
          <p:cNvSpPr/>
          <p:nvPr/>
        </p:nvSpPr>
        <p:spPr>
          <a:xfrm>
            <a:off x="640080" y="2633472"/>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Single BCN3D+ printer</a:t>
            </a:r>
            <a:endParaRPr lang="en-US" sz="950" dirty="0"/>
          </a:p>
        </p:txBody>
      </p:sp>
      <p:sp>
        <p:nvSpPr>
          <p:cNvPr id="18" name="Shape 16">
            <a:extLst>
              <a:ext uri="{FF2B5EF4-FFF2-40B4-BE49-F238E27FC236}">
                <a16:creationId xmlns:a16="http://schemas.microsoft.com/office/drawing/2014/main" id="{2C42484E-A10E-B94A-BB69-AEBC7262EBCA}"/>
              </a:ext>
            </a:extLst>
          </p:cNvPr>
          <p:cNvSpPr/>
          <p:nvPr/>
        </p:nvSpPr>
        <p:spPr>
          <a:xfrm>
            <a:off x="502920" y="3182112"/>
            <a:ext cx="82296" cy="82296"/>
          </a:xfrm>
          <a:prstGeom prst="ellipse">
            <a:avLst/>
          </a:prstGeom>
          <a:solidFill>
            <a:srgbClr val="00C896"/>
          </a:solidFill>
          <a:ln/>
        </p:spPr>
      </p:sp>
      <p:sp>
        <p:nvSpPr>
          <p:cNvPr id="19" name="Text 17">
            <a:extLst>
              <a:ext uri="{FF2B5EF4-FFF2-40B4-BE49-F238E27FC236}">
                <a16:creationId xmlns:a16="http://schemas.microsoft.com/office/drawing/2014/main" id="{05F97B29-7EAA-F235-2767-F47F5DCDD202}"/>
              </a:ext>
            </a:extLst>
          </p:cNvPr>
          <p:cNvSpPr/>
          <p:nvPr/>
        </p:nvSpPr>
        <p:spPr>
          <a:xfrm>
            <a:off x="640080" y="3145536"/>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Ready from the start</a:t>
            </a:r>
            <a:endParaRPr lang="en-US" sz="950" dirty="0"/>
          </a:p>
        </p:txBody>
      </p:sp>
      <p:sp>
        <p:nvSpPr>
          <p:cNvPr id="20" name="Shape 18">
            <a:extLst>
              <a:ext uri="{FF2B5EF4-FFF2-40B4-BE49-F238E27FC236}">
                <a16:creationId xmlns:a16="http://schemas.microsoft.com/office/drawing/2014/main" id="{742F9E3B-F232-67AF-598A-DAD6307095C2}"/>
              </a:ext>
            </a:extLst>
          </p:cNvPr>
          <p:cNvSpPr/>
          <p:nvPr/>
        </p:nvSpPr>
        <p:spPr>
          <a:xfrm>
            <a:off x="502920" y="3694176"/>
            <a:ext cx="82296" cy="82296"/>
          </a:xfrm>
          <a:prstGeom prst="ellipse">
            <a:avLst/>
          </a:prstGeom>
          <a:solidFill>
            <a:srgbClr val="00C896"/>
          </a:solidFill>
          <a:ln/>
        </p:spPr>
      </p:sp>
      <p:sp>
        <p:nvSpPr>
          <p:cNvPr id="21" name="Text 19">
            <a:extLst>
              <a:ext uri="{FF2B5EF4-FFF2-40B4-BE49-F238E27FC236}">
                <a16:creationId xmlns:a16="http://schemas.microsoft.com/office/drawing/2014/main" id="{258AFF46-BF8E-31BE-719B-0578F9580CDB}"/>
              </a:ext>
            </a:extLst>
          </p:cNvPr>
          <p:cNvSpPr/>
          <p:nvPr/>
        </p:nvSpPr>
        <p:spPr>
          <a:xfrm>
            <a:off x="640080" y="3657600"/>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Web dashboard deployed</a:t>
            </a:r>
            <a:endParaRPr lang="en-US" sz="950" dirty="0"/>
          </a:p>
        </p:txBody>
      </p:sp>
      <p:sp>
        <p:nvSpPr>
          <p:cNvPr id="22" name="Shape 20">
            <a:extLst>
              <a:ext uri="{FF2B5EF4-FFF2-40B4-BE49-F238E27FC236}">
                <a16:creationId xmlns:a16="http://schemas.microsoft.com/office/drawing/2014/main" id="{E009AC91-3B8B-E3D2-BD63-5C28FAB0BD71}"/>
              </a:ext>
            </a:extLst>
          </p:cNvPr>
          <p:cNvSpPr/>
          <p:nvPr/>
        </p:nvSpPr>
        <p:spPr>
          <a:xfrm>
            <a:off x="502920" y="4206240"/>
            <a:ext cx="82296" cy="82296"/>
          </a:xfrm>
          <a:prstGeom prst="ellipse">
            <a:avLst/>
          </a:prstGeom>
          <a:solidFill>
            <a:srgbClr val="00C896"/>
          </a:solidFill>
          <a:ln/>
        </p:spPr>
      </p:sp>
      <p:sp>
        <p:nvSpPr>
          <p:cNvPr id="23" name="Text 21">
            <a:extLst>
              <a:ext uri="{FF2B5EF4-FFF2-40B4-BE49-F238E27FC236}">
                <a16:creationId xmlns:a16="http://schemas.microsoft.com/office/drawing/2014/main" id="{3B3A39D4-CB5B-7D57-296D-A5B420B23030}"/>
              </a:ext>
            </a:extLst>
          </p:cNvPr>
          <p:cNvSpPr/>
          <p:nvPr/>
        </p:nvSpPr>
        <p:spPr>
          <a:xfrm>
            <a:off x="640080" y="4169664"/>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Low-cost installation</a:t>
            </a:r>
            <a:endParaRPr lang="en-US" sz="950" dirty="0"/>
          </a:p>
        </p:txBody>
      </p:sp>
      <p:sp>
        <p:nvSpPr>
          <p:cNvPr id="24" name="Shape 22">
            <a:extLst>
              <a:ext uri="{FF2B5EF4-FFF2-40B4-BE49-F238E27FC236}">
                <a16:creationId xmlns:a16="http://schemas.microsoft.com/office/drawing/2014/main" id="{19810BFD-7AC5-18A6-9563-A6A43E3A19BA}"/>
              </a:ext>
            </a:extLst>
          </p:cNvPr>
          <p:cNvSpPr/>
          <p:nvPr/>
        </p:nvSpPr>
        <p:spPr>
          <a:xfrm>
            <a:off x="3291840" y="2176272"/>
            <a:ext cx="219456" cy="219456"/>
          </a:xfrm>
          <a:prstGeom prst="ellipse">
            <a:avLst/>
          </a:prstGeom>
          <a:solidFill>
            <a:srgbClr val="00C896"/>
          </a:solidFill>
          <a:ln/>
        </p:spPr>
      </p:sp>
      <p:sp>
        <p:nvSpPr>
          <p:cNvPr id="25" name="Text 23">
            <a:extLst>
              <a:ext uri="{FF2B5EF4-FFF2-40B4-BE49-F238E27FC236}">
                <a16:creationId xmlns:a16="http://schemas.microsoft.com/office/drawing/2014/main" id="{987B9968-369D-2BF6-1E04-11B226346A17}"/>
              </a:ext>
            </a:extLst>
          </p:cNvPr>
          <p:cNvSpPr/>
          <p:nvPr/>
        </p:nvSpPr>
        <p:spPr>
          <a:xfrm>
            <a:off x="2514600" y="1005840"/>
            <a:ext cx="1920240" cy="274320"/>
          </a:xfrm>
          <a:prstGeom prst="rect">
            <a:avLst/>
          </a:prstGeom>
          <a:noFill/>
          <a:ln/>
        </p:spPr>
        <p:txBody>
          <a:bodyPr wrap="square" lIns="0" tIns="0" rIns="0" bIns="0" rtlCol="0" anchor="ctr"/>
          <a:lstStyle/>
          <a:p>
            <a:pPr marL="0" indent="0" algn="ctr">
              <a:buNone/>
            </a:pPr>
            <a:r>
              <a:rPr lang="en-US" sz="1000" b="1" dirty="0">
                <a:solidFill>
                  <a:srgbClr val="00C896"/>
                </a:solidFill>
                <a:latin typeface="Calibri" pitchFamily="34" charset="0"/>
                <a:ea typeface="Calibri" pitchFamily="34" charset="-122"/>
                <a:cs typeface="Calibri" pitchFamily="34" charset="-120"/>
              </a:rPr>
              <a:t>Phase 2</a:t>
            </a:r>
            <a:endParaRPr lang="en-US" sz="1000" dirty="0"/>
          </a:p>
        </p:txBody>
      </p:sp>
      <p:sp>
        <p:nvSpPr>
          <p:cNvPr id="26" name="Text 24">
            <a:extLst>
              <a:ext uri="{FF2B5EF4-FFF2-40B4-BE49-F238E27FC236}">
                <a16:creationId xmlns:a16="http://schemas.microsoft.com/office/drawing/2014/main" id="{9AB3DF9A-74DD-0B47-354B-9FE6BC5A2709}"/>
              </a:ext>
            </a:extLst>
          </p:cNvPr>
          <p:cNvSpPr/>
          <p:nvPr/>
        </p:nvSpPr>
        <p:spPr>
          <a:xfrm>
            <a:off x="2514600" y="1261872"/>
            <a:ext cx="19202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Multi-Printer Fleet</a:t>
            </a:r>
            <a:endParaRPr lang="en-US" sz="1100" dirty="0"/>
          </a:p>
        </p:txBody>
      </p:sp>
      <p:sp>
        <p:nvSpPr>
          <p:cNvPr id="27" name="Shape 25">
            <a:extLst>
              <a:ext uri="{FF2B5EF4-FFF2-40B4-BE49-F238E27FC236}">
                <a16:creationId xmlns:a16="http://schemas.microsoft.com/office/drawing/2014/main" id="{97C3A935-517B-0B96-04AF-3F093C4932FF}"/>
              </a:ext>
            </a:extLst>
          </p:cNvPr>
          <p:cNvSpPr/>
          <p:nvPr/>
        </p:nvSpPr>
        <p:spPr>
          <a:xfrm>
            <a:off x="2514600" y="2542032"/>
            <a:ext cx="1920240" cy="2286000"/>
          </a:xfrm>
          <a:prstGeom prst="roundRect">
            <a:avLst>
              <a:gd name="adj" fmla="val 4762"/>
            </a:avLst>
          </a:prstGeom>
          <a:solidFill>
            <a:srgbClr val="131E35"/>
          </a:solidFill>
          <a:ln w="6350">
            <a:solidFill>
              <a:srgbClr val="1E2D4A"/>
            </a:solidFill>
            <a:prstDash val="solid"/>
          </a:ln>
        </p:spPr>
      </p:sp>
      <p:sp>
        <p:nvSpPr>
          <p:cNvPr id="28" name="Shape 26">
            <a:extLst>
              <a:ext uri="{FF2B5EF4-FFF2-40B4-BE49-F238E27FC236}">
                <a16:creationId xmlns:a16="http://schemas.microsoft.com/office/drawing/2014/main" id="{6966C794-34DB-9520-5473-6BFD8FB634D8}"/>
              </a:ext>
            </a:extLst>
          </p:cNvPr>
          <p:cNvSpPr/>
          <p:nvPr/>
        </p:nvSpPr>
        <p:spPr>
          <a:xfrm>
            <a:off x="2651760" y="2670048"/>
            <a:ext cx="82296" cy="82296"/>
          </a:xfrm>
          <a:prstGeom prst="ellipse">
            <a:avLst/>
          </a:prstGeom>
          <a:solidFill>
            <a:srgbClr val="00C896"/>
          </a:solidFill>
          <a:ln/>
        </p:spPr>
      </p:sp>
      <p:sp>
        <p:nvSpPr>
          <p:cNvPr id="29" name="Text 27">
            <a:extLst>
              <a:ext uri="{FF2B5EF4-FFF2-40B4-BE49-F238E27FC236}">
                <a16:creationId xmlns:a16="http://schemas.microsoft.com/office/drawing/2014/main" id="{14F3F43C-D452-4CFD-61EE-9E144BDA66D8}"/>
              </a:ext>
            </a:extLst>
          </p:cNvPr>
          <p:cNvSpPr/>
          <p:nvPr/>
        </p:nvSpPr>
        <p:spPr>
          <a:xfrm>
            <a:off x="2788920" y="2633472"/>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Support stack of printers</a:t>
            </a:r>
            <a:endParaRPr lang="en-US" sz="950" dirty="0"/>
          </a:p>
        </p:txBody>
      </p:sp>
      <p:sp>
        <p:nvSpPr>
          <p:cNvPr id="30" name="Shape 28">
            <a:extLst>
              <a:ext uri="{FF2B5EF4-FFF2-40B4-BE49-F238E27FC236}">
                <a16:creationId xmlns:a16="http://schemas.microsoft.com/office/drawing/2014/main" id="{C4AB12D5-B29D-80A0-3D9A-C870960E7032}"/>
              </a:ext>
            </a:extLst>
          </p:cNvPr>
          <p:cNvSpPr/>
          <p:nvPr/>
        </p:nvSpPr>
        <p:spPr>
          <a:xfrm>
            <a:off x="2651760" y="3182112"/>
            <a:ext cx="82296" cy="82296"/>
          </a:xfrm>
          <a:prstGeom prst="ellipse">
            <a:avLst/>
          </a:prstGeom>
          <a:solidFill>
            <a:srgbClr val="00C896"/>
          </a:solidFill>
          <a:ln/>
        </p:spPr>
      </p:sp>
      <p:sp>
        <p:nvSpPr>
          <p:cNvPr id="31" name="Text 29">
            <a:extLst>
              <a:ext uri="{FF2B5EF4-FFF2-40B4-BE49-F238E27FC236}">
                <a16:creationId xmlns:a16="http://schemas.microsoft.com/office/drawing/2014/main" id="{940E13F1-2D27-2971-1E1C-1FE44A21966B}"/>
              </a:ext>
            </a:extLst>
          </p:cNvPr>
          <p:cNvSpPr/>
          <p:nvPr/>
        </p:nvSpPr>
        <p:spPr>
          <a:xfrm>
            <a:off x="2788920" y="3145536"/>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Fleet health overview</a:t>
            </a:r>
            <a:endParaRPr lang="en-US" sz="950" dirty="0"/>
          </a:p>
        </p:txBody>
      </p:sp>
      <p:sp>
        <p:nvSpPr>
          <p:cNvPr id="32" name="Shape 30">
            <a:extLst>
              <a:ext uri="{FF2B5EF4-FFF2-40B4-BE49-F238E27FC236}">
                <a16:creationId xmlns:a16="http://schemas.microsoft.com/office/drawing/2014/main" id="{F6E876CA-BAE2-2EA1-FB2E-8BE8614F8E74}"/>
              </a:ext>
            </a:extLst>
          </p:cNvPr>
          <p:cNvSpPr/>
          <p:nvPr/>
        </p:nvSpPr>
        <p:spPr>
          <a:xfrm>
            <a:off x="2651760" y="3694176"/>
            <a:ext cx="82296" cy="82296"/>
          </a:xfrm>
          <a:prstGeom prst="ellipse">
            <a:avLst/>
          </a:prstGeom>
          <a:solidFill>
            <a:srgbClr val="00C896"/>
          </a:solidFill>
          <a:ln/>
        </p:spPr>
      </p:sp>
      <p:sp>
        <p:nvSpPr>
          <p:cNvPr id="33" name="Text 31">
            <a:extLst>
              <a:ext uri="{FF2B5EF4-FFF2-40B4-BE49-F238E27FC236}">
                <a16:creationId xmlns:a16="http://schemas.microsoft.com/office/drawing/2014/main" id="{276E5AFD-DDF5-7D3A-6D20-14D7CB52B290}"/>
              </a:ext>
            </a:extLst>
          </p:cNvPr>
          <p:cNvSpPr/>
          <p:nvPr/>
        </p:nvSpPr>
        <p:spPr>
          <a:xfrm>
            <a:off x="2788920" y="3657600"/>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Amelioration predictive system</a:t>
            </a:r>
          </a:p>
        </p:txBody>
      </p:sp>
      <p:sp>
        <p:nvSpPr>
          <p:cNvPr id="34" name="Shape 32">
            <a:extLst>
              <a:ext uri="{FF2B5EF4-FFF2-40B4-BE49-F238E27FC236}">
                <a16:creationId xmlns:a16="http://schemas.microsoft.com/office/drawing/2014/main" id="{A83F44E7-350C-C2B7-B0E9-4F0D2039FB8E}"/>
              </a:ext>
            </a:extLst>
          </p:cNvPr>
          <p:cNvSpPr/>
          <p:nvPr/>
        </p:nvSpPr>
        <p:spPr>
          <a:xfrm>
            <a:off x="2651760" y="4206240"/>
            <a:ext cx="82296" cy="82296"/>
          </a:xfrm>
          <a:prstGeom prst="ellipse">
            <a:avLst/>
          </a:prstGeom>
          <a:solidFill>
            <a:srgbClr val="00C896"/>
          </a:solidFill>
          <a:ln/>
        </p:spPr>
      </p:sp>
      <p:sp>
        <p:nvSpPr>
          <p:cNvPr id="35" name="Text 33">
            <a:extLst>
              <a:ext uri="{FF2B5EF4-FFF2-40B4-BE49-F238E27FC236}">
                <a16:creationId xmlns:a16="http://schemas.microsoft.com/office/drawing/2014/main" id="{71068870-CCF2-C1E2-278E-F557D163B3C5}"/>
              </a:ext>
            </a:extLst>
          </p:cNvPr>
          <p:cNvSpPr/>
          <p:nvPr/>
        </p:nvSpPr>
        <p:spPr>
          <a:xfrm>
            <a:off x="2788920" y="4169664"/>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Vision-based monitoring</a:t>
            </a:r>
            <a:endParaRPr lang="en-US" sz="950" dirty="0"/>
          </a:p>
        </p:txBody>
      </p:sp>
      <p:sp>
        <p:nvSpPr>
          <p:cNvPr id="36" name="Shape 34">
            <a:extLst>
              <a:ext uri="{FF2B5EF4-FFF2-40B4-BE49-F238E27FC236}">
                <a16:creationId xmlns:a16="http://schemas.microsoft.com/office/drawing/2014/main" id="{6EDC33ED-F6A0-E7D9-66DD-DD286D2B4C7E}"/>
              </a:ext>
            </a:extLst>
          </p:cNvPr>
          <p:cNvSpPr/>
          <p:nvPr/>
        </p:nvSpPr>
        <p:spPr>
          <a:xfrm>
            <a:off x="5440680" y="2176272"/>
            <a:ext cx="219456" cy="219456"/>
          </a:xfrm>
          <a:prstGeom prst="ellipse">
            <a:avLst/>
          </a:prstGeom>
          <a:solidFill>
            <a:srgbClr val="00C896"/>
          </a:solidFill>
          <a:ln/>
        </p:spPr>
      </p:sp>
      <p:sp>
        <p:nvSpPr>
          <p:cNvPr id="37" name="Text 35">
            <a:extLst>
              <a:ext uri="{FF2B5EF4-FFF2-40B4-BE49-F238E27FC236}">
                <a16:creationId xmlns:a16="http://schemas.microsoft.com/office/drawing/2014/main" id="{860438E0-7761-4986-9E88-A3131A2B0A33}"/>
              </a:ext>
            </a:extLst>
          </p:cNvPr>
          <p:cNvSpPr/>
          <p:nvPr/>
        </p:nvSpPr>
        <p:spPr>
          <a:xfrm>
            <a:off x="4663440" y="1005840"/>
            <a:ext cx="1920240" cy="274320"/>
          </a:xfrm>
          <a:prstGeom prst="rect">
            <a:avLst/>
          </a:prstGeom>
          <a:noFill/>
          <a:ln/>
        </p:spPr>
        <p:txBody>
          <a:bodyPr wrap="square" lIns="0" tIns="0" rIns="0" bIns="0" rtlCol="0" anchor="ctr"/>
          <a:lstStyle/>
          <a:p>
            <a:pPr marL="0" indent="0" algn="ctr">
              <a:buNone/>
            </a:pPr>
            <a:r>
              <a:rPr lang="en-US" sz="1000" b="1" dirty="0">
                <a:solidFill>
                  <a:srgbClr val="00C896"/>
                </a:solidFill>
                <a:latin typeface="Calibri" pitchFamily="34" charset="0"/>
                <a:ea typeface="Calibri" pitchFamily="34" charset="-122"/>
                <a:cs typeface="Calibri" pitchFamily="34" charset="-120"/>
              </a:rPr>
              <a:t>Phase 3</a:t>
            </a:r>
            <a:endParaRPr lang="en-US" sz="1000" dirty="0"/>
          </a:p>
        </p:txBody>
      </p:sp>
      <p:sp>
        <p:nvSpPr>
          <p:cNvPr id="38" name="Text 36">
            <a:extLst>
              <a:ext uri="{FF2B5EF4-FFF2-40B4-BE49-F238E27FC236}">
                <a16:creationId xmlns:a16="http://schemas.microsoft.com/office/drawing/2014/main" id="{3063E0C7-734B-338B-1428-8A48CB1923F1}"/>
              </a:ext>
            </a:extLst>
          </p:cNvPr>
          <p:cNvSpPr/>
          <p:nvPr/>
        </p:nvSpPr>
        <p:spPr>
          <a:xfrm>
            <a:off x="4663440" y="1261872"/>
            <a:ext cx="19202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Cloud &amp; Scale</a:t>
            </a:r>
            <a:endParaRPr lang="en-US" sz="1100" dirty="0"/>
          </a:p>
        </p:txBody>
      </p:sp>
      <p:sp>
        <p:nvSpPr>
          <p:cNvPr id="39" name="Shape 37">
            <a:extLst>
              <a:ext uri="{FF2B5EF4-FFF2-40B4-BE49-F238E27FC236}">
                <a16:creationId xmlns:a16="http://schemas.microsoft.com/office/drawing/2014/main" id="{0834852C-A4F2-CE72-0EDA-9EA44AD25247}"/>
              </a:ext>
            </a:extLst>
          </p:cNvPr>
          <p:cNvSpPr/>
          <p:nvPr/>
        </p:nvSpPr>
        <p:spPr>
          <a:xfrm>
            <a:off x="4663440" y="2542032"/>
            <a:ext cx="1920240" cy="2286000"/>
          </a:xfrm>
          <a:prstGeom prst="roundRect">
            <a:avLst>
              <a:gd name="adj" fmla="val 4762"/>
            </a:avLst>
          </a:prstGeom>
          <a:solidFill>
            <a:srgbClr val="131E35"/>
          </a:solidFill>
          <a:ln w="6350">
            <a:solidFill>
              <a:srgbClr val="1E2D4A"/>
            </a:solidFill>
            <a:prstDash val="solid"/>
          </a:ln>
        </p:spPr>
      </p:sp>
      <p:sp>
        <p:nvSpPr>
          <p:cNvPr id="40" name="Shape 38">
            <a:extLst>
              <a:ext uri="{FF2B5EF4-FFF2-40B4-BE49-F238E27FC236}">
                <a16:creationId xmlns:a16="http://schemas.microsoft.com/office/drawing/2014/main" id="{ED9C6462-4128-F7E9-27D8-04DF9DD0306D}"/>
              </a:ext>
            </a:extLst>
          </p:cNvPr>
          <p:cNvSpPr/>
          <p:nvPr/>
        </p:nvSpPr>
        <p:spPr>
          <a:xfrm>
            <a:off x="4800600" y="2670048"/>
            <a:ext cx="82296" cy="82296"/>
          </a:xfrm>
          <a:prstGeom prst="ellipse">
            <a:avLst/>
          </a:prstGeom>
          <a:solidFill>
            <a:srgbClr val="00C896"/>
          </a:solidFill>
          <a:ln/>
        </p:spPr>
      </p:sp>
      <p:sp>
        <p:nvSpPr>
          <p:cNvPr id="41" name="Text 39">
            <a:extLst>
              <a:ext uri="{FF2B5EF4-FFF2-40B4-BE49-F238E27FC236}">
                <a16:creationId xmlns:a16="http://schemas.microsoft.com/office/drawing/2014/main" id="{B93199B2-DE4B-D0E4-2D93-BC2C7E2F3ACA}"/>
              </a:ext>
            </a:extLst>
          </p:cNvPr>
          <p:cNvSpPr/>
          <p:nvPr/>
        </p:nvSpPr>
        <p:spPr>
          <a:xfrm>
            <a:off x="4937760" y="2633472"/>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Cloud-sync dashboard</a:t>
            </a:r>
            <a:endParaRPr lang="en-US" sz="950" dirty="0"/>
          </a:p>
        </p:txBody>
      </p:sp>
      <p:sp>
        <p:nvSpPr>
          <p:cNvPr id="42" name="Shape 40">
            <a:extLst>
              <a:ext uri="{FF2B5EF4-FFF2-40B4-BE49-F238E27FC236}">
                <a16:creationId xmlns:a16="http://schemas.microsoft.com/office/drawing/2014/main" id="{FFC83EB1-75E4-61E2-ED21-3683BD4B97F6}"/>
              </a:ext>
            </a:extLst>
          </p:cNvPr>
          <p:cNvSpPr/>
          <p:nvPr/>
        </p:nvSpPr>
        <p:spPr>
          <a:xfrm>
            <a:off x="4800600" y="3182112"/>
            <a:ext cx="82296" cy="82296"/>
          </a:xfrm>
          <a:prstGeom prst="ellipse">
            <a:avLst/>
          </a:prstGeom>
          <a:solidFill>
            <a:srgbClr val="00C896"/>
          </a:solidFill>
          <a:ln/>
        </p:spPr>
      </p:sp>
      <p:sp>
        <p:nvSpPr>
          <p:cNvPr id="43" name="Text 41">
            <a:extLst>
              <a:ext uri="{FF2B5EF4-FFF2-40B4-BE49-F238E27FC236}">
                <a16:creationId xmlns:a16="http://schemas.microsoft.com/office/drawing/2014/main" id="{FA13A23D-8C15-7FFA-85ED-20DEAF3D026C}"/>
              </a:ext>
            </a:extLst>
          </p:cNvPr>
          <p:cNvSpPr/>
          <p:nvPr/>
        </p:nvSpPr>
        <p:spPr>
          <a:xfrm>
            <a:off x="4937760" y="3145536"/>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Closed-loop auto-correction</a:t>
            </a:r>
            <a:endParaRPr lang="en-US" sz="950" dirty="0"/>
          </a:p>
        </p:txBody>
      </p:sp>
      <p:sp>
        <p:nvSpPr>
          <p:cNvPr id="44" name="Shape 42">
            <a:extLst>
              <a:ext uri="{FF2B5EF4-FFF2-40B4-BE49-F238E27FC236}">
                <a16:creationId xmlns:a16="http://schemas.microsoft.com/office/drawing/2014/main" id="{6E1A3CFD-32CC-FFA1-CDF5-E981C12AA581}"/>
              </a:ext>
            </a:extLst>
          </p:cNvPr>
          <p:cNvSpPr/>
          <p:nvPr/>
        </p:nvSpPr>
        <p:spPr>
          <a:xfrm>
            <a:off x="4800600" y="3694176"/>
            <a:ext cx="82296" cy="82296"/>
          </a:xfrm>
          <a:prstGeom prst="ellipse">
            <a:avLst/>
          </a:prstGeom>
          <a:solidFill>
            <a:srgbClr val="00C896"/>
          </a:solidFill>
          <a:ln/>
        </p:spPr>
      </p:sp>
      <p:sp>
        <p:nvSpPr>
          <p:cNvPr id="45" name="Text 43">
            <a:extLst>
              <a:ext uri="{FF2B5EF4-FFF2-40B4-BE49-F238E27FC236}">
                <a16:creationId xmlns:a16="http://schemas.microsoft.com/office/drawing/2014/main" id="{18A9A464-871A-10B8-E67D-6E86054C0A7C}"/>
              </a:ext>
            </a:extLst>
          </p:cNvPr>
          <p:cNvSpPr/>
          <p:nvPr/>
        </p:nvSpPr>
        <p:spPr>
          <a:xfrm>
            <a:off x="4937760" y="3657600"/>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Auto-adjust</a:t>
            </a:r>
            <a:endParaRPr lang="en-US" sz="950" dirty="0"/>
          </a:p>
        </p:txBody>
      </p:sp>
      <p:sp>
        <p:nvSpPr>
          <p:cNvPr id="46" name="Shape 44">
            <a:extLst>
              <a:ext uri="{FF2B5EF4-FFF2-40B4-BE49-F238E27FC236}">
                <a16:creationId xmlns:a16="http://schemas.microsoft.com/office/drawing/2014/main" id="{0783AF52-CD74-E134-D035-728C1E85FD0B}"/>
              </a:ext>
            </a:extLst>
          </p:cNvPr>
          <p:cNvSpPr/>
          <p:nvPr/>
        </p:nvSpPr>
        <p:spPr>
          <a:xfrm>
            <a:off x="4800600" y="4206240"/>
            <a:ext cx="82296" cy="82296"/>
          </a:xfrm>
          <a:prstGeom prst="ellipse">
            <a:avLst/>
          </a:prstGeom>
          <a:solidFill>
            <a:srgbClr val="00C896"/>
          </a:solidFill>
          <a:ln/>
        </p:spPr>
      </p:sp>
      <p:sp>
        <p:nvSpPr>
          <p:cNvPr id="47" name="Text 45">
            <a:extLst>
              <a:ext uri="{FF2B5EF4-FFF2-40B4-BE49-F238E27FC236}">
                <a16:creationId xmlns:a16="http://schemas.microsoft.com/office/drawing/2014/main" id="{24AAAA8D-B709-D031-E5B1-D430BD25B959}"/>
              </a:ext>
            </a:extLst>
          </p:cNvPr>
          <p:cNvSpPr/>
          <p:nvPr/>
        </p:nvSpPr>
        <p:spPr>
          <a:xfrm>
            <a:off x="4937760" y="4169664"/>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SaaS model for SMEs</a:t>
            </a:r>
            <a:endParaRPr lang="en-US" sz="950" dirty="0"/>
          </a:p>
        </p:txBody>
      </p:sp>
      <p:sp>
        <p:nvSpPr>
          <p:cNvPr id="48" name="Shape 46">
            <a:extLst>
              <a:ext uri="{FF2B5EF4-FFF2-40B4-BE49-F238E27FC236}">
                <a16:creationId xmlns:a16="http://schemas.microsoft.com/office/drawing/2014/main" id="{5DFCC97F-DDB9-8DA1-F321-D4006DA5B11D}"/>
              </a:ext>
            </a:extLst>
          </p:cNvPr>
          <p:cNvSpPr/>
          <p:nvPr/>
        </p:nvSpPr>
        <p:spPr>
          <a:xfrm>
            <a:off x="7589520" y="2176272"/>
            <a:ext cx="219456" cy="219456"/>
          </a:xfrm>
          <a:prstGeom prst="ellipse">
            <a:avLst/>
          </a:prstGeom>
          <a:solidFill>
            <a:srgbClr val="00C896"/>
          </a:solidFill>
          <a:ln/>
        </p:spPr>
      </p:sp>
      <p:sp>
        <p:nvSpPr>
          <p:cNvPr id="49" name="Text 47">
            <a:extLst>
              <a:ext uri="{FF2B5EF4-FFF2-40B4-BE49-F238E27FC236}">
                <a16:creationId xmlns:a16="http://schemas.microsoft.com/office/drawing/2014/main" id="{A59BBB14-69FA-FBA9-C179-F2FBBDA493E1}"/>
              </a:ext>
            </a:extLst>
          </p:cNvPr>
          <p:cNvSpPr/>
          <p:nvPr/>
        </p:nvSpPr>
        <p:spPr>
          <a:xfrm>
            <a:off x="6812280" y="1005840"/>
            <a:ext cx="1920240" cy="274320"/>
          </a:xfrm>
          <a:prstGeom prst="rect">
            <a:avLst/>
          </a:prstGeom>
          <a:noFill/>
          <a:ln/>
        </p:spPr>
        <p:txBody>
          <a:bodyPr wrap="square" lIns="0" tIns="0" rIns="0" bIns="0" rtlCol="0" anchor="ctr"/>
          <a:lstStyle/>
          <a:p>
            <a:pPr marL="0" indent="0" algn="ctr">
              <a:buNone/>
            </a:pPr>
            <a:r>
              <a:rPr lang="en-US" sz="1000" b="1" dirty="0">
                <a:solidFill>
                  <a:srgbClr val="00C896"/>
                </a:solidFill>
                <a:latin typeface="Calibri" pitchFamily="34" charset="0"/>
                <a:ea typeface="Calibri" pitchFamily="34" charset="-122"/>
                <a:cs typeface="Calibri" pitchFamily="34" charset="-120"/>
              </a:rPr>
              <a:t>Vision</a:t>
            </a:r>
            <a:endParaRPr lang="en-US" sz="1000" dirty="0"/>
          </a:p>
        </p:txBody>
      </p:sp>
      <p:sp>
        <p:nvSpPr>
          <p:cNvPr id="50" name="Text 48">
            <a:extLst>
              <a:ext uri="{FF2B5EF4-FFF2-40B4-BE49-F238E27FC236}">
                <a16:creationId xmlns:a16="http://schemas.microsoft.com/office/drawing/2014/main" id="{FA6A3250-E703-CE60-4E2D-8FF92678B8D7}"/>
              </a:ext>
            </a:extLst>
          </p:cNvPr>
          <p:cNvSpPr/>
          <p:nvPr/>
        </p:nvSpPr>
        <p:spPr>
          <a:xfrm>
            <a:off x="6812280" y="1261872"/>
            <a:ext cx="19202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Industry 4.0 Platform</a:t>
            </a:r>
            <a:endParaRPr lang="en-US" sz="1100" dirty="0"/>
          </a:p>
        </p:txBody>
      </p:sp>
      <p:sp>
        <p:nvSpPr>
          <p:cNvPr id="51" name="Shape 49">
            <a:extLst>
              <a:ext uri="{FF2B5EF4-FFF2-40B4-BE49-F238E27FC236}">
                <a16:creationId xmlns:a16="http://schemas.microsoft.com/office/drawing/2014/main" id="{7999C878-24FD-6E1A-A837-A1B855758261}"/>
              </a:ext>
            </a:extLst>
          </p:cNvPr>
          <p:cNvSpPr/>
          <p:nvPr/>
        </p:nvSpPr>
        <p:spPr>
          <a:xfrm>
            <a:off x="6812280" y="2542032"/>
            <a:ext cx="1920240" cy="2286000"/>
          </a:xfrm>
          <a:prstGeom prst="roundRect">
            <a:avLst>
              <a:gd name="adj" fmla="val 4762"/>
            </a:avLst>
          </a:prstGeom>
          <a:solidFill>
            <a:srgbClr val="131E35"/>
          </a:solidFill>
          <a:ln w="6350">
            <a:solidFill>
              <a:srgbClr val="1E2D4A"/>
            </a:solidFill>
            <a:prstDash val="solid"/>
          </a:ln>
        </p:spPr>
      </p:sp>
      <p:sp>
        <p:nvSpPr>
          <p:cNvPr id="52" name="Shape 50">
            <a:extLst>
              <a:ext uri="{FF2B5EF4-FFF2-40B4-BE49-F238E27FC236}">
                <a16:creationId xmlns:a16="http://schemas.microsoft.com/office/drawing/2014/main" id="{B13D25FC-8B1C-2A9B-9290-52F75240F10D}"/>
              </a:ext>
            </a:extLst>
          </p:cNvPr>
          <p:cNvSpPr/>
          <p:nvPr/>
        </p:nvSpPr>
        <p:spPr>
          <a:xfrm>
            <a:off x="6949440" y="2670048"/>
            <a:ext cx="82296" cy="82296"/>
          </a:xfrm>
          <a:prstGeom prst="ellipse">
            <a:avLst/>
          </a:prstGeom>
          <a:solidFill>
            <a:srgbClr val="00C896"/>
          </a:solidFill>
          <a:ln/>
        </p:spPr>
      </p:sp>
      <p:sp>
        <p:nvSpPr>
          <p:cNvPr id="53" name="Text 51">
            <a:extLst>
              <a:ext uri="{FF2B5EF4-FFF2-40B4-BE49-F238E27FC236}">
                <a16:creationId xmlns:a16="http://schemas.microsoft.com/office/drawing/2014/main" id="{B7C04492-32F5-AE9B-C229-F0B96BD383FB}"/>
              </a:ext>
            </a:extLst>
          </p:cNvPr>
          <p:cNvSpPr/>
          <p:nvPr/>
        </p:nvSpPr>
        <p:spPr>
          <a:xfrm>
            <a:off x="7086600" y="2633472"/>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Compatibility with any FDM printer</a:t>
            </a:r>
            <a:endParaRPr lang="en-US" sz="950" dirty="0"/>
          </a:p>
        </p:txBody>
      </p:sp>
      <p:sp>
        <p:nvSpPr>
          <p:cNvPr id="54" name="Shape 52">
            <a:extLst>
              <a:ext uri="{FF2B5EF4-FFF2-40B4-BE49-F238E27FC236}">
                <a16:creationId xmlns:a16="http://schemas.microsoft.com/office/drawing/2014/main" id="{24E42950-2D23-075A-70C6-63E75C8268DB}"/>
              </a:ext>
            </a:extLst>
          </p:cNvPr>
          <p:cNvSpPr/>
          <p:nvPr/>
        </p:nvSpPr>
        <p:spPr>
          <a:xfrm>
            <a:off x="6949440" y="3182112"/>
            <a:ext cx="82296" cy="82296"/>
          </a:xfrm>
          <a:prstGeom prst="ellipse">
            <a:avLst/>
          </a:prstGeom>
          <a:solidFill>
            <a:srgbClr val="00C896"/>
          </a:solidFill>
          <a:ln/>
        </p:spPr>
      </p:sp>
      <p:sp>
        <p:nvSpPr>
          <p:cNvPr id="55" name="Text 53">
            <a:extLst>
              <a:ext uri="{FF2B5EF4-FFF2-40B4-BE49-F238E27FC236}">
                <a16:creationId xmlns:a16="http://schemas.microsoft.com/office/drawing/2014/main" id="{CF32FBA8-71EB-125A-2892-D9D30DA26277}"/>
              </a:ext>
            </a:extLst>
          </p:cNvPr>
          <p:cNvSpPr/>
          <p:nvPr/>
        </p:nvSpPr>
        <p:spPr>
          <a:xfrm>
            <a:off x="7086600" y="3145536"/>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Automated notifications</a:t>
            </a:r>
            <a:endParaRPr lang="en-US" sz="950" dirty="0"/>
          </a:p>
        </p:txBody>
      </p:sp>
      <p:sp>
        <p:nvSpPr>
          <p:cNvPr id="56" name="Shape 54">
            <a:extLst>
              <a:ext uri="{FF2B5EF4-FFF2-40B4-BE49-F238E27FC236}">
                <a16:creationId xmlns:a16="http://schemas.microsoft.com/office/drawing/2014/main" id="{DFE33B47-9096-5AC3-5715-6E6B499338FE}"/>
              </a:ext>
            </a:extLst>
          </p:cNvPr>
          <p:cNvSpPr/>
          <p:nvPr/>
        </p:nvSpPr>
        <p:spPr>
          <a:xfrm>
            <a:off x="6949440" y="3694176"/>
            <a:ext cx="82296" cy="82296"/>
          </a:xfrm>
          <a:prstGeom prst="ellipse">
            <a:avLst/>
          </a:prstGeom>
          <a:solidFill>
            <a:srgbClr val="00C896"/>
          </a:solidFill>
          <a:ln/>
        </p:spPr>
      </p:sp>
      <p:sp>
        <p:nvSpPr>
          <p:cNvPr id="57" name="Text 55">
            <a:extLst>
              <a:ext uri="{FF2B5EF4-FFF2-40B4-BE49-F238E27FC236}">
                <a16:creationId xmlns:a16="http://schemas.microsoft.com/office/drawing/2014/main" id="{D1C13F6A-0215-1645-34F5-E01ADC512D5F}"/>
              </a:ext>
            </a:extLst>
          </p:cNvPr>
          <p:cNvSpPr/>
          <p:nvPr/>
        </p:nvSpPr>
        <p:spPr>
          <a:xfrm>
            <a:off x="7086600" y="3657600"/>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Part health monitoring</a:t>
            </a:r>
            <a:endParaRPr lang="en-US" sz="950" dirty="0"/>
          </a:p>
        </p:txBody>
      </p:sp>
      <p:sp>
        <p:nvSpPr>
          <p:cNvPr id="58" name="Shape 56">
            <a:extLst>
              <a:ext uri="{FF2B5EF4-FFF2-40B4-BE49-F238E27FC236}">
                <a16:creationId xmlns:a16="http://schemas.microsoft.com/office/drawing/2014/main" id="{0231C79E-5FE4-4BAA-2760-CC1318759F1E}"/>
              </a:ext>
            </a:extLst>
          </p:cNvPr>
          <p:cNvSpPr/>
          <p:nvPr/>
        </p:nvSpPr>
        <p:spPr>
          <a:xfrm>
            <a:off x="6949440" y="4206240"/>
            <a:ext cx="82296" cy="82296"/>
          </a:xfrm>
          <a:prstGeom prst="ellipse">
            <a:avLst/>
          </a:prstGeom>
          <a:solidFill>
            <a:srgbClr val="00C896"/>
          </a:solidFill>
          <a:ln/>
        </p:spPr>
      </p:sp>
      <p:sp>
        <p:nvSpPr>
          <p:cNvPr id="59" name="Text 57">
            <a:extLst>
              <a:ext uri="{FF2B5EF4-FFF2-40B4-BE49-F238E27FC236}">
                <a16:creationId xmlns:a16="http://schemas.microsoft.com/office/drawing/2014/main" id="{18A2D604-87ED-A99D-D169-DDBA8AB46104}"/>
              </a:ext>
            </a:extLst>
          </p:cNvPr>
          <p:cNvSpPr/>
          <p:nvPr/>
        </p:nvSpPr>
        <p:spPr>
          <a:xfrm>
            <a:off x="7086600" y="4169664"/>
            <a:ext cx="1554480" cy="438912"/>
          </a:xfrm>
          <a:prstGeom prst="rect">
            <a:avLst/>
          </a:prstGeom>
          <a:noFill/>
          <a:ln/>
        </p:spPr>
        <p:txBody>
          <a:bodyPr wrap="square" lIns="0" tIns="0" rIns="0" bIns="0" rtlCol="0" anchor="ctr"/>
          <a:lstStyle/>
          <a:p>
            <a:pPr marL="0" indent="0" algn="l">
              <a:buNone/>
            </a:pPr>
            <a:r>
              <a:rPr lang="en-US" sz="950" dirty="0">
                <a:solidFill>
                  <a:srgbClr val="8B9CC8"/>
                </a:solidFill>
                <a:latin typeface="Calibri" pitchFamily="34" charset="0"/>
                <a:ea typeface="Calibri" pitchFamily="34" charset="-122"/>
                <a:cs typeface="Calibri" pitchFamily="34" charset="-120"/>
              </a:rPr>
              <a:t>Open-source community</a:t>
            </a:r>
            <a:endParaRPr lang="en-US" sz="950" dirty="0"/>
          </a:p>
        </p:txBody>
      </p:sp>
      <p:sp>
        <p:nvSpPr>
          <p:cNvPr id="60" name="Text 58">
            <a:extLst>
              <a:ext uri="{FF2B5EF4-FFF2-40B4-BE49-F238E27FC236}">
                <a16:creationId xmlns:a16="http://schemas.microsoft.com/office/drawing/2014/main" id="{B0B0B0A1-5B28-F800-F3A4-D2E79CC636D4}"/>
              </a:ext>
            </a:extLst>
          </p:cNvPr>
          <p:cNvSpPr/>
          <p:nvPr/>
        </p:nvSpPr>
        <p:spPr>
          <a:xfrm>
            <a:off x="457200" y="4846320"/>
            <a:ext cx="8229600" cy="228600"/>
          </a:xfrm>
          <a:prstGeom prst="rect">
            <a:avLst/>
          </a:prstGeom>
          <a:noFill/>
          <a:ln/>
        </p:spPr>
        <p:txBody>
          <a:bodyPr wrap="square" lIns="0" tIns="0" rIns="0" bIns="0" rtlCol="0" anchor="ctr"/>
          <a:lstStyle/>
          <a:p>
            <a:pPr marL="0" indent="0" algn="ctr">
              <a:buNone/>
            </a:pPr>
            <a:r>
              <a:rPr lang="en-US" sz="900" i="1" dirty="0">
                <a:solidFill>
                  <a:srgbClr val="FFD166"/>
                </a:solidFill>
                <a:latin typeface="Calibri" pitchFamily="34" charset="0"/>
                <a:ea typeface="Calibri" pitchFamily="34" charset="-122"/>
                <a:cs typeface="Calibri" pitchFamily="34" charset="-120"/>
              </a:rPr>
              <a:t>Long-term: expand to SLA, SLS, and other manufacturing equipment — the first Algerian IIoT monitoring platform</a:t>
            </a:r>
            <a:endParaRPr lang="en-US" sz="900" dirty="0"/>
          </a:p>
        </p:txBody>
      </p:sp>
    </p:spTree>
    <p:extLst>
      <p:ext uri="{BB962C8B-B14F-4D97-AF65-F5344CB8AC3E}">
        <p14:creationId xmlns:p14="http://schemas.microsoft.com/office/powerpoint/2010/main" val="2512436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16406781-E90D-D06C-587F-772E8B2A2D94}"/>
            </a:ext>
          </a:extLst>
        </p:cNvPr>
        <p:cNvGrpSpPr/>
        <p:nvPr/>
      </p:nvGrpSpPr>
      <p:grpSpPr>
        <a:xfrm>
          <a:off x="0" y="0"/>
          <a:ext cx="0" cy="0"/>
          <a:chOff x="0" y="0"/>
          <a:chExt cx="0" cy="0"/>
        </a:xfrm>
      </p:grpSpPr>
      <p:sp>
        <p:nvSpPr>
          <p:cNvPr id="21" name="Shape 10">
            <a:extLst>
              <a:ext uri="{FF2B5EF4-FFF2-40B4-BE49-F238E27FC236}">
                <a16:creationId xmlns:a16="http://schemas.microsoft.com/office/drawing/2014/main" id="{ECF80273-CAA2-8AEB-9712-78CB66477104}"/>
              </a:ext>
            </a:extLst>
          </p:cNvPr>
          <p:cNvSpPr/>
          <p:nvPr/>
        </p:nvSpPr>
        <p:spPr>
          <a:xfrm>
            <a:off x="6400800" y="1106423"/>
            <a:ext cx="2285998" cy="3493007"/>
          </a:xfrm>
          <a:prstGeom prst="roundRect">
            <a:avLst>
              <a:gd name="adj" fmla="val 3429"/>
            </a:avLst>
          </a:prstGeom>
          <a:solidFill>
            <a:srgbClr val="131E35"/>
          </a:solidFill>
          <a:ln w="12700">
            <a:solidFill>
              <a:srgbClr val="1E2D4A"/>
            </a:solidFill>
            <a:prstDash val="solid"/>
          </a:ln>
        </p:spPr>
        <p:txBody>
          <a:bodyPr/>
          <a:lstStyle/>
          <a:p>
            <a:endParaRPr lang="en-US" dirty="0"/>
          </a:p>
        </p:txBody>
      </p:sp>
      <p:sp>
        <p:nvSpPr>
          <p:cNvPr id="20" name="Shape 10">
            <a:extLst>
              <a:ext uri="{FF2B5EF4-FFF2-40B4-BE49-F238E27FC236}">
                <a16:creationId xmlns:a16="http://schemas.microsoft.com/office/drawing/2014/main" id="{BA033343-FC37-C635-C5C7-957A7E9AF98C}"/>
              </a:ext>
            </a:extLst>
          </p:cNvPr>
          <p:cNvSpPr/>
          <p:nvPr/>
        </p:nvSpPr>
        <p:spPr>
          <a:xfrm>
            <a:off x="3429001" y="1129793"/>
            <a:ext cx="2285998" cy="3493007"/>
          </a:xfrm>
          <a:prstGeom prst="roundRect">
            <a:avLst>
              <a:gd name="adj" fmla="val 3429"/>
            </a:avLst>
          </a:prstGeom>
          <a:solidFill>
            <a:srgbClr val="131E35"/>
          </a:solidFill>
          <a:ln w="12700">
            <a:solidFill>
              <a:srgbClr val="1E2D4A"/>
            </a:solidFill>
            <a:prstDash val="solid"/>
          </a:ln>
        </p:spPr>
        <p:txBody>
          <a:bodyPr/>
          <a:lstStyle/>
          <a:p>
            <a:endParaRPr lang="en-US" dirty="0"/>
          </a:p>
        </p:txBody>
      </p:sp>
      <p:sp>
        <p:nvSpPr>
          <p:cNvPr id="27" name="Shape 10">
            <a:extLst>
              <a:ext uri="{FF2B5EF4-FFF2-40B4-BE49-F238E27FC236}">
                <a16:creationId xmlns:a16="http://schemas.microsoft.com/office/drawing/2014/main" id="{5308BD55-C5F5-5555-4404-730E3C51F7A8}"/>
              </a:ext>
            </a:extLst>
          </p:cNvPr>
          <p:cNvSpPr/>
          <p:nvPr/>
        </p:nvSpPr>
        <p:spPr>
          <a:xfrm>
            <a:off x="457200" y="1106423"/>
            <a:ext cx="2285998" cy="3493007"/>
          </a:xfrm>
          <a:prstGeom prst="roundRect">
            <a:avLst>
              <a:gd name="adj" fmla="val 3429"/>
            </a:avLst>
          </a:prstGeom>
          <a:solidFill>
            <a:srgbClr val="131E35"/>
          </a:solidFill>
          <a:ln w="12700">
            <a:solidFill>
              <a:srgbClr val="1E2D4A"/>
            </a:solidFill>
            <a:prstDash val="solid"/>
          </a:ln>
        </p:spPr>
        <p:txBody>
          <a:bodyPr/>
          <a:lstStyle/>
          <a:p>
            <a:endParaRPr lang="en-US" dirty="0"/>
          </a:p>
        </p:txBody>
      </p:sp>
      <p:sp>
        <p:nvSpPr>
          <p:cNvPr id="2" name="Shape 0">
            <a:extLst>
              <a:ext uri="{FF2B5EF4-FFF2-40B4-BE49-F238E27FC236}">
                <a16:creationId xmlns:a16="http://schemas.microsoft.com/office/drawing/2014/main" id="{033CDDD2-0AE2-9087-A275-F677D4398F51}"/>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6E3A4DC8-D2B6-E8CF-3BB8-2F1966F0442D}"/>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8DB16AC4-42ED-93B2-2358-CF361236222C}"/>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B097E588-E5BF-458B-5486-F217D1EA714C}"/>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B714D82C-21BB-414F-BFC2-B7C5F1A63BCB}"/>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9359D926-3E25-06A2-0B08-8C1363BDF2CD}"/>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63DFD444-90C4-D21E-9099-CF3068845AF3}"/>
              </a:ext>
            </a:extLst>
          </p:cNvPr>
          <p:cNvSpPr/>
          <p:nvPr/>
        </p:nvSpPr>
        <p:spPr>
          <a:xfrm>
            <a:off x="731520" y="0"/>
            <a:ext cx="0" cy="5143500"/>
          </a:xfrm>
          <a:prstGeom prst="line">
            <a:avLst/>
          </a:prstGeom>
          <a:noFill/>
          <a:ln w="6350">
            <a:solidFill>
              <a:srgbClr val="1A2540"/>
            </a:solidFill>
            <a:prstDash val="solid"/>
          </a:ln>
        </p:spPr>
      </p:sp>
      <p:sp>
        <p:nvSpPr>
          <p:cNvPr id="9" name="Shape 7">
            <a:extLst>
              <a:ext uri="{FF2B5EF4-FFF2-40B4-BE49-F238E27FC236}">
                <a16:creationId xmlns:a16="http://schemas.microsoft.com/office/drawing/2014/main" id="{32F325EC-5857-73B8-A599-3E0EEDFAC779}"/>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87F414A9-7716-A907-C18A-259AA24314F8}"/>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91EA05A4-9591-2F43-D4A0-C43B10F6913E}"/>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6D162D8D-99BC-3208-56D5-9427567544F7}"/>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AEB0FC1D-C0A5-E456-60A3-21406393B7F6}"/>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3A5AD728-2E3C-5247-C46A-1BA45DD46B88}"/>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334389E1-82F2-8DBA-E49C-F41E215DA3B0}"/>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A1A4B345-7957-8F89-2E22-F1B7CE984164}"/>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9E669C88-E8BC-5C92-9A8F-CD22E195FF44}"/>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D7EB9125-99AD-7441-F050-9F18B6A6F44D}"/>
              </a:ext>
            </a:extLst>
          </p:cNvPr>
          <p:cNvSpPr/>
          <p:nvPr/>
        </p:nvSpPr>
        <p:spPr>
          <a:xfrm>
            <a:off x="3200400" y="-1828800"/>
            <a:ext cx="6400800" cy="6400800"/>
          </a:xfrm>
          <a:prstGeom prst="ellipse">
            <a:avLst/>
          </a:prstGeom>
          <a:solidFill>
            <a:srgbClr val="00C896">
              <a:alpha val="8000"/>
            </a:srgbClr>
          </a:solidFill>
          <a:ln/>
        </p:spPr>
      </p:sp>
      <p:sp>
        <p:nvSpPr>
          <p:cNvPr id="19" name="Shape 17">
            <a:extLst>
              <a:ext uri="{FF2B5EF4-FFF2-40B4-BE49-F238E27FC236}">
                <a16:creationId xmlns:a16="http://schemas.microsoft.com/office/drawing/2014/main" id="{C6B5D3E1-C44A-6553-0069-A9FCAD1A59A8}"/>
              </a:ext>
            </a:extLst>
          </p:cNvPr>
          <p:cNvSpPr/>
          <p:nvPr/>
        </p:nvSpPr>
        <p:spPr>
          <a:xfrm>
            <a:off x="5486400" y="2743200"/>
            <a:ext cx="5486400" cy="5486400"/>
          </a:xfrm>
          <a:prstGeom prst="ellipse">
            <a:avLst/>
          </a:prstGeom>
          <a:solidFill>
            <a:srgbClr val="0050FF">
              <a:alpha val="8000"/>
            </a:srgbClr>
          </a:solidFill>
          <a:ln/>
        </p:spPr>
      </p:sp>
      <p:sp>
        <p:nvSpPr>
          <p:cNvPr id="25" name="Text 7">
            <a:extLst>
              <a:ext uri="{FF2B5EF4-FFF2-40B4-BE49-F238E27FC236}">
                <a16:creationId xmlns:a16="http://schemas.microsoft.com/office/drawing/2014/main" id="{154A3CAD-CF1B-DFAC-0088-584E85721803}"/>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08 — Costs</a:t>
            </a:r>
            <a:endParaRPr lang="en-US" sz="900" dirty="0"/>
          </a:p>
        </p:txBody>
      </p:sp>
      <p:sp>
        <p:nvSpPr>
          <p:cNvPr id="26" name="Text 8">
            <a:extLst>
              <a:ext uri="{FF2B5EF4-FFF2-40B4-BE49-F238E27FC236}">
                <a16:creationId xmlns:a16="http://schemas.microsoft.com/office/drawing/2014/main" id="{1EA91893-AEBE-EA17-2D35-716362692F6C}"/>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Costs</a:t>
            </a:r>
            <a:endParaRPr lang="en-US" sz="2600" dirty="0"/>
          </a:p>
        </p:txBody>
      </p:sp>
      <p:graphicFrame>
        <p:nvGraphicFramePr>
          <p:cNvPr id="24" name="Tableau 23">
            <a:extLst>
              <a:ext uri="{FF2B5EF4-FFF2-40B4-BE49-F238E27FC236}">
                <a16:creationId xmlns:a16="http://schemas.microsoft.com/office/drawing/2014/main" id="{D3BD3357-8107-C5CB-9666-29D6C2DA919A}"/>
              </a:ext>
            </a:extLst>
          </p:cNvPr>
          <p:cNvGraphicFramePr>
            <a:graphicFrameLocks noGrp="1"/>
          </p:cNvGraphicFramePr>
          <p:nvPr>
            <p:extLst>
              <p:ext uri="{D42A27DB-BD31-4B8C-83A1-F6EECF244321}">
                <p14:modId xmlns:p14="http://schemas.microsoft.com/office/powerpoint/2010/main" val="3518731589"/>
              </p:ext>
            </p:extLst>
          </p:nvPr>
        </p:nvGraphicFramePr>
        <p:xfrm>
          <a:off x="502920" y="1129793"/>
          <a:ext cx="2285997" cy="3442210"/>
        </p:xfrm>
        <a:graphic>
          <a:graphicData uri="http://schemas.openxmlformats.org/drawingml/2006/table">
            <a:tbl>
              <a:tblPr firstRow="1" bandRow="1">
                <a:tableStyleId>{5C22544A-7EE6-4342-B048-85BDC9FD1C3A}</a:tableStyleId>
              </a:tblPr>
              <a:tblGrid>
                <a:gridCol w="2285997">
                  <a:extLst>
                    <a:ext uri="{9D8B030D-6E8A-4147-A177-3AD203B41FA5}">
                      <a16:colId xmlns:a16="http://schemas.microsoft.com/office/drawing/2014/main" val="1738666259"/>
                    </a:ext>
                  </a:extLst>
                </a:gridCol>
              </a:tblGrid>
              <a:tr h="688442">
                <a:tc>
                  <a:txBody>
                    <a:bodyPr/>
                    <a:lstStyle/>
                    <a:p>
                      <a:pPr algn="ctr">
                        <a:lnSpc>
                          <a:spcPct val="150000"/>
                        </a:lnSpc>
                      </a:pPr>
                      <a:r>
                        <a:rPr lang="en-US" dirty="0"/>
                        <a:t>Administrative fees</a:t>
                      </a:r>
                    </a:p>
                  </a:txBody>
                  <a:tcPr>
                    <a:solidFill>
                      <a:srgbClr val="00C896"/>
                    </a:solidFill>
                  </a:tcPr>
                </a:tc>
                <a:extLst>
                  <a:ext uri="{0D108BD9-81ED-4DB2-BD59-A6C34878D82A}">
                    <a16:rowId xmlns:a16="http://schemas.microsoft.com/office/drawing/2014/main" val="3539607058"/>
                  </a:ext>
                </a:extLst>
              </a:tr>
              <a:tr h="688442">
                <a:tc>
                  <a:txBody>
                    <a:bodyPr/>
                    <a:lstStyle/>
                    <a:p>
                      <a:pPr algn="ctr"/>
                      <a:r>
                        <a:rPr lang="en-US" dirty="0"/>
                        <a:t>Office rental</a:t>
                      </a:r>
                    </a:p>
                  </a:txBody>
                  <a:tcPr>
                    <a:solidFill>
                      <a:srgbClr val="E7FFF3"/>
                    </a:solidFill>
                  </a:tcPr>
                </a:tc>
                <a:extLst>
                  <a:ext uri="{0D108BD9-81ED-4DB2-BD59-A6C34878D82A}">
                    <a16:rowId xmlns:a16="http://schemas.microsoft.com/office/drawing/2014/main" val="4294809938"/>
                  </a:ext>
                </a:extLst>
              </a:tr>
              <a:tr h="688442">
                <a:tc>
                  <a:txBody>
                    <a:bodyPr/>
                    <a:lstStyle/>
                    <a:p>
                      <a:pPr algn="ctr"/>
                      <a:r>
                        <a:rPr lang="en-US" sz="1800" b="0" i="0" kern="1200" dirty="0">
                          <a:solidFill>
                            <a:schemeClr val="dk1"/>
                          </a:solidFill>
                          <a:effectLst/>
                          <a:latin typeface="+mn-lt"/>
                          <a:ea typeface="+mn-ea"/>
                          <a:cs typeface="+mn-cs"/>
                        </a:rPr>
                        <a:t>Legal &amp; admin fees</a:t>
                      </a:r>
                      <a:endParaRPr lang="en-US" dirty="0"/>
                    </a:p>
                  </a:txBody>
                  <a:tcPr>
                    <a:solidFill>
                      <a:srgbClr val="E7FFF3"/>
                    </a:solidFill>
                  </a:tcPr>
                </a:tc>
                <a:extLst>
                  <a:ext uri="{0D108BD9-81ED-4DB2-BD59-A6C34878D82A}">
                    <a16:rowId xmlns:a16="http://schemas.microsoft.com/office/drawing/2014/main" val="140278122"/>
                  </a:ext>
                </a:extLst>
              </a:tr>
              <a:tr h="688442">
                <a:tc>
                  <a:txBody>
                    <a:bodyPr/>
                    <a:lstStyle/>
                    <a:p>
                      <a:pPr algn="ctr"/>
                      <a:r>
                        <a:rPr lang="en-US" sz="1800" b="0" i="0" kern="1200" dirty="0">
                          <a:solidFill>
                            <a:schemeClr val="dk1"/>
                          </a:solidFill>
                          <a:effectLst/>
                          <a:latin typeface="+mn-lt"/>
                          <a:ea typeface="+mn-ea"/>
                          <a:cs typeface="+mn-cs"/>
                        </a:rPr>
                        <a:t>IT tools &amp; licenses</a:t>
                      </a:r>
                      <a:endParaRPr lang="en-US" dirty="0"/>
                    </a:p>
                  </a:txBody>
                  <a:tcPr>
                    <a:solidFill>
                      <a:srgbClr val="E7FFF3"/>
                    </a:solidFill>
                  </a:tcPr>
                </a:tc>
                <a:extLst>
                  <a:ext uri="{0D108BD9-81ED-4DB2-BD59-A6C34878D82A}">
                    <a16:rowId xmlns:a16="http://schemas.microsoft.com/office/drawing/2014/main" val="1916744561"/>
                  </a:ext>
                </a:extLst>
              </a:tr>
              <a:tr h="688442">
                <a:tc>
                  <a:txBody>
                    <a:bodyPr/>
                    <a:lstStyle/>
                    <a:p>
                      <a:pPr algn="ctr"/>
                      <a:endParaRPr lang="en-US" dirty="0"/>
                    </a:p>
                  </a:txBody>
                  <a:tcPr>
                    <a:solidFill>
                      <a:srgbClr val="E7FFF3"/>
                    </a:solidFill>
                  </a:tcPr>
                </a:tc>
                <a:extLst>
                  <a:ext uri="{0D108BD9-81ED-4DB2-BD59-A6C34878D82A}">
                    <a16:rowId xmlns:a16="http://schemas.microsoft.com/office/drawing/2014/main" val="4204240206"/>
                  </a:ext>
                </a:extLst>
              </a:tr>
            </a:tbl>
          </a:graphicData>
        </a:graphic>
      </p:graphicFrame>
      <p:graphicFrame>
        <p:nvGraphicFramePr>
          <p:cNvPr id="28" name="Tableau 27">
            <a:extLst>
              <a:ext uri="{FF2B5EF4-FFF2-40B4-BE49-F238E27FC236}">
                <a16:creationId xmlns:a16="http://schemas.microsoft.com/office/drawing/2014/main" id="{7B0A10EB-FD93-40F1-E371-BAE515761874}"/>
              </a:ext>
            </a:extLst>
          </p:cNvPr>
          <p:cNvGraphicFramePr>
            <a:graphicFrameLocks noGrp="1"/>
          </p:cNvGraphicFramePr>
          <p:nvPr>
            <p:extLst>
              <p:ext uri="{D42A27DB-BD31-4B8C-83A1-F6EECF244321}">
                <p14:modId xmlns:p14="http://schemas.microsoft.com/office/powerpoint/2010/main" val="1097241343"/>
              </p:ext>
            </p:extLst>
          </p:nvPr>
        </p:nvGraphicFramePr>
        <p:xfrm>
          <a:off x="3474725" y="1157220"/>
          <a:ext cx="2285997" cy="3442210"/>
        </p:xfrm>
        <a:graphic>
          <a:graphicData uri="http://schemas.openxmlformats.org/drawingml/2006/table">
            <a:tbl>
              <a:tblPr firstRow="1" bandRow="1">
                <a:tableStyleId>{5C22544A-7EE6-4342-B048-85BDC9FD1C3A}</a:tableStyleId>
              </a:tblPr>
              <a:tblGrid>
                <a:gridCol w="2285997">
                  <a:extLst>
                    <a:ext uri="{9D8B030D-6E8A-4147-A177-3AD203B41FA5}">
                      <a16:colId xmlns:a16="http://schemas.microsoft.com/office/drawing/2014/main" val="1738666259"/>
                    </a:ext>
                  </a:extLst>
                </a:gridCol>
              </a:tblGrid>
              <a:tr h="688442">
                <a:tc>
                  <a:txBody>
                    <a:bodyPr/>
                    <a:lstStyle/>
                    <a:p>
                      <a:pPr algn="ctr"/>
                      <a:r>
                        <a:rPr lang="en-US" dirty="0"/>
                        <a:t>Technology infrastructure</a:t>
                      </a:r>
                    </a:p>
                  </a:txBody>
                  <a:tcPr>
                    <a:solidFill>
                      <a:srgbClr val="00C896"/>
                    </a:solidFill>
                  </a:tcPr>
                </a:tc>
                <a:extLst>
                  <a:ext uri="{0D108BD9-81ED-4DB2-BD59-A6C34878D82A}">
                    <a16:rowId xmlns:a16="http://schemas.microsoft.com/office/drawing/2014/main" val="3539607058"/>
                  </a:ext>
                </a:extLst>
              </a:tr>
              <a:tr h="688442">
                <a:tc>
                  <a:txBody>
                    <a:bodyPr/>
                    <a:lstStyle/>
                    <a:p>
                      <a:pPr algn="ctr"/>
                      <a:r>
                        <a:rPr lang="en-US" sz="1800" b="0" i="0" kern="1200" dirty="0">
                          <a:solidFill>
                            <a:schemeClr val="dk1"/>
                          </a:solidFill>
                          <a:effectLst/>
                          <a:latin typeface="+mn-lt"/>
                          <a:ea typeface="+mn-ea"/>
                          <a:cs typeface="+mn-cs"/>
                        </a:rPr>
                        <a:t>Software development</a:t>
                      </a:r>
                      <a:endParaRPr lang="en-US" dirty="0"/>
                    </a:p>
                  </a:txBody>
                  <a:tcPr>
                    <a:solidFill>
                      <a:srgbClr val="E7FFF3"/>
                    </a:solidFill>
                  </a:tcPr>
                </a:tc>
                <a:extLst>
                  <a:ext uri="{0D108BD9-81ED-4DB2-BD59-A6C34878D82A}">
                    <a16:rowId xmlns:a16="http://schemas.microsoft.com/office/drawing/2014/main" val="4294809938"/>
                  </a:ext>
                </a:extLst>
              </a:tr>
              <a:tr h="688442">
                <a:tc>
                  <a:txBody>
                    <a:bodyPr/>
                    <a:lstStyle/>
                    <a:p>
                      <a:pPr algn="ctr"/>
                      <a:r>
                        <a:rPr lang="en-US" dirty="0"/>
                        <a:t>Third-party services</a:t>
                      </a:r>
                    </a:p>
                  </a:txBody>
                  <a:tcPr>
                    <a:solidFill>
                      <a:srgbClr val="E7FFF3"/>
                    </a:solidFill>
                  </a:tcPr>
                </a:tc>
                <a:extLst>
                  <a:ext uri="{0D108BD9-81ED-4DB2-BD59-A6C34878D82A}">
                    <a16:rowId xmlns:a16="http://schemas.microsoft.com/office/drawing/2014/main" val="140278122"/>
                  </a:ext>
                </a:extLst>
              </a:tr>
              <a:tr h="688442">
                <a:tc>
                  <a:txBody>
                    <a:bodyPr/>
                    <a:lstStyle/>
                    <a:p>
                      <a:pPr algn="ctr"/>
                      <a:r>
                        <a:rPr lang="en-US" sz="1800" b="0" i="0" kern="1200" dirty="0">
                          <a:solidFill>
                            <a:schemeClr val="dk1"/>
                          </a:solidFill>
                          <a:effectLst/>
                          <a:latin typeface="+mn-lt"/>
                          <a:ea typeface="+mn-ea"/>
                          <a:cs typeface="+mn-cs"/>
                        </a:rPr>
                        <a:t>Testing &amp; calibration</a:t>
                      </a:r>
                      <a:endParaRPr lang="en-US" dirty="0"/>
                    </a:p>
                  </a:txBody>
                  <a:tcPr>
                    <a:solidFill>
                      <a:srgbClr val="E7FFF3"/>
                    </a:solidFill>
                  </a:tcPr>
                </a:tc>
                <a:extLst>
                  <a:ext uri="{0D108BD9-81ED-4DB2-BD59-A6C34878D82A}">
                    <a16:rowId xmlns:a16="http://schemas.microsoft.com/office/drawing/2014/main" val="1916744561"/>
                  </a:ext>
                </a:extLst>
              </a:tr>
              <a:tr h="688442">
                <a:tc>
                  <a:txBody>
                    <a:bodyPr/>
                    <a:lstStyle/>
                    <a:p>
                      <a:pPr algn="ctr"/>
                      <a:r>
                        <a:rPr lang="en-US" sz="1800" b="0" i="0" kern="1200" dirty="0">
                          <a:solidFill>
                            <a:schemeClr val="dk1"/>
                          </a:solidFill>
                          <a:effectLst/>
                          <a:latin typeface="+mn-lt"/>
                          <a:ea typeface="+mn-ea"/>
                          <a:cs typeface="+mn-cs"/>
                        </a:rPr>
                        <a:t>Sensor kit hardware</a:t>
                      </a:r>
                      <a:endParaRPr lang="en-US" dirty="0"/>
                    </a:p>
                  </a:txBody>
                  <a:tcPr>
                    <a:solidFill>
                      <a:srgbClr val="E7FFF3"/>
                    </a:solidFill>
                  </a:tcPr>
                </a:tc>
                <a:extLst>
                  <a:ext uri="{0D108BD9-81ED-4DB2-BD59-A6C34878D82A}">
                    <a16:rowId xmlns:a16="http://schemas.microsoft.com/office/drawing/2014/main" val="4204240206"/>
                  </a:ext>
                </a:extLst>
              </a:tr>
            </a:tbl>
          </a:graphicData>
        </a:graphic>
      </p:graphicFrame>
      <p:graphicFrame>
        <p:nvGraphicFramePr>
          <p:cNvPr id="29" name="Tableau 28">
            <a:extLst>
              <a:ext uri="{FF2B5EF4-FFF2-40B4-BE49-F238E27FC236}">
                <a16:creationId xmlns:a16="http://schemas.microsoft.com/office/drawing/2014/main" id="{BF7113E7-54BA-31F8-3EFC-DB8C4AA3804B}"/>
              </a:ext>
            </a:extLst>
          </p:cNvPr>
          <p:cNvGraphicFramePr>
            <a:graphicFrameLocks noGrp="1"/>
          </p:cNvGraphicFramePr>
          <p:nvPr>
            <p:extLst>
              <p:ext uri="{D42A27DB-BD31-4B8C-83A1-F6EECF244321}">
                <p14:modId xmlns:p14="http://schemas.microsoft.com/office/powerpoint/2010/main" val="1882048597"/>
              </p:ext>
            </p:extLst>
          </p:nvPr>
        </p:nvGraphicFramePr>
        <p:xfrm>
          <a:off x="6446521" y="1119630"/>
          <a:ext cx="2285997" cy="3442210"/>
        </p:xfrm>
        <a:graphic>
          <a:graphicData uri="http://schemas.openxmlformats.org/drawingml/2006/table">
            <a:tbl>
              <a:tblPr firstRow="1" bandRow="1">
                <a:tableStyleId>{5C22544A-7EE6-4342-B048-85BDC9FD1C3A}</a:tableStyleId>
              </a:tblPr>
              <a:tblGrid>
                <a:gridCol w="2285997">
                  <a:extLst>
                    <a:ext uri="{9D8B030D-6E8A-4147-A177-3AD203B41FA5}">
                      <a16:colId xmlns:a16="http://schemas.microsoft.com/office/drawing/2014/main" val="1738666259"/>
                    </a:ext>
                  </a:extLst>
                </a:gridCol>
              </a:tblGrid>
              <a:tr h="688442">
                <a:tc>
                  <a:txBody>
                    <a:bodyPr/>
                    <a:lstStyle/>
                    <a:p>
                      <a:pPr algn="ctr">
                        <a:lnSpc>
                          <a:spcPct val="150000"/>
                        </a:lnSpc>
                      </a:pPr>
                      <a:r>
                        <a:rPr lang="en-US" dirty="0"/>
                        <a:t>Marketing</a:t>
                      </a:r>
                    </a:p>
                  </a:txBody>
                  <a:tcPr>
                    <a:solidFill>
                      <a:srgbClr val="00C896"/>
                    </a:solidFill>
                  </a:tcPr>
                </a:tc>
                <a:extLst>
                  <a:ext uri="{0D108BD9-81ED-4DB2-BD59-A6C34878D82A}">
                    <a16:rowId xmlns:a16="http://schemas.microsoft.com/office/drawing/2014/main" val="3539607058"/>
                  </a:ext>
                </a:extLst>
              </a:tr>
              <a:tr h="688442">
                <a:tc>
                  <a:txBody>
                    <a:bodyPr/>
                    <a:lstStyle/>
                    <a:p>
                      <a:pPr algn="ctr"/>
                      <a:r>
                        <a:rPr lang="en-US" sz="1800" b="0" i="0" kern="1200" dirty="0">
                          <a:solidFill>
                            <a:schemeClr val="dk1"/>
                          </a:solidFill>
                          <a:effectLst/>
                          <a:latin typeface="+mn-lt"/>
                          <a:ea typeface="+mn-ea"/>
                          <a:cs typeface="+mn-cs"/>
                        </a:rPr>
                        <a:t>Ads </a:t>
                      </a:r>
                      <a:endParaRPr lang="en-US" dirty="0"/>
                    </a:p>
                  </a:txBody>
                  <a:tcPr>
                    <a:solidFill>
                      <a:srgbClr val="E7FFF3"/>
                    </a:solidFill>
                  </a:tcPr>
                </a:tc>
                <a:extLst>
                  <a:ext uri="{0D108BD9-81ED-4DB2-BD59-A6C34878D82A}">
                    <a16:rowId xmlns:a16="http://schemas.microsoft.com/office/drawing/2014/main" val="4294809938"/>
                  </a:ext>
                </a:extLst>
              </a:tr>
              <a:tr h="688442">
                <a:tc>
                  <a:txBody>
                    <a:bodyPr/>
                    <a:lstStyle/>
                    <a:p>
                      <a:pPr algn="ctr"/>
                      <a:r>
                        <a:rPr lang="en-US" sz="1800" b="0" i="0" kern="1200" dirty="0">
                          <a:solidFill>
                            <a:schemeClr val="dk1"/>
                          </a:solidFill>
                          <a:effectLst/>
                          <a:latin typeface="+mn-lt"/>
                          <a:ea typeface="+mn-ea"/>
                          <a:cs typeface="+mn-cs"/>
                        </a:rPr>
                        <a:t>University events </a:t>
                      </a:r>
                      <a:endParaRPr lang="en-US" dirty="0"/>
                    </a:p>
                  </a:txBody>
                  <a:tcPr>
                    <a:solidFill>
                      <a:srgbClr val="E7FFF3"/>
                    </a:solidFill>
                  </a:tcPr>
                </a:tc>
                <a:extLst>
                  <a:ext uri="{0D108BD9-81ED-4DB2-BD59-A6C34878D82A}">
                    <a16:rowId xmlns:a16="http://schemas.microsoft.com/office/drawing/2014/main" val="140278122"/>
                  </a:ext>
                </a:extLst>
              </a:tr>
              <a:tr h="688442">
                <a:tc>
                  <a:txBody>
                    <a:bodyPr/>
                    <a:lstStyle/>
                    <a:p>
                      <a:pPr algn="ctr"/>
                      <a:r>
                        <a:rPr lang="en-US" sz="1800" b="0" i="0" kern="1200" dirty="0">
                          <a:solidFill>
                            <a:schemeClr val="dk1"/>
                          </a:solidFill>
                          <a:effectLst/>
                          <a:latin typeface="+mn-lt"/>
                          <a:ea typeface="+mn-ea"/>
                          <a:cs typeface="+mn-cs"/>
                        </a:rPr>
                        <a:t>Tech conferences</a:t>
                      </a:r>
                      <a:endParaRPr lang="en-US" dirty="0"/>
                    </a:p>
                  </a:txBody>
                  <a:tcPr>
                    <a:solidFill>
                      <a:srgbClr val="E7FFF3"/>
                    </a:solidFill>
                  </a:tcPr>
                </a:tc>
                <a:extLst>
                  <a:ext uri="{0D108BD9-81ED-4DB2-BD59-A6C34878D82A}">
                    <a16:rowId xmlns:a16="http://schemas.microsoft.com/office/drawing/2014/main" val="1916744561"/>
                  </a:ext>
                </a:extLst>
              </a:tr>
              <a:tr h="688442">
                <a:tc>
                  <a:txBody>
                    <a:bodyPr/>
                    <a:lstStyle/>
                    <a:p>
                      <a:pPr algn="ctr"/>
                      <a:endParaRPr lang="en-US" dirty="0"/>
                    </a:p>
                  </a:txBody>
                  <a:tcPr>
                    <a:solidFill>
                      <a:srgbClr val="E7FFF3"/>
                    </a:solidFill>
                  </a:tcPr>
                </a:tc>
                <a:extLst>
                  <a:ext uri="{0D108BD9-81ED-4DB2-BD59-A6C34878D82A}">
                    <a16:rowId xmlns:a16="http://schemas.microsoft.com/office/drawing/2014/main" val="4204240206"/>
                  </a:ext>
                </a:extLst>
              </a:tr>
            </a:tbl>
          </a:graphicData>
        </a:graphic>
      </p:graphicFrame>
    </p:spTree>
    <p:extLst>
      <p:ext uri="{BB962C8B-B14F-4D97-AF65-F5344CB8AC3E}">
        <p14:creationId xmlns:p14="http://schemas.microsoft.com/office/powerpoint/2010/main" val="1475614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522EDDF2-C982-74B4-4B24-A941159A806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9E92494-7FA5-388F-BBA1-B6222A1F8D6E}"/>
              </a:ext>
            </a:extLst>
          </p:cNvPr>
          <p:cNvSpPr/>
          <p:nvPr/>
        </p:nvSpPr>
        <p:spPr>
          <a:xfrm>
            <a:off x="0" y="914400"/>
            <a:ext cx="9144000" cy="0"/>
          </a:xfrm>
          <a:prstGeom prst="line">
            <a:avLst/>
          </a:prstGeom>
          <a:noFill/>
          <a:ln w="6350">
            <a:solidFill>
              <a:srgbClr val="1A2540"/>
            </a:solidFill>
            <a:prstDash val="solid"/>
          </a:ln>
        </p:spPr>
        <p:txBody>
          <a:bodyPr/>
          <a:lstStyle/>
          <a:p>
            <a:endParaRPr/>
          </a:p>
        </p:txBody>
      </p:sp>
      <p:sp>
        <p:nvSpPr>
          <p:cNvPr id="3" name="Shape 1">
            <a:extLst>
              <a:ext uri="{FF2B5EF4-FFF2-40B4-BE49-F238E27FC236}">
                <a16:creationId xmlns:a16="http://schemas.microsoft.com/office/drawing/2014/main" id="{2570B3A2-F30E-7DD3-65E0-8FF56C4AB8D6}"/>
              </a:ext>
            </a:extLst>
          </p:cNvPr>
          <p:cNvSpPr/>
          <p:nvPr/>
        </p:nvSpPr>
        <p:spPr>
          <a:xfrm>
            <a:off x="0" y="1645920"/>
            <a:ext cx="9144000" cy="0"/>
          </a:xfrm>
          <a:prstGeom prst="line">
            <a:avLst/>
          </a:prstGeom>
          <a:noFill/>
          <a:ln w="6350">
            <a:solidFill>
              <a:srgbClr val="1A2540"/>
            </a:solidFill>
            <a:prstDash val="solid"/>
          </a:ln>
        </p:spPr>
        <p:txBody>
          <a:bodyPr/>
          <a:lstStyle/>
          <a:p>
            <a:endParaRPr/>
          </a:p>
        </p:txBody>
      </p:sp>
      <p:sp>
        <p:nvSpPr>
          <p:cNvPr id="4" name="Shape 2">
            <a:extLst>
              <a:ext uri="{FF2B5EF4-FFF2-40B4-BE49-F238E27FC236}">
                <a16:creationId xmlns:a16="http://schemas.microsoft.com/office/drawing/2014/main" id="{42A7C9D9-0C1F-C1F7-0DC0-69D4F404D8F7}"/>
              </a:ext>
            </a:extLst>
          </p:cNvPr>
          <p:cNvSpPr/>
          <p:nvPr/>
        </p:nvSpPr>
        <p:spPr>
          <a:xfrm>
            <a:off x="0" y="2377440"/>
            <a:ext cx="9144000" cy="0"/>
          </a:xfrm>
          <a:prstGeom prst="line">
            <a:avLst/>
          </a:prstGeom>
          <a:noFill/>
          <a:ln w="6350">
            <a:solidFill>
              <a:srgbClr val="1A2540"/>
            </a:solidFill>
            <a:prstDash val="solid"/>
          </a:ln>
        </p:spPr>
        <p:txBody>
          <a:bodyPr/>
          <a:lstStyle/>
          <a:p>
            <a:endParaRPr sz="3200"/>
          </a:p>
        </p:txBody>
      </p:sp>
      <p:sp>
        <p:nvSpPr>
          <p:cNvPr id="5" name="Shape 3">
            <a:extLst>
              <a:ext uri="{FF2B5EF4-FFF2-40B4-BE49-F238E27FC236}">
                <a16:creationId xmlns:a16="http://schemas.microsoft.com/office/drawing/2014/main" id="{D8FF8869-BCB4-1C5C-7988-DD47D2805E52}"/>
              </a:ext>
            </a:extLst>
          </p:cNvPr>
          <p:cNvSpPr/>
          <p:nvPr/>
        </p:nvSpPr>
        <p:spPr>
          <a:xfrm>
            <a:off x="0" y="3206929"/>
            <a:ext cx="9144000" cy="0"/>
          </a:xfrm>
          <a:prstGeom prst="line">
            <a:avLst/>
          </a:prstGeom>
          <a:noFill/>
          <a:ln w="6350">
            <a:solidFill>
              <a:srgbClr val="1A2540"/>
            </a:solidFill>
            <a:prstDash val="solid"/>
          </a:ln>
        </p:spPr>
        <p:txBody>
          <a:bodyPr/>
          <a:lstStyle/>
          <a:p>
            <a:endParaRPr sz="2400"/>
          </a:p>
        </p:txBody>
      </p:sp>
      <p:sp>
        <p:nvSpPr>
          <p:cNvPr id="6" name="Shape 4">
            <a:extLst>
              <a:ext uri="{FF2B5EF4-FFF2-40B4-BE49-F238E27FC236}">
                <a16:creationId xmlns:a16="http://schemas.microsoft.com/office/drawing/2014/main" id="{7826DF03-09BB-053F-3F3C-ED60402C9F21}"/>
              </a:ext>
            </a:extLst>
          </p:cNvPr>
          <p:cNvSpPr/>
          <p:nvPr/>
        </p:nvSpPr>
        <p:spPr>
          <a:xfrm>
            <a:off x="0" y="3840480"/>
            <a:ext cx="9144000" cy="0"/>
          </a:xfrm>
          <a:prstGeom prst="line">
            <a:avLst/>
          </a:prstGeom>
          <a:noFill/>
          <a:ln w="6350">
            <a:solidFill>
              <a:srgbClr val="1A2540"/>
            </a:solidFill>
            <a:prstDash val="solid"/>
          </a:ln>
        </p:spPr>
        <p:txBody>
          <a:bodyPr/>
          <a:lstStyle/>
          <a:p>
            <a:endParaRPr sz="2400"/>
          </a:p>
        </p:txBody>
      </p:sp>
      <p:sp>
        <p:nvSpPr>
          <p:cNvPr id="7" name="Shape 5">
            <a:extLst>
              <a:ext uri="{FF2B5EF4-FFF2-40B4-BE49-F238E27FC236}">
                <a16:creationId xmlns:a16="http://schemas.microsoft.com/office/drawing/2014/main" id="{B9841521-08D0-C942-527B-37CF5B5C416C}"/>
              </a:ext>
            </a:extLst>
          </p:cNvPr>
          <p:cNvSpPr/>
          <p:nvPr/>
        </p:nvSpPr>
        <p:spPr>
          <a:xfrm>
            <a:off x="0" y="4572000"/>
            <a:ext cx="9144000" cy="0"/>
          </a:xfrm>
          <a:prstGeom prst="line">
            <a:avLst/>
          </a:prstGeom>
          <a:noFill/>
          <a:ln w="6350">
            <a:solidFill>
              <a:srgbClr val="1A2540"/>
            </a:solidFill>
            <a:prstDash val="solid"/>
          </a:ln>
        </p:spPr>
        <p:txBody>
          <a:bodyPr/>
          <a:lstStyle/>
          <a:p>
            <a:endParaRPr/>
          </a:p>
        </p:txBody>
      </p:sp>
      <p:sp>
        <p:nvSpPr>
          <p:cNvPr id="8" name="Shape 6">
            <a:extLst>
              <a:ext uri="{FF2B5EF4-FFF2-40B4-BE49-F238E27FC236}">
                <a16:creationId xmlns:a16="http://schemas.microsoft.com/office/drawing/2014/main" id="{ECC90254-AC83-BF2D-A2AB-0919F81FF63C}"/>
              </a:ext>
            </a:extLst>
          </p:cNvPr>
          <p:cNvSpPr/>
          <p:nvPr/>
        </p:nvSpPr>
        <p:spPr>
          <a:xfrm>
            <a:off x="731520" y="0"/>
            <a:ext cx="0" cy="5143500"/>
          </a:xfrm>
          <a:prstGeom prst="line">
            <a:avLst/>
          </a:prstGeom>
          <a:noFill/>
          <a:ln w="6350">
            <a:solidFill>
              <a:srgbClr val="1A2540"/>
            </a:solidFill>
            <a:prstDash val="solid"/>
          </a:ln>
        </p:spPr>
        <p:txBody>
          <a:bodyPr/>
          <a:lstStyle/>
          <a:p>
            <a:endParaRPr/>
          </a:p>
        </p:txBody>
      </p:sp>
      <p:sp>
        <p:nvSpPr>
          <p:cNvPr id="9" name="Shape 7">
            <a:extLst>
              <a:ext uri="{FF2B5EF4-FFF2-40B4-BE49-F238E27FC236}">
                <a16:creationId xmlns:a16="http://schemas.microsoft.com/office/drawing/2014/main" id="{11F6253D-B229-FC28-34B1-187D36987320}"/>
              </a:ext>
            </a:extLst>
          </p:cNvPr>
          <p:cNvSpPr/>
          <p:nvPr/>
        </p:nvSpPr>
        <p:spPr>
          <a:xfrm>
            <a:off x="1554480" y="0"/>
            <a:ext cx="0" cy="5143500"/>
          </a:xfrm>
          <a:prstGeom prst="line">
            <a:avLst/>
          </a:prstGeom>
          <a:noFill/>
          <a:ln w="6350">
            <a:solidFill>
              <a:srgbClr val="1A2540"/>
            </a:solidFill>
            <a:prstDash val="solid"/>
          </a:ln>
        </p:spPr>
        <p:txBody>
          <a:bodyPr/>
          <a:lstStyle/>
          <a:p>
            <a:endParaRPr/>
          </a:p>
        </p:txBody>
      </p:sp>
      <p:sp>
        <p:nvSpPr>
          <p:cNvPr id="10" name="Shape 8">
            <a:extLst>
              <a:ext uri="{FF2B5EF4-FFF2-40B4-BE49-F238E27FC236}">
                <a16:creationId xmlns:a16="http://schemas.microsoft.com/office/drawing/2014/main" id="{6F9C0287-8E39-A24D-E8FA-66ACEF079500}"/>
              </a:ext>
            </a:extLst>
          </p:cNvPr>
          <p:cNvSpPr/>
          <p:nvPr/>
        </p:nvSpPr>
        <p:spPr>
          <a:xfrm>
            <a:off x="2377440" y="0"/>
            <a:ext cx="0" cy="5143500"/>
          </a:xfrm>
          <a:prstGeom prst="line">
            <a:avLst/>
          </a:prstGeom>
          <a:noFill/>
          <a:ln w="6350">
            <a:solidFill>
              <a:srgbClr val="1A2540"/>
            </a:solidFill>
            <a:prstDash val="solid"/>
          </a:ln>
        </p:spPr>
        <p:txBody>
          <a:bodyPr/>
          <a:lstStyle/>
          <a:p>
            <a:endParaRPr/>
          </a:p>
        </p:txBody>
      </p:sp>
      <p:sp>
        <p:nvSpPr>
          <p:cNvPr id="11" name="Shape 9">
            <a:extLst>
              <a:ext uri="{FF2B5EF4-FFF2-40B4-BE49-F238E27FC236}">
                <a16:creationId xmlns:a16="http://schemas.microsoft.com/office/drawing/2014/main" id="{D5115547-109B-9201-E572-40D0F3D1A7C4}"/>
              </a:ext>
            </a:extLst>
          </p:cNvPr>
          <p:cNvSpPr/>
          <p:nvPr/>
        </p:nvSpPr>
        <p:spPr>
          <a:xfrm>
            <a:off x="3200400" y="0"/>
            <a:ext cx="0" cy="5143500"/>
          </a:xfrm>
          <a:prstGeom prst="line">
            <a:avLst/>
          </a:prstGeom>
          <a:noFill/>
          <a:ln w="6350">
            <a:solidFill>
              <a:srgbClr val="1A2540"/>
            </a:solidFill>
            <a:prstDash val="solid"/>
          </a:ln>
        </p:spPr>
        <p:txBody>
          <a:bodyPr/>
          <a:lstStyle/>
          <a:p>
            <a:endParaRPr/>
          </a:p>
        </p:txBody>
      </p:sp>
      <p:sp>
        <p:nvSpPr>
          <p:cNvPr id="12" name="Shape 10">
            <a:extLst>
              <a:ext uri="{FF2B5EF4-FFF2-40B4-BE49-F238E27FC236}">
                <a16:creationId xmlns:a16="http://schemas.microsoft.com/office/drawing/2014/main" id="{F36E5262-320A-F685-36FF-AEB0ECFD0603}"/>
              </a:ext>
            </a:extLst>
          </p:cNvPr>
          <p:cNvSpPr/>
          <p:nvPr/>
        </p:nvSpPr>
        <p:spPr>
          <a:xfrm>
            <a:off x="4023360" y="0"/>
            <a:ext cx="0" cy="5143500"/>
          </a:xfrm>
          <a:prstGeom prst="line">
            <a:avLst/>
          </a:prstGeom>
          <a:noFill/>
          <a:ln w="6350">
            <a:solidFill>
              <a:srgbClr val="1A2540"/>
            </a:solidFill>
            <a:prstDash val="solid"/>
          </a:ln>
        </p:spPr>
        <p:txBody>
          <a:bodyPr/>
          <a:lstStyle/>
          <a:p>
            <a:endParaRPr/>
          </a:p>
        </p:txBody>
      </p:sp>
      <p:sp>
        <p:nvSpPr>
          <p:cNvPr id="13" name="Shape 11">
            <a:extLst>
              <a:ext uri="{FF2B5EF4-FFF2-40B4-BE49-F238E27FC236}">
                <a16:creationId xmlns:a16="http://schemas.microsoft.com/office/drawing/2014/main" id="{08BC2CE4-03F6-B1E4-23ED-A76205EC46E0}"/>
              </a:ext>
            </a:extLst>
          </p:cNvPr>
          <p:cNvSpPr/>
          <p:nvPr/>
        </p:nvSpPr>
        <p:spPr>
          <a:xfrm>
            <a:off x="4846320" y="0"/>
            <a:ext cx="0" cy="5143500"/>
          </a:xfrm>
          <a:prstGeom prst="line">
            <a:avLst/>
          </a:prstGeom>
          <a:noFill/>
          <a:ln w="6350">
            <a:solidFill>
              <a:srgbClr val="1A2540"/>
            </a:solidFill>
            <a:prstDash val="solid"/>
          </a:ln>
        </p:spPr>
        <p:txBody>
          <a:bodyPr/>
          <a:lstStyle/>
          <a:p>
            <a:endParaRPr/>
          </a:p>
        </p:txBody>
      </p:sp>
      <p:sp>
        <p:nvSpPr>
          <p:cNvPr id="14" name="Shape 12">
            <a:extLst>
              <a:ext uri="{FF2B5EF4-FFF2-40B4-BE49-F238E27FC236}">
                <a16:creationId xmlns:a16="http://schemas.microsoft.com/office/drawing/2014/main" id="{72151719-13ED-5F3E-D11D-076CB8CEB7BC}"/>
              </a:ext>
            </a:extLst>
          </p:cNvPr>
          <p:cNvSpPr/>
          <p:nvPr/>
        </p:nvSpPr>
        <p:spPr>
          <a:xfrm>
            <a:off x="5669280" y="0"/>
            <a:ext cx="0" cy="5143500"/>
          </a:xfrm>
          <a:prstGeom prst="line">
            <a:avLst/>
          </a:prstGeom>
          <a:noFill/>
          <a:ln w="6350">
            <a:solidFill>
              <a:srgbClr val="1A2540"/>
            </a:solidFill>
            <a:prstDash val="solid"/>
          </a:ln>
        </p:spPr>
        <p:txBody>
          <a:bodyPr/>
          <a:lstStyle/>
          <a:p>
            <a:endParaRPr/>
          </a:p>
        </p:txBody>
      </p:sp>
      <p:sp>
        <p:nvSpPr>
          <p:cNvPr id="15" name="Shape 13">
            <a:extLst>
              <a:ext uri="{FF2B5EF4-FFF2-40B4-BE49-F238E27FC236}">
                <a16:creationId xmlns:a16="http://schemas.microsoft.com/office/drawing/2014/main" id="{2814B3DB-056E-A61D-AD87-F74B523B0FAC}"/>
              </a:ext>
            </a:extLst>
          </p:cNvPr>
          <p:cNvSpPr/>
          <p:nvPr/>
        </p:nvSpPr>
        <p:spPr>
          <a:xfrm>
            <a:off x="6492240" y="0"/>
            <a:ext cx="0" cy="5143500"/>
          </a:xfrm>
          <a:prstGeom prst="line">
            <a:avLst/>
          </a:prstGeom>
          <a:noFill/>
          <a:ln w="6350">
            <a:solidFill>
              <a:srgbClr val="1A2540"/>
            </a:solidFill>
            <a:prstDash val="solid"/>
          </a:ln>
        </p:spPr>
        <p:txBody>
          <a:bodyPr/>
          <a:lstStyle/>
          <a:p>
            <a:endParaRPr/>
          </a:p>
        </p:txBody>
      </p:sp>
      <p:sp>
        <p:nvSpPr>
          <p:cNvPr id="16" name="Shape 14">
            <a:extLst>
              <a:ext uri="{FF2B5EF4-FFF2-40B4-BE49-F238E27FC236}">
                <a16:creationId xmlns:a16="http://schemas.microsoft.com/office/drawing/2014/main" id="{E5390B41-9F06-152C-3271-5AF0E8DB04F6}"/>
              </a:ext>
            </a:extLst>
          </p:cNvPr>
          <p:cNvSpPr/>
          <p:nvPr/>
        </p:nvSpPr>
        <p:spPr>
          <a:xfrm>
            <a:off x="7315200" y="0"/>
            <a:ext cx="0" cy="5143500"/>
          </a:xfrm>
          <a:prstGeom prst="line">
            <a:avLst/>
          </a:prstGeom>
          <a:noFill/>
          <a:ln w="6350">
            <a:solidFill>
              <a:srgbClr val="1A2540"/>
            </a:solidFill>
            <a:prstDash val="solid"/>
          </a:ln>
        </p:spPr>
        <p:txBody>
          <a:bodyPr/>
          <a:lstStyle/>
          <a:p>
            <a:endParaRPr/>
          </a:p>
        </p:txBody>
      </p:sp>
      <p:sp>
        <p:nvSpPr>
          <p:cNvPr id="17" name="Shape 15">
            <a:extLst>
              <a:ext uri="{FF2B5EF4-FFF2-40B4-BE49-F238E27FC236}">
                <a16:creationId xmlns:a16="http://schemas.microsoft.com/office/drawing/2014/main" id="{C5E4EF9D-A81A-3CA9-DA9F-56F5032C5C30}"/>
              </a:ext>
            </a:extLst>
          </p:cNvPr>
          <p:cNvSpPr/>
          <p:nvPr/>
        </p:nvSpPr>
        <p:spPr>
          <a:xfrm>
            <a:off x="8138160" y="0"/>
            <a:ext cx="0" cy="5143500"/>
          </a:xfrm>
          <a:prstGeom prst="line">
            <a:avLst/>
          </a:prstGeom>
          <a:noFill/>
          <a:ln w="6350">
            <a:solidFill>
              <a:srgbClr val="1A2540"/>
            </a:solidFill>
            <a:prstDash val="solid"/>
          </a:ln>
        </p:spPr>
        <p:txBody>
          <a:bodyPr/>
          <a:lstStyle/>
          <a:p>
            <a:endParaRPr/>
          </a:p>
        </p:txBody>
      </p:sp>
      <p:sp>
        <p:nvSpPr>
          <p:cNvPr id="18" name="Shape 16">
            <a:extLst>
              <a:ext uri="{FF2B5EF4-FFF2-40B4-BE49-F238E27FC236}">
                <a16:creationId xmlns:a16="http://schemas.microsoft.com/office/drawing/2014/main" id="{DAFAEB64-3EA5-C3B9-0327-70BB66983448}"/>
              </a:ext>
            </a:extLst>
          </p:cNvPr>
          <p:cNvSpPr/>
          <p:nvPr/>
        </p:nvSpPr>
        <p:spPr>
          <a:xfrm>
            <a:off x="3200400" y="-1828800"/>
            <a:ext cx="6400800" cy="6400800"/>
          </a:xfrm>
          <a:prstGeom prst="ellipse">
            <a:avLst/>
          </a:prstGeom>
          <a:solidFill>
            <a:srgbClr val="00C896">
              <a:alpha val="8000"/>
            </a:srgbClr>
          </a:solidFill>
          <a:ln/>
        </p:spPr>
        <p:txBody>
          <a:bodyPr/>
          <a:lstStyle/>
          <a:p>
            <a:endParaRPr/>
          </a:p>
        </p:txBody>
      </p:sp>
      <p:sp>
        <p:nvSpPr>
          <p:cNvPr id="19" name="Shape 17">
            <a:extLst>
              <a:ext uri="{FF2B5EF4-FFF2-40B4-BE49-F238E27FC236}">
                <a16:creationId xmlns:a16="http://schemas.microsoft.com/office/drawing/2014/main" id="{441CE113-8D7C-8CF3-80E2-E88E4C254E76}"/>
              </a:ext>
            </a:extLst>
          </p:cNvPr>
          <p:cNvSpPr/>
          <p:nvPr/>
        </p:nvSpPr>
        <p:spPr>
          <a:xfrm>
            <a:off x="5486400" y="2743200"/>
            <a:ext cx="5486400" cy="5486400"/>
          </a:xfrm>
          <a:prstGeom prst="ellipse">
            <a:avLst/>
          </a:prstGeom>
          <a:solidFill>
            <a:srgbClr val="0050FF">
              <a:alpha val="8000"/>
            </a:srgbClr>
          </a:solidFill>
          <a:ln/>
        </p:spPr>
        <p:txBody>
          <a:bodyPr/>
          <a:lstStyle/>
          <a:p>
            <a:endParaRPr/>
          </a:p>
        </p:txBody>
      </p:sp>
      <p:sp>
        <p:nvSpPr>
          <p:cNvPr id="25" name="Text 7">
            <a:extLst>
              <a:ext uri="{FF2B5EF4-FFF2-40B4-BE49-F238E27FC236}">
                <a16:creationId xmlns:a16="http://schemas.microsoft.com/office/drawing/2014/main" id="{DDEC123D-0E18-42B6-AB16-A9DC7B744718}"/>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09 — Future Prospects</a:t>
            </a:r>
          </a:p>
        </p:txBody>
      </p:sp>
      <p:sp>
        <p:nvSpPr>
          <p:cNvPr id="26" name="Text 8">
            <a:extLst>
              <a:ext uri="{FF2B5EF4-FFF2-40B4-BE49-F238E27FC236}">
                <a16:creationId xmlns:a16="http://schemas.microsoft.com/office/drawing/2014/main" id="{C2B36339-AAC8-A9A9-13D2-8EC6EB77DD03}"/>
              </a:ext>
            </a:extLst>
          </p:cNvPr>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Future Prospects</a:t>
            </a:r>
          </a:p>
        </p:txBody>
      </p:sp>
      <p:sp>
        <p:nvSpPr>
          <p:cNvPr id="21" name="ZoneTexte 20">
            <a:extLst>
              <a:ext uri="{FF2B5EF4-FFF2-40B4-BE49-F238E27FC236}">
                <a16:creationId xmlns:a16="http://schemas.microsoft.com/office/drawing/2014/main" id="{EDC322A1-796C-9EBD-B38D-676EFFAE1121}"/>
              </a:ext>
            </a:extLst>
          </p:cNvPr>
          <p:cNvSpPr txBox="1"/>
          <p:nvPr/>
        </p:nvSpPr>
        <p:spPr>
          <a:xfrm>
            <a:off x="548641" y="824851"/>
            <a:ext cx="2834639" cy="276999"/>
          </a:xfrm>
          <a:prstGeom prst="rect">
            <a:avLst/>
          </a:prstGeom>
          <a:noFill/>
        </p:spPr>
        <p:txBody>
          <a:bodyPr wrap="square">
            <a:spAutoFit/>
          </a:bodyPr>
          <a:lstStyle/>
          <a:p>
            <a:r>
              <a:rPr lang="en-US" sz="1200" dirty="0">
                <a:solidFill>
                  <a:schemeClr val="accent4">
                    <a:lumMod val="60000"/>
                    <a:lumOff val="40000"/>
                  </a:schemeClr>
                </a:solidFill>
              </a:rPr>
              <a:t>M A R K E T P O T E N T I A L</a:t>
            </a:r>
          </a:p>
        </p:txBody>
      </p:sp>
      <p:sp>
        <p:nvSpPr>
          <p:cNvPr id="27" name="Rectangle 26"/>
          <p:cNvSpPr/>
          <p:nvPr/>
        </p:nvSpPr>
        <p:spPr>
          <a:xfrm>
            <a:off x="320040" y="1051560"/>
            <a:ext cx="2651760" cy="3794760"/>
          </a:xfrm>
          <a:prstGeom prst="roundRect">
            <a:avLst>
              <a:gd name="adj" fmla="val 16667"/>
            </a:avLst>
          </a:prstGeom>
          <a:solidFill>
            <a:srgbClr val="131E35"/>
          </a:solidFill>
          <a:ln w="1016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4632" y="1377178"/>
            <a:ext cx="2423160" cy="707886"/>
          </a:xfrm>
          <a:prstGeom prst="rect">
            <a:avLst/>
          </a:prstGeom>
          <a:noFill/>
        </p:spPr>
        <p:txBody>
          <a:bodyPr wrap="square">
            <a:spAutoFit/>
          </a:bodyPr>
          <a:lstStyle/>
          <a:p>
            <a:pPr algn="l"/>
            <a:r>
              <a:rPr sz="2000" b="1" i="0" dirty="0">
                <a:solidFill>
                  <a:srgbClr val="00C896"/>
                </a:solidFill>
                <a:latin typeface="Calibri"/>
              </a:rPr>
              <a:t>Academia &amp; Research Labs</a:t>
            </a:r>
          </a:p>
        </p:txBody>
      </p:sp>
      <p:sp>
        <p:nvSpPr>
          <p:cNvPr id="30" name="TextBox 29"/>
          <p:cNvSpPr txBox="1"/>
          <p:nvPr/>
        </p:nvSpPr>
        <p:spPr>
          <a:xfrm>
            <a:off x="484632" y="2057400"/>
            <a:ext cx="2423160" cy="461665"/>
          </a:xfrm>
          <a:prstGeom prst="rect">
            <a:avLst/>
          </a:prstGeom>
          <a:noFill/>
        </p:spPr>
        <p:txBody>
          <a:bodyPr wrap="square">
            <a:spAutoFit/>
          </a:bodyPr>
          <a:lstStyle/>
          <a:p>
            <a:pPr algn="l"/>
            <a:r>
              <a:rPr lang="en-US" sz="1200" i="1" dirty="0">
                <a:solidFill>
                  <a:srgbClr val="8B9CC8"/>
                </a:solidFill>
                <a:latin typeface="Calibri"/>
              </a:rPr>
              <a:t>U</a:t>
            </a:r>
            <a:r>
              <a:rPr sz="1200" b="0" i="1" dirty="0">
                <a:solidFill>
                  <a:srgbClr val="8B9CC8"/>
                </a:solidFill>
                <a:latin typeface="Calibri"/>
              </a:rPr>
              <a:t>niversities in Algeria with FDM printers</a:t>
            </a:r>
          </a:p>
        </p:txBody>
      </p:sp>
      <p:sp>
        <p:nvSpPr>
          <p:cNvPr id="31" name="Rectangle 30"/>
          <p:cNvSpPr/>
          <p:nvPr/>
        </p:nvSpPr>
        <p:spPr>
          <a:xfrm>
            <a:off x="484632" y="2548561"/>
            <a:ext cx="2322576"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2" name="TextBox 31"/>
          <p:cNvSpPr txBox="1"/>
          <p:nvPr/>
        </p:nvSpPr>
        <p:spPr>
          <a:xfrm>
            <a:off x="484632" y="2621713"/>
            <a:ext cx="2423160" cy="646331"/>
          </a:xfrm>
          <a:prstGeom prst="rect">
            <a:avLst/>
          </a:prstGeom>
          <a:noFill/>
        </p:spPr>
        <p:txBody>
          <a:bodyPr wrap="square">
            <a:spAutoFit/>
          </a:bodyPr>
          <a:lstStyle/>
          <a:p>
            <a:pPr algn="l"/>
            <a:r>
              <a:rPr sz="1200" b="0" i="0" dirty="0">
                <a:solidFill>
                  <a:srgbClr val="8B9CC8"/>
                </a:solidFill>
                <a:latin typeface="Calibri"/>
              </a:rPr>
              <a:t>Partner with MESRS to deploy in engineering faculties and maker labs nationwide.</a:t>
            </a:r>
          </a:p>
        </p:txBody>
      </p:sp>
      <p:sp>
        <p:nvSpPr>
          <p:cNvPr id="33" name="Rectangle 32"/>
          <p:cNvSpPr/>
          <p:nvPr/>
        </p:nvSpPr>
        <p:spPr>
          <a:xfrm>
            <a:off x="3291840" y="1051560"/>
            <a:ext cx="2651760" cy="3794760"/>
          </a:xfrm>
          <a:prstGeom prst="roundRect">
            <a:avLst>
              <a:gd name="adj" fmla="val 16667"/>
            </a:avLst>
          </a:prstGeom>
          <a:solidFill>
            <a:srgbClr val="131E35"/>
          </a:solidFill>
          <a:ln w="1016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4" name="TextBox 33"/>
          <p:cNvSpPr txBox="1"/>
          <p:nvPr/>
        </p:nvSpPr>
        <p:spPr>
          <a:xfrm>
            <a:off x="3456432" y="1377955"/>
            <a:ext cx="2423160" cy="400110"/>
          </a:xfrm>
          <a:prstGeom prst="rect">
            <a:avLst/>
          </a:prstGeom>
          <a:noFill/>
        </p:spPr>
        <p:txBody>
          <a:bodyPr wrap="square">
            <a:spAutoFit/>
          </a:bodyPr>
          <a:lstStyle/>
          <a:p>
            <a:pPr algn="l"/>
            <a:r>
              <a:rPr sz="2000" b="1" i="0" dirty="0">
                <a:solidFill>
                  <a:srgbClr val="FF6B35"/>
                </a:solidFill>
                <a:latin typeface="Calibri"/>
              </a:rPr>
              <a:t>Industrial SMEs</a:t>
            </a:r>
          </a:p>
        </p:txBody>
      </p:sp>
      <p:sp>
        <p:nvSpPr>
          <p:cNvPr id="36" name="TextBox 35"/>
          <p:cNvSpPr txBox="1"/>
          <p:nvPr/>
        </p:nvSpPr>
        <p:spPr>
          <a:xfrm>
            <a:off x="3456432" y="2057400"/>
            <a:ext cx="2423160" cy="276999"/>
          </a:xfrm>
          <a:prstGeom prst="rect">
            <a:avLst/>
          </a:prstGeom>
          <a:noFill/>
        </p:spPr>
        <p:txBody>
          <a:bodyPr wrap="square">
            <a:spAutoFit/>
          </a:bodyPr>
          <a:lstStyle/>
          <a:p>
            <a:pPr algn="l"/>
            <a:r>
              <a:rPr sz="1200" b="0" i="1">
                <a:solidFill>
                  <a:srgbClr val="8B9CC8"/>
                </a:solidFill>
                <a:latin typeface="Calibri"/>
              </a:rPr>
              <a:t>SMEs in Algeria using 3D printing</a:t>
            </a:r>
          </a:p>
        </p:txBody>
      </p:sp>
      <p:sp>
        <p:nvSpPr>
          <p:cNvPr id="37" name="Rectangle 36"/>
          <p:cNvSpPr/>
          <p:nvPr/>
        </p:nvSpPr>
        <p:spPr>
          <a:xfrm>
            <a:off x="3456432" y="2548561"/>
            <a:ext cx="2322576"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8" name="TextBox 37"/>
          <p:cNvSpPr txBox="1"/>
          <p:nvPr/>
        </p:nvSpPr>
        <p:spPr>
          <a:xfrm>
            <a:off x="3456432" y="2621713"/>
            <a:ext cx="2423160" cy="830997"/>
          </a:xfrm>
          <a:prstGeom prst="rect">
            <a:avLst/>
          </a:prstGeom>
          <a:noFill/>
        </p:spPr>
        <p:txBody>
          <a:bodyPr wrap="square">
            <a:spAutoFit/>
          </a:bodyPr>
          <a:lstStyle/>
          <a:p>
            <a:pPr algn="l"/>
            <a:r>
              <a:rPr lang="en-US" sz="1200" b="0" i="0" dirty="0">
                <a:solidFill>
                  <a:srgbClr val="8B9CC8"/>
                </a:solidFill>
                <a:latin typeface="Calibri"/>
              </a:rPr>
              <a:t>Provide affordable predictive maintenance to small manufacturers, prototyping shops, and local print farms..</a:t>
            </a:r>
            <a:endParaRPr sz="1200" b="0" i="0" dirty="0">
              <a:solidFill>
                <a:srgbClr val="8B9CC8"/>
              </a:solidFill>
              <a:latin typeface="Calibri"/>
            </a:endParaRPr>
          </a:p>
        </p:txBody>
      </p:sp>
      <p:sp>
        <p:nvSpPr>
          <p:cNvPr id="39" name="Rectangle 38"/>
          <p:cNvSpPr/>
          <p:nvPr/>
        </p:nvSpPr>
        <p:spPr>
          <a:xfrm>
            <a:off x="6263640" y="1051560"/>
            <a:ext cx="2651760" cy="3794760"/>
          </a:xfrm>
          <a:prstGeom prst="roundRect">
            <a:avLst>
              <a:gd name="adj" fmla="val 16667"/>
            </a:avLst>
          </a:prstGeom>
          <a:solidFill>
            <a:srgbClr val="131E35"/>
          </a:solidFill>
          <a:ln w="1016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92240" y="1369568"/>
            <a:ext cx="2423160" cy="400110"/>
          </a:xfrm>
          <a:prstGeom prst="rect">
            <a:avLst/>
          </a:prstGeom>
          <a:noFill/>
        </p:spPr>
        <p:txBody>
          <a:bodyPr wrap="square">
            <a:spAutoFit/>
          </a:bodyPr>
          <a:lstStyle/>
          <a:p>
            <a:pPr algn="l"/>
            <a:r>
              <a:rPr sz="2000" b="1" i="0" dirty="0">
                <a:solidFill>
                  <a:srgbClr val="FFD166"/>
                </a:solidFill>
                <a:latin typeface="Calibri"/>
              </a:rPr>
              <a:t>Regional Expansion</a:t>
            </a:r>
          </a:p>
        </p:txBody>
      </p:sp>
      <p:sp>
        <p:nvSpPr>
          <p:cNvPr id="42" name="TextBox 41"/>
          <p:cNvSpPr txBox="1"/>
          <p:nvPr/>
        </p:nvSpPr>
        <p:spPr>
          <a:xfrm>
            <a:off x="6428231" y="2057400"/>
            <a:ext cx="2423160" cy="276999"/>
          </a:xfrm>
          <a:prstGeom prst="rect">
            <a:avLst/>
          </a:prstGeom>
          <a:noFill/>
        </p:spPr>
        <p:txBody>
          <a:bodyPr wrap="square">
            <a:spAutoFit/>
          </a:bodyPr>
          <a:lstStyle/>
          <a:p>
            <a:pPr algn="l"/>
            <a:r>
              <a:rPr lang="en-US" sz="1200" i="1" dirty="0">
                <a:solidFill>
                  <a:srgbClr val="8B9CC8"/>
                </a:solidFill>
                <a:latin typeface="Calibri"/>
              </a:rPr>
              <a:t>w</a:t>
            </a:r>
            <a:r>
              <a:rPr sz="1200" b="0" i="1" dirty="0">
                <a:solidFill>
                  <a:srgbClr val="8B9CC8"/>
                </a:solidFill>
                <a:latin typeface="Calibri"/>
              </a:rPr>
              <a:t>ilayas targeted in 5 years</a:t>
            </a:r>
          </a:p>
        </p:txBody>
      </p:sp>
      <p:sp>
        <p:nvSpPr>
          <p:cNvPr id="43" name="Rectangle 42"/>
          <p:cNvSpPr/>
          <p:nvPr/>
        </p:nvSpPr>
        <p:spPr>
          <a:xfrm>
            <a:off x="6428231" y="2548561"/>
            <a:ext cx="2322576" cy="18288"/>
          </a:xfrm>
          <a:prstGeom prst="rect">
            <a:avLst/>
          </a:prstGeom>
          <a:solidFill>
            <a:srgbClr val="1E2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4" name="TextBox 43"/>
          <p:cNvSpPr txBox="1"/>
          <p:nvPr/>
        </p:nvSpPr>
        <p:spPr>
          <a:xfrm>
            <a:off x="6428231" y="2621713"/>
            <a:ext cx="2423160" cy="830997"/>
          </a:xfrm>
          <a:prstGeom prst="rect">
            <a:avLst/>
          </a:prstGeom>
          <a:noFill/>
        </p:spPr>
        <p:txBody>
          <a:bodyPr wrap="square">
            <a:spAutoFit/>
          </a:bodyPr>
          <a:lstStyle/>
          <a:p>
            <a:pPr algn="l"/>
            <a:r>
              <a:rPr sz="1200" b="0" i="0" dirty="0">
                <a:solidFill>
                  <a:srgbClr val="8B9CC8"/>
                </a:solidFill>
                <a:latin typeface="Calibri"/>
              </a:rPr>
              <a:t>First 100% Algerian IoT monitoring platform. Scalable to </a:t>
            </a:r>
            <a:r>
              <a:rPr lang="en-US" sz="1200" b="0" i="0" dirty="0">
                <a:solidFill>
                  <a:srgbClr val="8B9CC8"/>
                </a:solidFill>
                <a:latin typeface="Calibri"/>
              </a:rPr>
              <a:t>other technologies</a:t>
            </a:r>
            <a:r>
              <a:rPr sz="1200" b="0" i="0" dirty="0">
                <a:solidFill>
                  <a:srgbClr val="8B9CC8"/>
                </a:solidFill>
                <a:latin typeface="Calibri"/>
              </a:rPr>
              <a:t>, and broader manufacturing equipment.</a:t>
            </a:r>
          </a:p>
        </p:txBody>
      </p:sp>
      <p:sp>
        <p:nvSpPr>
          <p:cNvPr id="45" name="Rectangle 44"/>
          <p:cNvSpPr/>
          <p:nvPr/>
        </p:nvSpPr>
        <p:spPr>
          <a:xfrm>
            <a:off x="320040" y="4773168"/>
            <a:ext cx="8503920" cy="292608"/>
          </a:xfrm>
          <a:prstGeom prst="roundRect">
            <a:avLst>
              <a:gd name="adj" fmla="val 16667"/>
            </a:avLst>
          </a:prstGeom>
          <a:solidFill>
            <a:srgbClr val="0C1A30"/>
          </a:solidFill>
          <a:ln w="635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11480" y="4791456"/>
            <a:ext cx="8321040" cy="237744"/>
          </a:xfrm>
          <a:prstGeom prst="rect">
            <a:avLst/>
          </a:prstGeom>
          <a:noFill/>
        </p:spPr>
        <p:txBody>
          <a:bodyPr wrap="square">
            <a:spAutoFit/>
          </a:bodyPr>
          <a:lstStyle/>
          <a:p>
            <a:pPr algn="ctr"/>
            <a:r>
              <a:rPr sz="900" b="0" i="1">
                <a:solidFill>
                  <a:srgbClr val="FFD166"/>
                </a:solidFill>
                <a:latin typeface="Calibri"/>
              </a:rPr>
              <a:t>Target: launch in Algiers → expand to 58 wilayas in 5 years → become the first Algerian IIoT platform</a:t>
            </a:r>
          </a:p>
        </p:txBody>
      </p:sp>
    </p:spTree>
    <p:extLst>
      <p:ext uri="{BB962C8B-B14F-4D97-AF65-F5344CB8AC3E}">
        <p14:creationId xmlns:p14="http://schemas.microsoft.com/office/powerpoint/2010/main" val="1741604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8EEFD7D4-213D-F1DF-FF56-6C2543C87F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FD8765-F1FD-326C-B038-AFB4B52F0198}"/>
              </a:ext>
            </a:extLst>
          </p:cNvPr>
          <p:cNvSpPr/>
          <p:nvPr/>
        </p:nvSpPr>
        <p:spPr>
          <a:xfrm>
            <a:off x="0" y="914400"/>
            <a:ext cx="9144000" cy="0"/>
          </a:xfrm>
          <a:prstGeom prst="line">
            <a:avLst/>
          </a:prstGeom>
          <a:noFill/>
          <a:ln w="6350">
            <a:solidFill>
              <a:srgbClr val="1A2540"/>
            </a:solidFill>
            <a:prstDash val="solid"/>
          </a:ln>
        </p:spPr>
      </p:sp>
      <p:sp>
        <p:nvSpPr>
          <p:cNvPr id="26" name="Shape 9">
            <a:extLst>
              <a:ext uri="{FF2B5EF4-FFF2-40B4-BE49-F238E27FC236}">
                <a16:creationId xmlns:a16="http://schemas.microsoft.com/office/drawing/2014/main" id="{D8BF4385-1997-5620-B710-F81AACAF9099}"/>
              </a:ext>
            </a:extLst>
          </p:cNvPr>
          <p:cNvSpPr/>
          <p:nvPr/>
        </p:nvSpPr>
        <p:spPr>
          <a:xfrm>
            <a:off x="2377440" y="1645919"/>
            <a:ext cx="4114797" cy="1696722"/>
          </a:xfrm>
          <a:prstGeom prst="roundRect">
            <a:avLst>
              <a:gd name="adj" fmla="val 3871"/>
            </a:avLst>
          </a:prstGeom>
          <a:solidFill>
            <a:srgbClr val="1C3530"/>
          </a:solidFill>
          <a:ln w="12700">
            <a:solidFill>
              <a:srgbClr val="00C896"/>
            </a:solidFill>
            <a:prstDash val="solid"/>
          </a:ln>
        </p:spPr>
      </p:sp>
      <p:sp>
        <p:nvSpPr>
          <p:cNvPr id="3" name="Shape 1">
            <a:extLst>
              <a:ext uri="{FF2B5EF4-FFF2-40B4-BE49-F238E27FC236}">
                <a16:creationId xmlns:a16="http://schemas.microsoft.com/office/drawing/2014/main" id="{4139B045-7EB8-C52F-B86D-FDB91D9D5484}"/>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3A51CB85-B6BA-DEF1-F6D5-4856D9544958}"/>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462F7710-0B98-794C-D69D-E00CC97EEE84}"/>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2E2DD456-20B9-A836-189F-8F49079A950D}"/>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0A8387BF-4162-22A6-2B40-F29D82D8467F}"/>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0F846FEC-290A-4A4B-7170-6801EC1B2560}"/>
              </a:ext>
            </a:extLst>
          </p:cNvPr>
          <p:cNvSpPr/>
          <p:nvPr/>
        </p:nvSpPr>
        <p:spPr>
          <a:xfrm>
            <a:off x="731520" y="0"/>
            <a:ext cx="0" cy="5143500"/>
          </a:xfrm>
          <a:prstGeom prst="line">
            <a:avLst/>
          </a:prstGeom>
          <a:noFill/>
          <a:ln w="6350">
            <a:solidFill>
              <a:srgbClr val="1A2540"/>
            </a:solidFill>
            <a:prstDash val="solid"/>
          </a:ln>
        </p:spPr>
        <p:txBody>
          <a:bodyPr/>
          <a:lstStyle/>
          <a:p>
            <a:endParaRPr lang="en-US" dirty="0"/>
          </a:p>
        </p:txBody>
      </p:sp>
      <p:sp>
        <p:nvSpPr>
          <p:cNvPr id="9" name="Shape 7">
            <a:extLst>
              <a:ext uri="{FF2B5EF4-FFF2-40B4-BE49-F238E27FC236}">
                <a16:creationId xmlns:a16="http://schemas.microsoft.com/office/drawing/2014/main" id="{F62B0E73-721B-8CB8-B1D4-445105EAAEAC}"/>
              </a:ext>
            </a:extLst>
          </p:cNvPr>
          <p:cNvSpPr/>
          <p:nvPr/>
        </p:nvSpPr>
        <p:spPr>
          <a:xfrm>
            <a:off x="1554480" y="0"/>
            <a:ext cx="0" cy="5143500"/>
          </a:xfrm>
          <a:prstGeom prst="line">
            <a:avLst/>
          </a:prstGeom>
          <a:noFill/>
          <a:ln w="6350">
            <a:solidFill>
              <a:srgbClr val="1A2540"/>
            </a:solidFill>
            <a:prstDash val="solid"/>
          </a:ln>
        </p:spPr>
      </p:sp>
      <p:sp>
        <p:nvSpPr>
          <p:cNvPr id="10" name="Shape 8">
            <a:extLst>
              <a:ext uri="{FF2B5EF4-FFF2-40B4-BE49-F238E27FC236}">
                <a16:creationId xmlns:a16="http://schemas.microsoft.com/office/drawing/2014/main" id="{018279A9-64CC-733D-CDCB-F33B9DD0D582}"/>
              </a:ext>
            </a:extLst>
          </p:cNvPr>
          <p:cNvSpPr/>
          <p:nvPr/>
        </p:nvSpPr>
        <p:spPr>
          <a:xfrm>
            <a:off x="2377440" y="0"/>
            <a:ext cx="0" cy="5143500"/>
          </a:xfrm>
          <a:prstGeom prst="line">
            <a:avLst/>
          </a:prstGeom>
          <a:noFill/>
          <a:ln w="6350">
            <a:solidFill>
              <a:srgbClr val="1A2540"/>
            </a:solidFill>
            <a:prstDash val="solid"/>
          </a:ln>
        </p:spPr>
      </p:sp>
      <p:sp>
        <p:nvSpPr>
          <p:cNvPr id="11" name="Shape 9">
            <a:extLst>
              <a:ext uri="{FF2B5EF4-FFF2-40B4-BE49-F238E27FC236}">
                <a16:creationId xmlns:a16="http://schemas.microsoft.com/office/drawing/2014/main" id="{E7F80A43-5948-B72A-A473-DC30853D8396}"/>
              </a:ext>
            </a:extLst>
          </p:cNvPr>
          <p:cNvSpPr/>
          <p:nvPr/>
        </p:nvSpPr>
        <p:spPr>
          <a:xfrm>
            <a:off x="3200400" y="0"/>
            <a:ext cx="0" cy="5143500"/>
          </a:xfrm>
          <a:prstGeom prst="line">
            <a:avLst/>
          </a:prstGeom>
          <a:noFill/>
          <a:ln w="6350">
            <a:solidFill>
              <a:srgbClr val="1A2540"/>
            </a:solidFill>
            <a:prstDash val="solid"/>
          </a:ln>
        </p:spPr>
      </p:sp>
      <p:sp>
        <p:nvSpPr>
          <p:cNvPr id="12" name="Shape 10">
            <a:extLst>
              <a:ext uri="{FF2B5EF4-FFF2-40B4-BE49-F238E27FC236}">
                <a16:creationId xmlns:a16="http://schemas.microsoft.com/office/drawing/2014/main" id="{B1E0F6A2-41AB-07DF-60A0-9F84F46A7BF4}"/>
              </a:ext>
            </a:extLst>
          </p:cNvPr>
          <p:cNvSpPr/>
          <p:nvPr/>
        </p:nvSpPr>
        <p:spPr>
          <a:xfrm>
            <a:off x="4023360" y="0"/>
            <a:ext cx="0" cy="5143500"/>
          </a:xfrm>
          <a:prstGeom prst="line">
            <a:avLst/>
          </a:prstGeom>
          <a:noFill/>
          <a:ln w="6350">
            <a:solidFill>
              <a:srgbClr val="1A2540"/>
            </a:solidFill>
            <a:prstDash val="solid"/>
          </a:ln>
        </p:spPr>
      </p:sp>
      <p:sp>
        <p:nvSpPr>
          <p:cNvPr id="13" name="Shape 11">
            <a:extLst>
              <a:ext uri="{FF2B5EF4-FFF2-40B4-BE49-F238E27FC236}">
                <a16:creationId xmlns:a16="http://schemas.microsoft.com/office/drawing/2014/main" id="{2EC0A9C6-5775-A177-6116-78741A73372C}"/>
              </a:ext>
            </a:extLst>
          </p:cNvPr>
          <p:cNvSpPr/>
          <p:nvPr/>
        </p:nvSpPr>
        <p:spPr>
          <a:xfrm>
            <a:off x="4846320" y="0"/>
            <a:ext cx="0" cy="5143500"/>
          </a:xfrm>
          <a:prstGeom prst="line">
            <a:avLst/>
          </a:prstGeom>
          <a:noFill/>
          <a:ln w="6350">
            <a:solidFill>
              <a:srgbClr val="1A2540"/>
            </a:solidFill>
            <a:prstDash val="solid"/>
          </a:ln>
        </p:spPr>
      </p:sp>
      <p:sp>
        <p:nvSpPr>
          <p:cNvPr id="14" name="Shape 12">
            <a:extLst>
              <a:ext uri="{FF2B5EF4-FFF2-40B4-BE49-F238E27FC236}">
                <a16:creationId xmlns:a16="http://schemas.microsoft.com/office/drawing/2014/main" id="{84DE7AD7-ADC8-4CB0-D1D2-7CAE978613D2}"/>
              </a:ext>
            </a:extLst>
          </p:cNvPr>
          <p:cNvSpPr/>
          <p:nvPr/>
        </p:nvSpPr>
        <p:spPr>
          <a:xfrm>
            <a:off x="5669280" y="0"/>
            <a:ext cx="0" cy="5143500"/>
          </a:xfrm>
          <a:prstGeom prst="line">
            <a:avLst/>
          </a:prstGeom>
          <a:noFill/>
          <a:ln w="6350">
            <a:solidFill>
              <a:srgbClr val="1A2540"/>
            </a:solidFill>
            <a:prstDash val="solid"/>
          </a:ln>
        </p:spPr>
      </p:sp>
      <p:sp>
        <p:nvSpPr>
          <p:cNvPr id="15" name="Shape 13">
            <a:extLst>
              <a:ext uri="{FF2B5EF4-FFF2-40B4-BE49-F238E27FC236}">
                <a16:creationId xmlns:a16="http://schemas.microsoft.com/office/drawing/2014/main" id="{3662E723-7B4E-71E7-D33A-B624C5A154E0}"/>
              </a:ext>
            </a:extLst>
          </p:cNvPr>
          <p:cNvSpPr/>
          <p:nvPr/>
        </p:nvSpPr>
        <p:spPr>
          <a:xfrm>
            <a:off x="6492240" y="0"/>
            <a:ext cx="0" cy="5143500"/>
          </a:xfrm>
          <a:prstGeom prst="line">
            <a:avLst/>
          </a:prstGeom>
          <a:noFill/>
          <a:ln w="6350">
            <a:solidFill>
              <a:srgbClr val="1A2540"/>
            </a:solidFill>
            <a:prstDash val="solid"/>
          </a:ln>
        </p:spPr>
      </p:sp>
      <p:sp>
        <p:nvSpPr>
          <p:cNvPr id="16" name="Shape 14">
            <a:extLst>
              <a:ext uri="{FF2B5EF4-FFF2-40B4-BE49-F238E27FC236}">
                <a16:creationId xmlns:a16="http://schemas.microsoft.com/office/drawing/2014/main" id="{C143C8F4-D076-6B0C-2BB6-4140DC099E05}"/>
              </a:ext>
            </a:extLst>
          </p:cNvPr>
          <p:cNvSpPr/>
          <p:nvPr/>
        </p:nvSpPr>
        <p:spPr>
          <a:xfrm>
            <a:off x="7315200" y="0"/>
            <a:ext cx="0" cy="5143500"/>
          </a:xfrm>
          <a:prstGeom prst="line">
            <a:avLst/>
          </a:prstGeom>
          <a:noFill/>
          <a:ln w="6350">
            <a:solidFill>
              <a:srgbClr val="1A2540"/>
            </a:solidFill>
            <a:prstDash val="solid"/>
          </a:ln>
        </p:spPr>
      </p:sp>
      <p:sp>
        <p:nvSpPr>
          <p:cNvPr id="17" name="Shape 15">
            <a:extLst>
              <a:ext uri="{FF2B5EF4-FFF2-40B4-BE49-F238E27FC236}">
                <a16:creationId xmlns:a16="http://schemas.microsoft.com/office/drawing/2014/main" id="{50458EB8-F755-DCD9-360A-57E95222B684}"/>
              </a:ext>
            </a:extLst>
          </p:cNvPr>
          <p:cNvSpPr/>
          <p:nvPr/>
        </p:nvSpPr>
        <p:spPr>
          <a:xfrm>
            <a:off x="8138160" y="0"/>
            <a:ext cx="0" cy="5143500"/>
          </a:xfrm>
          <a:prstGeom prst="line">
            <a:avLst/>
          </a:prstGeom>
          <a:noFill/>
          <a:ln w="6350">
            <a:solidFill>
              <a:srgbClr val="1A2540"/>
            </a:solidFill>
            <a:prstDash val="solid"/>
          </a:ln>
        </p:spPr>
      </p:sp>
      <p:sp>
        <p:nvSpPr>
          <p:cNvPr id="18" name="Shape 16">
            <a:extLst>
              <a:ext uri="{FF2B5EF4-FFF2-40B4-BE49-F238E27FC236}">
                <a16:creationId xmlns:a16="http://schemas.microsoft.com/office/drawing/2014/main" id="{8C90B75E-8AD3-350F-7C9E-F95F93933857}"/>
              </a:ext>
            </a:extLst>
          </p:cNvPr>
          <p:cNvSpPr/>
          <p:nvPr/>
        </p:nvSpPr>
        <p:spPr>
          <a:xfrm>
            <a:off x="3200400" y="-1828800"/>
            <a:ext cx="6400800" cy="6400800"/>
          </a:xfrm>
          <a:prstGeom prst="ellipse">
            <a:avLst/>
          </a:prstGeom>
          <a:solidFill>
            <a:srgbClr val="00C896">
              <a:alpha val="8000"/>
            </a:srgbClr>
          </a:solidFill>
          <a:ln/>
        </p:spPr>
      </p:sp>
      <p:sp>
        <p:nvSpPr>
          <p:cNvPr id="19" name="Shape 17">
            <a:extLst>
              <a:ext uri="{FF2B5EF4-FFF2-40B4-BE49-F238E27FC236}">
                <a16:creationId xmlns:a16="http://schemas.microsoft.com/office/drawing/2014/main" id="{543AF51B-BC79-D977-B1F9-E0AEC38E3968}"/>
              </a:ext>
            </a:extLst>
          </p:cNvPr>
          <p:cNvSpPr/>
          <p:nvPr/>
        </p:nvSpPr>
        <p:spPr>
          <a:xfrm>
            <a:off x="5486400" y="2743200"/>
            <a:ext cx="5486400" cy="5486400"/>
          </a:xfrm>
          <a:prstGeom prst="ellipse">
            <a:avLst/>
          </a:prstGeom>
          <a:solidFill>
            <a:srgbClr val="0050FF">
              <a:alpha val="8000"/>
            </a:srgbClr>
          </a:solidFill>
          <a:ln/>
        </p:spPr>
      </p:sp>
      <p:sp>
        <p:nvSpPr>
          <p:cNvPr id="20" name="Shape 18">
            <a:extLst>
              <a:ext uri="{FF2B5EF4-FFF2-40B4-BE49-F238E27FC236}">
                <a16:creationId xmlns:a16="http://schemas.microsoft.com/office/drawing/2014/main" id="{639F3A1F-AD68-834F-5787-D44076C3A106}"/>
              </a:ext>
            </a:extLst>
          </p:cNvPr>
          <p:cNvSpPr/>
          <p:nvPr/>
        </p:nvSpPr>
        <p:spPr>
          <a:xfrm>
            <a:off x="274320" y="274320"/>
            <a:ext cx="274320" cy="0"/>
          </a:xfrm>
          <a:prstGeom prst="line">
            <a:avLst/>
          </a:prstGeom>
          <a:noFill/>
          <a:ln w="19050">
            <a:solidFill>
              <a:srgbClr val="00C896"/>
            </a:solidFill>
            <a:prstDash val="solid"/>
          </a:ln>
        </p:spPr>
      </p:sp>
      <p:sp>
        <p:nvSpPr>
          <p:cNvPr id="21" name="Shape 19">
            <a:extLst>
              <a:ext uri="{FF2B5EF4-FFF2-40B4-BE49-F238E27FC236}">
                <a16:creationId xmlns:a16="http://schemas.microsoft.com/office/drawing/2014/main" id="{05168D20-278F-EE90-C9EA-E994EB364F20}"/>
              </a:ext>
            </a:extLst>
          </p:cNvPr>
          <p:cNvSpPr/>
          <p:nvPr/>
        </p:nvSpPr>
        <p:spPr>
          <a:xfrm>
            <a:off x="274320" y="274320"/>
            <a:ext cx="0" cy="274320"/>
          </a:xfrm>
          <a:prstGeom prst="line">
            <a:avLst/>
          </a:prstGeom>
          <a:noFill/>
          <a:ln w="19050">
            <a:solidFill>
              <a:srgbClr val="00C896"/>
            </a:solidFill>
            <a:prstDash val="solid"/>
          </a:ln>
        </p:spPr>
      </p:sp>
      <p:sp>
        <p:nvSpPr>
          <p:cNvPr id="22" name="Shape 20">
            <a:extLst>
              <a:ext uri="{FF2B5EF4-FFF2-40B4-BE49-F238E27FC236}">
                <a16:creationId xmlns:a16="http://schemas.microsoft.com/office/drawing/2014/main" id="{0B3A5B69-913B-D691-7438-CC32D77FB49C}"/>
              </a:ext>
            </a:extLst>
          </p:cNvPr>
          <p:cNvSpPr/>
          <p:nvPr/>
        </p:nvSpPr>
        <p:spPr>
          <a:xfrm>
            <a:off x="8595360" y="4594860"/>
            <a:ext cx="274320" cy="0"/>
          </a:xfrm>
          <a:prstGeom prst="line">
            <a:avLst/>
          </a:prstGeom>
          <a:noFill/>
          <a:ln w="19050">
            <a:solidFill>
              <a:srgbClr val="00C896"/>
            </a:solidFill>
            <a:prstDash val="solid"/>
          </a:ln>
        </p:spPr>
      </p:sp>
      <p:sp>
        <p:nvSpPr>
          <p:cNvPr id="23" name="Shape 21">
            <a:extLst>
              <a:ext uri="{FF2B5EF4-FFF2-40B4-BE49-F238E27FC236}">
                <a16:creationId xmlns:a16="http://schemas.microsoft.com/office/drawing/2014/main" id="{61EC3D0A-12EB-869E-3960-CADED9EFD53D}"/>
              </a:ext>
            </a:extLst>
          </p:cNvPr>
          <p:cNvSpPr/>
          <p:nvPr/>
        </p:nvSpPr>
        <p:spPr>
          <a:xfrm>
            <a:off x="8869680" y="4480560"/>
            <a:ext cx="0" cy="274320"/>
          </a:xfrm>
          <a:prstGeom prst="line">
            <a:avLst/>
          </a:prstGeom>
          <a:noFill/>
          <a:ln w="19050">
            <a:solidFill>
              <a:srgbClr val="00C896"/>
            </a:solidFill>
            <a:prstDash val="solid"/>
          </a:ln>
        </p:spPr>
      </p:sp>
      <p:sp>
        <p:nvSpPr>
          <p:cNvPr id="25" name="Text 8">
            <a:extLst>
              <a:ext uri="{FF2B5EF4-FFF2-40B4-BE49-F238E27FC236}">
                <a16:creationId xmlns:a16="http://schemas.microsoft.com/office/drawing/2014/main" id="{B33B121C-E523-68A8-28D5-06C1459428D3}"/>
              </a:ext>
            </a:extLst>
          </p:cNvPr>
          <p:cNvSpPr/>
          <p:nvPr/>
        </p:nvSpPr>
        <p:spPr>
          <a:xfrm>
            <a:off x="2738118" y="2240280"/>
            <a:ext cx="339344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Several Screenshots</a:t>
            </a:r>
            <a:endParaRPr lang="en-US" sz="2800" dirty="0"/>
          </a:p>
        </p:txBody>
      </p:sp>
      <p:sp>
        <p:nvSpPr>
          <p:cNvPr id="29" name="ZoneTexte 28">
            <a:extLst>
              <a:ext uri="{FF2B5EF4-FFF2-40B4-BE49-F238E27FC236}">
                <a16:creationId xmlns:a16="http://schemas.microsoft.com/office/drawing/2014/main" id="{D62398A0-928F-A2BE-8E41-A7FA608542C2}"/>
              </a:ext>
            </a:extLst>
          </p:cNvPr>
          <p:cNvSpPr txBox="1"/>
          <p:nvPr/>
        </p:nvSpPr>
        <p:spPr>
          <a:xfrm>
            <a:off x="3712465" y="2743200"/>
            <a:ext cx="1414271" cy="276999"/>
          </a:xfrm>
          <a:prstGeom prst="rect">
            <a:avLst/>
          </a:prstGeom>
          <a:noFill/>
        </p:spPr>
        <p:txBody>
          <a:bodyPr wrap="square">
            <a:spAutoFit/>
          </a:bodyPr>
          <a:lstStyle/>
          <a:p>
            <a:r>
              <a:rPr lang="en-US" sz="1200" b="1" dirty="0">
                <a:solidFill>
                  <a:srgbClr val="FFD166"/>
                </a:solidFill>
                <a:latin typeface="Calibri" pitchFamily="34" charset="0"/>
                <a:ea typeface="Calibri" pitchFamily="34" charset="-122"/>
                <a:cs typeface="Calibri" pitchFamily="34" charset="-120"/>
              </a:rPr>
              <a:t>USER APPLICATION</a:t>
            </a:r>
            <a:endParaRPr lang="en-US" sz="1200" dirty="0"/>
          </a:p>
        </p:txBody>
      </p:sp>
    </p:spTree>
    <p:extLst>
      <p:ext uri="{BB962C8B-B14F-4D97-AF65-F5344CB8AC3E}">
        <p14:creationId xmlns:p14="http://schemas.microsoft.com/office/powerpoint/2010/main" val="2632700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914400"/>
            <a:ext cx="9144000" cy="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sp>
      <p:sp>
        <p:nvSpPr>
          <p:cNvPr id="4" name="Shape 2"/>
          <p:cNvSpPr/>
          <p:nvPr/>
        </p:nvSpPr>
        <p:spPr>
          <a:xfrm>
            <a:off x="0" y="2377440"/>
            <a:ext cx="9144000" cy="0"/>
          </a:xfrm>
          <a:prstGeom prst="line">
            <a:avLst/>
          </a:prstGeom>
          <a:noFill/>
          <a:ln w="6350">
            <a:solidFill>
              <a:srgbClr val="1A2540"/>
            </a:solidFill>
            <a:prstDash val="solid"/>
          </a:ln>
        </p:spPr>
      </p:sp>
      <p:sp>
        <p:nvSpPr>
          <p:cNvPr id="5" name="Shape 3"/>
          <p:cNvSpPr/>
          <p:nvPr/>
        </p:nvSpPr>
        <p:spPr>
          <a:xfrm>
            <a:off x="0" y="3108960"/>
            <a:ext cx="9144000" cy="0"/>
          </a:xfrm>
          <a:prstGeom prst="line">
            <a:avLst/>
          </a:prstGeom>
          <a:noFill/>
          <a:ln w="6350">
            <a:solidFill>
              <a:srgbClr val="1A2540"/>
            </a:solidFill>
            <a:prstDash val="solid"/>
          </a:ln>
        </p:spPr>
      </p:sp>
      <p:sp>
        <p:nvSpPr>
          <p:cNvPr id="6" name="Shape 4"/>
          <p:cNvSpPr/>
          <p:nvPr/>
        </p:nvSpPr>
        <p:spPr>
          <a:xfrm>
            <a:off x="0" y="3840480"/>
            <a:ext cx="9144000" cy="0"/>
          </a:xfrm>
          <a:prstGeom prst="line">
            <a:avLst/>
          </a:prstGeom>
          <a:noFill/>
          <a:ln w="6350">
            <a:solidFill>
              <a:srgbClr val="1A2540"/>
            </a:solidFill>
            <a:prstDash val="solid"/>
          </a:ln>
        </p:spPr>
      </p:sp>
      <p:sp>
        <p:nvSpPr>
          <p:cNvPr id="7" name="Shape 5"/>
          <p:cNvSpPr/>
          <p:nvPr/>
        </p:nvSpPr>
        <p:spPr>
          <a:xfrm>
            <a:off x="0" y="4572000"/>
            <a:ext cx="9144000" cy="0"/>
          </a:xfrm>
          <a:prstGeom prst="line">
            <a:avLst/>
          </a:prstGeom>
          <a:noFill/>
          <a:ln w="6350">
            <a:solidFill>
              <a:srgbClr val="1A2540"/>
            </a:solidFill>
            <a:prstDash val="solid"/>
          </a:ln>
        </p:spPr>
      </p:sp>
      <p:sp>
        <p:nvSpPr>
          <p:cNvPr id="8" name="Text 6"/>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10 — SCREENSHOTS</a:t>
            </a:r>
            <a:endParaRPr lang="en-US" sz="900" dirty="0"/>
          </a:p>
        </p:txBody>
      </p:sp>
      <p:sp>
        <p:nvSpPr>
          <p:cNvPr id="9" name="Text 7"/>
          <p:cNvSpPr/>
          <p:nvPr/>
        </p:nvSpPr>
        <p:spPr>
          <a:xfrm>
            <a:off x="457200" y="384048"/>
            <a:ext cx="8229600" cy="502920"/>
          </a:xfrm>
          <a:prstGeom prst="rect">
            <a:avLst/>
          </a:prstGeom>
          <a:noFill/>
          <a:ln/>
        </p:spPr>
        <p:txBody>
          <a:bodyPr wrap="square" lIns="0" tIns="0" rIns="0" bIns="0" rtlCol="0" anchor="ctr"/>
          <a:lstStyle/>
          <a:p>
            <a:r>
              <a:rPr lang="en-US" sz="2600" b="1" dirty="0">
                <a:solidFill>
                  <a:srgbClr val="FFFFFF"/>
                </a:solidFill>
                <a:latin typeface="Cambria" pitchFamily="34" charset="0"/>
                <a:ea typeface="Cambria" pitchFamily="34" charset="-122"/>
                <a:cs typeface="Cambria" pitchFamily="34" charset="-120"/>
              </a:rPr>
              <a:t>Real-Time 3D Digital Twin Web Dashboard </a:t>
            </a:r>
            <a:endParaRPr lang="en-US" sz="2600" dirty="0"/>
          </a:p>
        </p:txBody>
      </p:sp>
      <p:sp>
        <p:nvSpPr>
          <p:cNvPr id="10" name="Shape 8"/>
          <p:cNvSpPr/>
          <p:nvPr/>
        </p:nvSpPr>
        <p:spPr>
          <a:xfrm>
            <a:off x="365760" y="1005840"/>
            <a:ext cx="8412480" cy="3657600"/>
          </a:xfrm>
          <a:prstGeom prst="roundRect">
            <a:avLst>
              <a:gd name="adj" fmla="val 2500"/>
            </a:avLst>
          </a:prstGeom>
          <a:solidFill>
            <a:srgbClr val="060810"/>
          </a:solidFill>
          <a:ln w="10160">
            <a:solidFill>
              <a:srgbClr val="00C896"/>
            </a:solidFill>
            <a:prstDash val="solid"/>
          </a:ln>
          <a:effectLst>
            <a:outerShdw blurRad="101600" dist="38100" dir="2700000" algn="bl" rotWithShape="0">
              <a:srgbClr val="000000">
                <a:alpha val="30000"/>
              </a:srgbClr>
            </a:outerShdw>
          </a:effectLst>
        </p:spPr>
      </p:sp>
      <p:pic>
        <p:nvPicPr>
          <p:cNvPr id="11" name="Image 0" descr="preencoded.png"/>
          <p:cNvPicPr>
            <a:picLocks noChangeAspect="1"/>
          </p:cNvPicPr>
          <p:nvPr/>
        </p:nvPicPr>
        <p:blipFill>
          <a:blip r:embed="rId3"/>
          <a:stretch>
            <a:fillRect/>
          </a:stretch>
        </p:blipFill>
        <p:spPr>
          <a:xfrm>
            <a:off x="457200" y="1051560"/>
            <a:ext cx="8229600" cy="3566160"/>
          </a:xfrm>
          <a:prstGeom prst="rect">
            <a:avLst/>
          </a:prstGeom>
        </p:spPr>
      </p:pic>
      <p:sp>
        <p:nvSpPr>
          <p:cNvPr id="12" name="Text 9"/>
          <p:cNvSpPr/>
          <p:nvPr/>
        </p:nvSpPr>
        <p:spPr>
          <a:xfrm>
            <a:off x="502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 Printer Control Panel</a:t>
            </a:r>
            <a:endParaRPr lang="en-US" sz="900" dirty="0"/>
          </a:p>
        </p:txBody>
      </p:sp>
      <p:sp>
        <p:nvSpPr>
          <p:cNvPr id="13" name="Text 10"/>
          <p:cNvSpPr/>
          <p:nvPr/>
        </p:nvSpPr>
        <p:spPr>
          <a:xfrm>
            <a:off x="292608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Live 3D Twin Model ▲</a:t>
            </a:r>
            <a:endParaRPr lang="en-US" sz="900" dirty="0"/>
          </a:p>
        </p:txBody>
      </p:sp>
      <p:sp>
        <p:nvSpPr>
          <p:cNvPr id="14" name="Text 11"/>
          <p:cNvSpPr/>
          <p:nvPr/>
        </p:nvSpPr>
        <p:spPr>
          <a:xfrm>
            <a:off x="6217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AI Health Rail ▶</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26F1CFC0-C397-F9D3-F068-AABEF13FBD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697EDEF-7633-21FB-1E56-4644CBA94790}"/>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28BF536C-84B8-023A-BF50-F84B7BFCE0A6}"/>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20BAF8AD-F4F9-7354-1EAA-443E8E813B6A}"/>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7703CCFD-7F88-E7C4-5665-314F26EC0CE3}"/>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9B44CBA7-2601-4691-FEB1-0997EACB6C3C}"/>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7D428A9C-287D-0DDC-D28E-3428435EE712}"/>
              </a:ext>
            </a:extLst>
          </p:cNvPr>
          <p:cNvSpPr/>
          <p:nvPr/>
        </p:nvSpPr>
        <p:spPr>
          <a:xfrm>
            <a:off x="0" y="4572000"/>
            <a:ext cx="9144000" cy="0"/>
          </a:xfrm>
          <a:prstGeom prst="line">
            <a:avLst/>
          </a:prstGeom>
          <a:noFill/>
          <a:ln w="6350">
            <a:solidFill>
              <a:srgbClr val="1A2540"/>
            </a:solidFill>
            <a:prstDash val="solid"/>
          </a:ln>
        </p:spPr>
      </p:sp>
      <p:sp>
        <p:nvSpPr>
          <p:cNvPr id="8" name="Text 6">
            <a:extLst>
              <a:ext uri="{FF2B5EF4-FFF2-40B4-BE49-F238E27FC236}">
                <a16:creationId xmlns:a16="http://schemas.microsoft.com/office/drawing/2014/main" id="{A0D15549-9D96-4D89-717A-253AA4F3473D}"/>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10 — SCREENSHOTS</a:t>
            </a:r>
            <a:endParaRPr lang="en-US" sz="900" dirty="0"/>
          </a:p>
        </p:txBody>
      </p:sp>
      <p:sp>
        <p:nvSpPr>
          <p:cNvPr id="9" name="Text 7">
            <a:extLst>
              <a:ext uri="{FF2B5EF4-FFF2-40B4-BE49-F238E27FC236}">
                <a16:creationId xmlns:a16="http://schemas.microsoft.com/office/drawing/2014/main" id="{9BC296E1-A71C-AA09-82CB-3DC60C33659B}"/>
              </a:ext>
            </a:extLst>
          </p:cNvPr>
          <p:cNvSpPr/>
          <p:nvPr/>
        </p:nvSpPr>
        <p:spPr>
          <a:xfrm>
            <a:off x="457200" y="384048"/>
            <a:ext cx="8229600" cy="502920"/>
          </a:xfrm>
          <a:prstGeom prst="rect">
            <a:avLst/>
          </a:prstGeom>
          <a:noFill/>
          <a:ln/>
        </p:spPr>
        <p:txBody>
          <a:bodyPr wrap="square" lIns="0" tIns="0" rIns="0" bIns="0" rtlCol="0" anchor="ctr"/>
          <a:lstStyle/>
          <a:p>
            <a:r>
              <a:rPr lang="en-US" sz="2600" b="1" dirty="0">
                <a:solidFill>
                  <a:srgbClr val="FFFFFF"/>
                </a:solidFill>
                <a:latin typeface="Cambria" pitchFamily="34" charset="0"/>
                <a:ea typeface="Cambria" pitchFamily="34" charset="-122"/>
                <a:cs typeface="Cambria" pitchFamily="34" charset="-120"/>
              </a:rPr>
              <a:t>Real-Time 3D Digital Twin Web Dashboard </a:t>
            </a:r>
            <a:endParaRPr lang="en-US" sz="2600" dirty="0"/>
          </a:p>
        </p:txBody>
      </p:sp>
      <p:sp>
        <p:nvSpPr>
          <p:cNvPr id="10" name="Shape 8">
            <a:extLst>
              <a:ext uri="{FF2B5EF4-FFF2-40B4-BE49-F238E27FC236}">
                <a16:creationId xmlns:a16="http://schemas.microsoft.com/office/drawing/2014/main" id="{5C20453C-FF00-CD3F-BAD3-F5F23D61254A}"/>
              </a:ext>
            </a:extLst>
          </p:cNvPr>
          <p:cNvSpPr/>
          <p:nvPr/>
        </p:nvSpPr>
        <p:spPr>
          <a:xfrm>
            <a:off x="365760" y="1005840"/>
            <a:ext cx="8412480" cy="3657600"/>
          </a:xfrm>
          <a:prstGeom prst="roundRect">
            <a:avLst>
              <a:gd name="adj" fmla="val 2500"/>
            </a:avLst>
          </a:prstGeom>
          <a:solidFill>
            <a:srgbClr val="060810"/>
          </a:solidFill>
          <a:ln w="10160">
            <a:solidFill>
              <a:srgbClr val="00C896"/>
            </a:solidFill>
            <a:prstDash val="solid"/>
          </a:ln>
          <a:effectLst>
            <a:outerShdw blurRad="101600" dist="38100" dir="2700000" algn="bl" rotWithShape="0">
              <a:srgbClr val="000000">
                <a:alpha val="30000"/>
              </a:srgbClr>
            </a:outerShdw>
          </a:effectLst>
        </p:spPr>
      </p:sp>
      <p:pic>
        <p:nvPicPr>
          <p:cNvPr id="11" name="Image 0" descr="preencoded.png">
            <a:extLst>
              <a:ext uri="{FF2B5EF4-FFF2-40B4-BE49-F238E27FC236}">
                <a16:creationId xmlns:a16="http://schemas.microsoft.com/office/drawing/2014/main" id="{4FA8636C-26EB-ADFE-B1B7-AF3AC5494B47}"/>
              </a:ext>
            </a:extLst>
          </p:cNvPr>
          <p:cNvPicPr>
            <a:picLocks noChangeAspect="1"/>
          </p:cNvPicPr>
          <p:nvPr/>
        </p:nvPicPr>
        <p:blipFill>
          <a:blip r:embed="rId3"/>
          <a:stretch>
            <a:fillRect/>
          </a:stretch>
        </p:blipFill>
        <p:spPr>
          <a:xfrm>
            <a:off x="457200" y="1051560"/>
            <a:ext cx="8229600" cy="3566160"/>
          </a:xfrm>
          <a:prstGeom prst="rect">
            <a:avLst/>
          </a:prstGeom>
        </p:spPr>
      </p:pic>
      <p:sp>
        <p:nvSpPr>
          <p:cNvPr id="12" name="Text 9">
            <a:extLst>
              <a:ext uri="{FF2B5EF4-FFF2-40B4-BE49-F238E27FC236}">
                <a16:creationId xmlns:a16="http://schemas.microsoft.com/office/drawing/2014/main" id="{22FD8387-B2AE-4A24-61B6-DF86A4950D18}"/>
              </a:ext>
            </a:extLst>
          </p:cNvPr>
          <p:cNvSpPr/>
          <p:nvPr/>
        </p:nvSpPr>
        <p:spPr>
          <a:xfrm>
            <a:off x="502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 Printer Control Panel</a:t>
            </a:r>
            <a:endParaRPr lang="en-US" sz="900" dirty="0"/>
          </a:p>
        </p:txBody>
      </p:sp>
      <p:sp>
        <p:nvSpPr>
          <p:cNvPr id="13" name="Text 10">
            <a:extLst>
              <a:ext uri="{FF2B5EF4-FFF2-40B4-BE49-F238E27FC236}">
                <a16:creationId xmlns:a16="http://schemas.microsoft.com/office/drawing/2014/main" id="{729F1CF6-2B5C-D63E-C4E8-602A75E968C9}"/>
              </a:ext>
            </a:extLst>
          </p:cNvPr>
          <p:cNvSpPr/>
          <p:nvPr/>
        </p:nvSpPr>
        <p:spPr>
          <a:xfrm>
            <a:off x="292608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Live 3D Twin Model ▲</a:t>
            </a:r>
            <a:endParaRPr lang="en-US" sz="900" dirty="0"/>
          </a:p>
        </p:txBody>
      </p:sp>
      <p:sp>
        <p:nvSpPr>
          <p:cNvPr id="14" name="Text 11">
            <a:extLst>
              <a:ext uri="{FF2B5EF4-FFF2-40B4-BE49-F238E27FC236}">
                <a16:creationId xmlns:a16="http://schemas.microsoft.com/office/drawing/2014/main" id="{C913D2BF-2379-6FEE-B1F6-3EA157D517E3}"/>
              </a:ext>
            </a:extLst>
          </p:cNvPr>
          <p:cNvSpPr/>
          <p:nvPr/>
        </p:nvSpPr>
        <p:spPr>
          <a:xfrm>
            <a:off x="6217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AI Health Rail ▶</a:t>
            </a:r>
            <a:endParaRPr lang="en-US" sz="900" dirty="0"/>
          </a:p>
        </p:txBody>
      </p:sp>
      <p:sp>
        <p:nvSpPr>
          <p:cNvPr id="15" name="Shape 13">
            <a:extLst>
              <a:ext uri="{FF2B5EF4-FFF2-40B4-BE49-F238E27FC236}">
                <a16:creationId xmlns:a16="http://schemas.microsoft.com/office/drawing/2014/main" id="{1FDE8745-9802-75D5-5E91-901022551576}"/>
              </a:ext>
            </a:extLst>
          </p:cNvPr>
          <p:cNvSpPr/>
          <p:nvPr/>
        </p:nvSpPr>
        <p:spPr>
          <a:xfrm>
            <a:off x="2651760" y="1266444"/>
            <a:ext cx="1920240" cy="1805940"/>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Printer Control Panel</a:t>
            </a:r>
          </a:p>
          <a:p>
            <a:r>
              <a:rPr lang="en-US" sz="1400" dirty="0">
                <a:solidFill>
                  <a:srgbClr val="DFE0E3"/>
                </a:solidFill>
              </a:rPr>
              <a:t>Start, stop, or upload a print. Monitor progress, estimated time, and filament usage</a:t>
            </a:r>
          </a:p>
        </p:txBody>
      </p:sp>
      <p:cxnSp>
        <p:nvCxnSpPr>
          <p:cNvPr id="17" name="Connecteur : en angle 16">
            <a:extLst>
              <a:ext uri="{FF2B5EF4-FFF2-40B4-BE49-F238E27FC236}">
                <a16:creationId xmlns:a16="http://schemas.microsoft.com/office/drawing/2014/main" id="{E847CDD6-73A2-48DF-49BD-7B66A97F17E5}"/>
              </a:ext>
            </a:extLst>
          </p:cNvPr>
          <p:cNvCxnSpPr>
            <a:stCxn id="15" idx="1"/>
          </p:cNvCxnSpPr>
          <p:nvPr/>
        </p:nvCxnSpPr>
        <p:spPr>
          <a:xfrm rot="10800000" flipV="1">
            <a:off x="2174240" y="2169414"/>
            <a:ext cx="477520" cy="402336"/>
          </a:xfrm>
          <a:prstGeom prst="bentConnector3">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sp>
        <p:nvSpPr>
          <p:cNvPr id="19" name="Shape 13">
            <a:extLst>
              <a:ext uri="{FF2B5EF4-FFF2-40B4-BE49-F238E27FC236}">
                <a16:creationId xmlns:a16="http://schemas.microsoft.com/office/drawing/2014/main" id="{FCD375B7-4FB1-AA2D-8E80-2BA1F3316811}"/>
              </a:ext>
            </a:extLst>
          </p:cNvPr>
          <p:cNvSpPr/>
          <p:nvPr/>
        </p:nvSpPr>
        <p:spPr>
          <a:xfrm>
            <a:off x="6446520" y="1810512"/>
            <a:ext cx="1920240" cy="1298448"/>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Print Status</a:t>
            </a:r>
          </a:p>
          <a:p>
            <a:r>
              <a:rPr lang="en-US" sz="1400" dirty="0">
                <a:solidFill>
                  <a:srgbClr val="DFE0E3"/>
                </a:solidFill>
              </a:rPr>
              <a:t>Current and total layers</a:t>
            </a:r>
          </a:p>
          <a:p>
            <a:r>
              <a:rPr lang="en-US" sz="1400" dirty="0">
                <a:solidFill>
                  <a:srgbClr val="DFE0E3"/>
                </a:solidFill>
              </a:rPr>
              <a:t>Real-time print speed</a:t>
            </a:r>
          </a:p>
          <a:p>
            <a:r>
              <a:rPr lang="en-US" sz="1400" dirty="0">
                <a:solidFill>
                  <a:srgbClr val="DFE0E3"/>
                </a:solidFill>
              </a:rPr>
              <a:t>Current nozzle height</a:t>
            </a:r>
          </a:p>
        </p:txBody>
      </p:sp>
      <p:cxnSp>
        <p:nvCxnSpPr>
          <p:cNvPr id="20" name="Connecteur : en angle 19">
            <a:extLst>
              <a:ext uri="{FF2B5EF4-FFF2-40B4-BE49-F238E27FC236}">
                <a16:creationId xmlns:a16="http://schemas.microsoft.com/office/drawing/2014/main" id="{2209ED56-1867-239E-03E4-9FBB27D437A6}"/>
              </a:ext>
            </a:extLst>
          </p:cNvPr>
          <p:cNvCxnSpPr>
            <a:cxnSpLocks/>
            <a:stCxn id="19" idx="1"/>
          </p:cNvCxnSpPr>
          <p:nvPr/>
        </p:nvCxnSpPr>
        <p:spPr>
          <a:xfrm rot="10800000">
            <a:off x="5969000" y="1764792"/>
            <a:ext cx="477521" cy="694944"/>
          </a:xfrm>
          <a:prstGeom prst="bentConnector2">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31309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D8910389-CDBC-CF2A-5E5E-722A5B7E0A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42BA8A-F9ED-4D30-A4C3-2C10BF3D74F6}"/>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333E9C74-A98A-620C-E17D-5B13C8591382}"/>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C4AA8716-5003-CCEE-1ACF-7D7478CC3097}"/>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D820DA20-26D3-CBC4-DDF3-38D8BADDD55A}"/>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AC48D029-E06D-0871-A013-FB85F5688B1E}"/>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696B1E80-A988-FB0B-E7C7-7EFC8BEF281F}"/>
              </a:ext>
            </a:extLst>
          </p:cNvPr>
          <p:cNvSpPr/>
          <p:nvPr/>
        </p:nvSpPr>
        <p:spPr>
          <a:xfrm>
            <a:off x="0" y="4572000"/>
            <a:ext cx="9144000" cy="0"/>
          </a:xfrm>
          <a:prstGeom prst="line">
            <a:avLst/>
          </a:prstGeom>
          <a:noFill/>
          <a:ln w="6350">
            <a:solidFill>
              <a:srgbClr val="1A2540"/>
            </a:solidFill>
            <a:prstDash val="solid"/>
          </a:ln>
        </p:spPr>
      </p:sp>
      <p:sp>
        <p:nvSpPr>
          <p:cNvPr id="8" name="Text 6">
            <a:extLst>
              <a:ext uri="{FF2B5EF4-FFF2-40B4-BE49-F238E27FC236}">
                <a16:creationId xmlns:a16="http://schemas.microsoft.com/office/drawing/2014/main" id="{A45CBCFD-CEB4-5D97-BFC1-17D3D748105B}"/>
              </a:ext>
            </a:extLst>
          </p:cNvPr>
          <p:cNvSpPr/>
          <p:nvPr/>
        </p:nvSpPr>
        <p:spPr>
          <a:xfrm>
            <a:off x="457200" y="164592"/>
            <a:ext cx="8229600" cy="228600"/>
          </a:xfrm>
          <a:prstGeom prst="rect">
            <a:avLst/>
          </a:prstGeom>
          <a:noFill/>
          <a:ln/>
        </p:spPr>
        <p:txBody>
          <a:bodyPr wrap="square" lIns="0" tIns="0" rIns="0" bIns="0" rtlCol="0" anchor="ctr"/>
          <a:lstStyle/>
          <a:p>
            <a:r>
              <a:rPr lang="en-US" sz="900" b="1" kern="0" spc="300" dirty="0">
                <a:solidFill>
                  <a:srgbClr val="00C896"/>
                </a:solidFill>
                <a:latin typeface="Calibri" pitchFamily="34" charset="0"/>
                <a:ea typeface="Calibri" pitchFamily="34" charset="-122"/>
                <a:cs typeface="Calibri" pitchFamily="34" charset="-120"/>
              </a:rPr>
              <a:t>10 — SCREENSHOTS</a:t>
            </a:r>
            <a:endParaRPr lang="en-US" sz="900" dirty="0"/>
          </a:p>
        </p:txBody>
      </p:sp>
      <p:sp>
        <p:nvSpPr>
          <p:cNvPr id="9" name="Text 7">
            <a:extLst>
              <a:ext uri="{FF2B5EF4-FFF2-40B4-BE49-F238E27FC236}">
                <a16:creationId xmlns:a16="http://schemas.microsoft.com/office/drawing/2014/main" id="{7E18057A-D6CB-9084-A614-0190C142DDAF}"/>
              </a:ext>
            </a:extLst>
          </p:cNvPr>
          <p:cNvSpPr/>
          <p:nvPr/>
        </p:nvSpPr>
        <p:spPr>
          <a:xfrm>
            <a:off x="457200" y="384048"/>
            <a:ext cx="8229600" cy="502920"/>
          </a:xfrm>
          <a:prstGeom prst="rect">
            <a:avLst/>
          </a:prstGeom>
          <a:noFill/>
          <a:ln/>
        </p:spPr>
        <p:txBody>
          <a:bodyPr wrap="square" lIns="0" tIns="0" rIns="0" bIns="0" rtlCol="0" anchor="ctr"/>
          <a:lstStyle/>
          <a:p>
            <a:r>
              <a:rPr lang="en-US" sz="2600" b="1" dirty="0">
                <a:solidFill>
                  <a:srgbClr val="FFFFFF"/>
                </a:solidFill>
                <a:latin typeface="Cambria" pitchFamily="34" charset="0"/>
                <a:ea typeface="Cambria" pitchFamily="34" charset="-122"/>
                <a:cs typeface="Cambria" pitchFamily="34" charset="-120"/>
              </a:rPr>
              <a:t>Real-Time 3D Digital Twin Web Dashboard </a:t>
            </a:r>
            <a:endParaRPr lang="en-US" sz="2600" dirty="0"/>
          </a:p>
        </p:txBody>
      </p:sp>
      <p:sp>
        <p:nvSpPr>
          <p:cNvPr id="10" name="Shape 8">
            <a:extLst>
              <a:ext uri="{FF2B5EF4-FFF2-40B4-BE49-F238E27FC236}">
                <a16:creationId xmlns:a16="http://schemas.microsoft.com/office/drawing/2014/main" id="{7592338D-8A14-19FF-062F-E5A055BD67EE}"/>
              </a:ext>
            </a:extLst>
          </p:cNvPr>
          <p:cNvSpPr/>
          <p:nvPr/>
        </p:nvSpPr>
        <p:spPr>
          <a:xfrm>
            <a:off x="365760" y="1005840"/>
            <a:ext cx="8412480" cy="3657600"/>
          </a:xfrm>
          <a:prstGeom prst="roundRect">
            <a:avLst>
              <a:gd name="adj" fmla="val 2500"/>
            </a:avLst>
          </a:prstGeom>
          <a:solidFill>
            <a:srgbClr val="060810"/>
          </a:solidFill>
          <a:ln w="10160">
            <a:solidFill>
              <a:srgbClr val="00C896"/>
            </a:solidFill>
            <a:prstDash val="solid"/>
          </a:ln>
          <a:effectLst>
            <a:outerShdw blurRad="101600" dist="38100" dir="2700000" algn="bl" rotWithShape="0">
              <a:srgbClr val="000000">
                <a:alpha val="30000"/>
              </a:srgbClr>
            </a:outerShdw>
          </a:effectLst>
        </p:spPr>
      </p:sp>
      <p:pic>
        <p:nvPicPr>
          <p:cNvPr id="11" name="Image 0">
            <a:extLst>
              <a:ext uri="{FF2B5EF4-FFF2-40B4-BE49-F238E27FC236}">
                <a16:creationId xmlns:a16="http://schemas.microsoft.com/office/drawing/2014/main" id="{12C6FAF9-BAA0-9989-4F1A-FC0BF6155616}"/>
              </a:ext>
            </a:extLst>
          </p:cNvPr>
          <p:cNvPicPr>
            <a:picLocks noChangeAspect="1"/>
          </p:cNvPicPr>
          <p:nvPr/>
        </p:nvPicPr>
        <p:blipFill>
          <a:blip r:embed="rId3"/>
          <a:srcRect/>
          <a:stretch/>
        </p:blipFill>
        <p:spPr>
          <a:xfrm>
            <a:off x="365760" y="1005841"/>
            <a:ext cx="8412480" cy="3674240"/>
          </a:xfrm>
          <a:prstGeom prst="rect">
            <a:avLst/>
          </a:prstGeom>
        </p:spPr>
      </p:pic>
      <p:sp>
        <p:nvSpPr>
          <p:cNvPr id="12" name="Text 9">
            <a:extLst>
              <a:ext uri="{FF2B5EF4-FFF2-40B4-BE49-F238E27FC236}">
                <a16:creationId xmlns:a16="http://schemas.microsoft.com/office/drawing/2014/main" id="{3279680D-2BEF-6161-86F0-2278C44B9F77}"/>
              </a:ext>
            </a:extLst>
          </p:cNvPr>
          <p:cNvSpPr/>
          <p:nvPr/>
        </p:nvSpPr>
        <p:spPr>
          <a:xfrm>
            <a:off x="502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 Printer Control Panel</a:t>
            </a:r>
            <a:endParaRPr lang="en-US" sz="900" dirty="0"/>
          </a:p>
        </p:txBody>
      </p:sp>
      <p:sp>
        <p:nvSpPr>
          <p:cNvPr id="13" name="Text 10">
            <a:extLst>
              <a:ext uri="{FF2B5EF4-FFF2-40B4-BE49-F238E27FC236}">
                <a16:creationId xmlns:a16="http://schemas.microsoft.com/office/drawing/2014/main" id="{9C63D2F2-4EA1-76CF-074C-F2F7A0EA5045}"/>
              </a:ext>
            </a:extLst>
          </p:cNvPr>
          <p:cNvSpPr/>
          <p:nvPr/>
        </p:nvSpPr>
        <p:spPr>
          <a:xfrm>
            <a:off x="292608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Live 3D Twin Model ▲</a:t>
            </a:r>
            <a:endParaRPr lang="en-US" sz="900" dirty="0"/>
          </a:p>
        </p:txBody>
      </p:sp>
      <p:sp>
        <p:nvSpPr>
          <p:cNvPr id="14" name="Text 11">
            <a:extLst>
              <a:ext uri="{FF2B5EF4-FFF2-40B4-BE49-F238E27FC236}">
                <a16:creationId xmlns:a16="http://schemas.microsoft.com/office/drawing/2014/main" id="{3B80C37C-8152-D56A-8704-C35C9A0ECBFA}"/>
              </a:ext>
            </a:extLst>
          </p:cNvPr>
          <p:cNvSpPr/>
          <p:nvPr/>
        </p:nvSpPr>
        <p:spPr>
          <a:xfrm>
            <a:off x="6217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AI Health Rail ▶</a:t>
            </a:r>
            <a:endParaRPr lang="en-US" sz="900" dirty="0"/>
          </a:p>
        </p:txBody>
      </p:sp>
      <p:sp>
        <p:nvSpPr>
          <p:cNvPr id="18" name="Shape 13">
            <a:extLst>
              <a:ext uri="{FF2B5EF4-FFF2-40B4-BE49-F238E27FC236}">
                <a16:creationId xmlns:a16="http://schemas.microsoft.com/office/drawing/2014/main" id="{FB699972-CA77-CC85-9294-143DB99A185A}"/>
              </a:ext>
            </a:extLst>
          </p:cNvPr>
          <p:cNvSpPr/>
          <p:nvPr/>
        </p:nvSpPr>
        <p:spPr>
          <a:xfrm>
            <a:off x="4434840" y="1102108"/>
            <a:ext cx="1920240" cy="630426"/>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Real-Time Alerts</a:t>
            </a:r>
          </a:p>
          <a:p>
            <a:r>
              <a:rPr lang="en-US" sz="1400" dirty="0">
                <a:solidFill>
                  <a:srgbClr val="DFE0E3"/>
                </a:solidFill>
              </a:rPr>
              <a:t>Actionable warnings</a:t>
            </a:r>
          </a:p>
        </p:txBody>
      </p:sp>
      <p:sp>
        <p:nvSpPr>
          <p:cNvPr id="20" name="Shape 13">
            <a:extLst>
              <a:ext uri="{FF2B5EF4-FFF2-40B4-BE49-F238E27FC236}">
                <a16:creationId xmlns:a16="http://schemas.microsoft.com/office/drawing/2014/main" id="{00480DE1-690D-7BE3-9F7C-AF6FF1D5F23F}"/>
              </a:ext>
            </a:extLst>
          </p:cNvPr>
          <p:cNvSpPr/>
          <p:nvPr/>
        </p:nvSpPr>
        <p:spPr>
          <a:xfrm>
            <a:off x="2763520" y="1880234"/>
            <a:ext cx="3591560" cy="707390"/>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Vibration Monitoring</a:t>
            </a:r>
          </a:p>
          <a:p>
            <a:r>
              <a:rPr lang="en-US" sz="1400" dirty="0">
                <a:solidFill>
                  <a:srgbClr val="DFE0E3"/>
                </a:solidFill>
              </a:rPr>
              <a:t>Live graph showing printer vibration patterns</a:t>
            </a:r>
          </a:p>
        </p:txBody>
      </p:sp>
      <p:sp>
        <p:nvSpPr>
          <p:cNvPr id="22" name="Shape 13">
            <a:extLst>
              <a:ext uri="{FF2B5EF4-FFF2-40B4-BE49-F238E27FC236}">
                <a16:creationId xmlns:a16="http://schemas.microsoft.com/office/drawing/2014/main" id="{69616A6B-EED0-D63E-366C-3E22764B8EFB}"/>
              </a:ext>
            </a:extLst>
          </p:cNvPr>
          <p:cNvSpPr/>
          <p:nvPr/>
        </p:nvSpPr>
        <p:spPr>
          <a:xfrm>
            <a:off x="2763520" y="2755264"/>
            <a:ext cx="3591560" cy="920623"/>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Thermal Health</a:t>
            </a:r>
          </a:p>
          <a:p>
            <a:r>
              <a:rPr lang="en-US" sz="1400" dirty="0">
                <a:solidFill>
                  <a:srgbClr val="DFE0E3"/>
                </a:solidFill>
              </a:rPr>
              <a:t>Live temperature readings for nozzle, bed, and heatsink. Spot overheating before it fails.</a:t>
            </a:r>
          </a:p>
        </p:txBody>
      </p:sp>
      <p:sp>
        <p:nvSpPr>
          <p:cNvPr id="24" name="Shape 13">
            <a:extLst>
              <a:ext uri="{FF2B5EF4-FFF2-40B4-BE49-F238E27FC236}">
                <a16:creationId xmlns:a16="http://schemas.microsoft.com/office/drawing/2014/main" id="{D3867E17-256F-0BDA-4820-E07AB393EFB5}"/>
              </a:ext>
            </a:extLst>
          </p:cNvPr>
          <p:cNvSpPr/>
          <p:nvPr/>
        </p:nvSpPr>
        <p:spPr>
          <a:xfrm>
            <a:off x="2763520" y="3832610"/>
            <a:ext cx="3591560" cy="1081784"/>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Filament Flow</a:t>
            </a:r>
          </a:p>
          <a:p>
            <a:r>
              <a:rPr lang="en-US" sz="1400" dirty="0">
                <a:solidFill>
                  <a:srgbClr val="DFE0E3"/>
                </a:solidFill>
              </a:rPr>
              <a:t>Actual filament usage compared to expected extrusion. Detects clogs or slipping immediately.</a:t>
            </a:r>
          </a:p>
        </p:txBody>
      </p:sp>
      <p:cxnSp>
        <p:nvCxnSpPr>
          <p:cNvPr id="26" name="Connecteur : en angle 25">
            <a:extLst>
              <a:ext uri="{FF2B5EF4-FFF2-40B4-BE49-F238E27FC236}">
                <a16:creationId xmlns:a16="http://schemas.microsoft.com/office/drawing/2014/main" id="{51AF2741-B462-2DA7-4945-3CCBE9C67E11}"/>
              </a:ext>
            </a:extLst>
          </p:cNvPr>
          <p:cNvCxnSpPr>
            <a:cxnSpLocks/>
            <a:stCxn id="18" idx="3"/>
          </p:cNvCxnSpPr>
          <p:nvPr/>
        </p:nvCxnSpPr>
        <p:spPr>
          <a:xfrm flipV="1">
            <a:off x="6355080" y="1156585"/>
            <a:ext cx="960120" cy="260736"/>
          </a:xfrm>
          <a:prstGeom prst="bentConnector3">
            <a:avLst>
              <a:gd name="adj1" fmla="val 50000"/>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cxnSp>
        <p:nvCxnSpPr>
          <p:cNvPr id="30" name="Connecteur : en angle 29">
            <a:extLst>
              <a:ext uri="{FF2B5EF4-FFF2-40B4-BE49-F238E27FC236}">
                <a16:creationId xmlns:a16="http://schemas.microsoft.com/office/drawing/2014/main" id="{BDD525CC-8E6C-9092-36E2-271B30E95BFE}"/>
              </a:ext>
            </a:extLst>
          </p:cNvPr>
          <p:cNvCxnSpPr>
            <a:cxnSpLocks/>
            <a:stCxn id="20" idx="3"/>
          </p:cNvCxnSpPr>
          <p:nvPr/>
        </p:nvCxnSpPr>
        <p:spPr>
          <a:xfrm flipV="1">
            <a:off x="6355080" y="1914527"/>
            <a:ext cx="767080" cy="319402"/>
          </a:xfrm>
          <a:prstGeom prst="bentConnector3">
            <a:avLst>
              <a:gd name="adj1" fmla="val 50000"/>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cxnSp>
        <p:nvCxnSpPr>
          <p:cNvPr id="33" name="Connecteur : en angle 32">
            <a:extLst>
              <a:ext uri="{FF2B5EF4-FFF2-40B4-BE49-F238E27FC236}">
                <a16:creationId xmlns:a16="http://schemas.microsoft.com/office/drawing/2014/main" id="{6EE74573-19CB-DE08-152C-D91CC7681E08}"/>
              </a:ext>
            </a:extLst>
          </p:cNvPr>
          <p:cNvCxnSpPr>
            <a:cxnSpLocks/>
          </p:cNvCxnSpPr>
          <p:nvPr/>
        </p:nvCxnSpPr>
        <p:spPr>
          <a:xfrm flipV="1">
            <a:off x="6355080" y="2969482"/>
            <a:ext cx="767080" cy="246093"/>
          </a:xfrm>
          <a:prstGeom prst="bentConnector3">
            <a:avLst>
              <a:gd name="adj1" fmla="val 50000"/>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cxnSp>
        <p:nvCxnSpPr>
          <p:cNvPr id="36" name="Connecteur : en angle 35">
            <a:extLst>
              <a:ext uri="{FF2B5EF4-FFF2-40B4-BE49-F238E27FC236}">
                <a16:creationId xmlns:a16="http://schemas.microsoft.com/office/drawing/2014/main" id="{EE8ECDCD-760F-8B3D-04BA-19CC5EE014C2}"/>
              </a:ext>
            </a:extLst>
          </p:cNvPr>
          <p:cNvCxnSpPr>
            <a:cxnSpLocks/>
          </p:cNvCxnSpPr>
          <p:nvPr/>
        </p:nvCxnSpPr>
        <p:spPr>
          <a:xfrm flipV="1">
            <a:off x="6355080" y="3986915"/>
            <a:ext cx="746761" cy="418142"/>
          </a:xfrm>
          <a:prstGeom prst="bentConnector3">
            <a:avLst>
              <a:gd name="adj1" fmla="val 50000"/>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pic>
        <p:nvPicPr>
          <p:cNvPr id="40" name="Image 39">
            <a:extLst>
              <a:ext uri="{FF2B5EF4-FFF2-40B4-BE49-F238E27FC236}">
                <a16:creationId xmlns:a16="http://schemas.microsoft.com/office/drawing/2014/main" id="{3F00CF62-0CDB-E5F0-E372-C5D7FCC0B59A}"/>
              </a:ext>
            </a:extLst>
          </p:cNvPr>
          <p:cNvPicPr>
            <a:picLocks noChangeAspect="1"/>
          </p:cNvPicPr>
          <p:nvPr/>
        </p:nvPicPr>
        <p:blipFill>
          <a:blip r:embed="rId4"/>
          <a:stretch>
            <a:fillRect/>
          </a:stretch>
        </p:blipFill>
        <p:spPr>
          <a:xfrm>
            <a:off x="284795" y="1025190"/>
            <a:ext cx="2295845" cy="2343477"/>
          </a:xfrm>
          <a:prstGeom prst="rect">
            <a:avLst/>
          </a:prstGeom>
          <a:solidFill>
            <a:srgbClr val="FFFFFF">
              <a:shade val="85000"/>
            </a:srgbClr>
          </a:solidFill>
          <a:ln w="28575" cap="sq">
            <a:solidFill>
              <a:schemeClr val="accent4"/>
            </a:solidFill>
            <a:miter lim="800000"/>
          </a:ln>
          <a:effectLst>
            <a:glow rad="228600">
              <a:schemeClr val="accent2">
                <a:satMod val="175000"/>
                <a:alpha val="40000"/>
              </a:schemeClr>
            </a:glow>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41" name="Connecteur : en angle 40">
            <a:extLst>
              <a:ext uri="{FF2B5EF4-FFF2-40B4-BE49-F238E27FC236}">
                <a16:creationId xmlns:a16="http://schemas.microsoft.com/office/drawing/2014/main" id="{B43D0A5B-4C09-3A36-C295-3B3690B99431}"/>
              </a:ext>
            </a:extLst>
          </p:cNvPr>
          <p:cNvCxnSpPr>
            <a:cxnSpLocks/>
            <a:endCxn id="18" idx="1"/>
          </p:cNvCxnSpPr>
          <p:nvPr/>
        </p:nvCxnSpPr>
        <p:spPr>
          <a:xfrm>
            <a:off x="2580640" y="1401253"/>
            <a:ext cx="1854200" cy="16068"/>
          </a:xfrm>
          <a:prstGeom prst="bentConnector3">
            <a:avLst>
              <a:gd name="adj1" fmla="val 50000"/>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7040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C3346EB1-E98B-BE3D-5439-1063E6458D3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1BEDA0-A1C6-9836-D2F6-5388E64D8610}"/>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B5333502-C59A-622F-07CA-88D7E0B3EDDF}"/>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49EC2C5F-43A9-CDE8-9344-CA527A482216}"/>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7B39FA65-F417-2890-AF73-9787FE229A88}"/>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FFDCA62F-3AEC-49F0-5428-1887E3031399}"/>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0B429704-6A96-F353-014C-48D1CA798409}"/>
              </a:ext>
            </a:extLst>
          </p:cNvPr>
          <p:cNvSpPr/>
          <p:nvPr/>
        </p:nvSpPr>
        <p:spPr>
          <a:xfrm>
            <a:off x="0" y="4572000"/>
            <a:ext cx="9144000" cy="0"/>
          </a:xfrm>
          <a:prstGeom prst="line">
            <a:avLst/>
          </a:prstGeom>
          <a:noFill/>
          <a:ln w="6350">
            <a:solidFill>
              <a:srgbClr val="1A2540"/>
            </a:solidFill>
            <a:prstDash val="solid"/>
          </a:ln>
        </p:spPr>
      </p:sp>
      <p:sp>
        <p:nvSpPr>
          <p:cNvPr id="8" name="Text 6">
            <a:extLst>
              <a:ext uri="{FF2B5EF4-FFF2-40B4-BE49-F238E27FC236}">
                <a16:creationId xmlns:a16="http://schemas.microsoft.com/office/drawing/2014/main" id="{F7E25133-3A19-FE7A-56B0-CB1A10189F9C}"/>
              </a:ext>
            </a:extLst>
          </p:cNvPr>
          <p:cNvSpPr/>
          <p:nvPr/>
        </p:nvSpPr>
        <p:spPr>
          <a:xfrm>
            <a:off x="457200" y="164592"/>
            <a:ext cx="8229600" cy="228600"/>
          </a:xfrm>
          <a:prstGeom prst="rect">
            <a:avLst/>
          </a:prstGeom>
          <a:noFill/>
          <a:ln/>
        </p:spPr>
        <p:txBody>
          <a:bodyPr wrap="square" lIns="0" tIns="0" rIns="0" bIns="0" rtlCol="0" anchor="ctr"/>
          <a:lstStyle/>
          <a:p>
            <a:r>
              <a:rPr lang="en-US" sz="900" b="1" kern="0" spc="300" dirty="0">
                <a:solidFill>
                  <a:srgbClr val="00C896"/>
                </a:solidFill>
                <a:latin typeface="Calibri" pitchFamily="34" charset="0"/>
                <a:ea typeface="Calibri" pitchFamily="34" charset="-122"/>
                <a:cs typeface="Calibri" pitchFamily="34" charset="-120"/>
              </a:rPr>
              <a:t>10 — SCREENSHOTS</a:t>
            </a:r>
            <a:endParaRPr lang="en-US" sz="900" dirty="0"/>
          </a:p>
        </p:txBody>
      </p:sp>
      <p:sp>
        <p:nvSpPr>
          <p:cNvPr id="9" name="Text 7">
            <a:extLst>
              <a:ext uri="{FF2B5EF4-FFF2-40B4-BE49-F238E27FC236}">
                <a16:creationId xmlns:a16="http://schemas.microsoft.com/office/drawing/2014/main" id="{6348781A-3E7D-89CF-ED19-679DFCAC79C7}"/>
              </a:ext>
            </a:extLst>
          </p:cNvPr>
          <p:cNvSpPr/>
          <p:nvPr/>
        </p:nvSpPr>
        <p:spPr>
          <a:xfrm>
            <a:off x="457200" y="384048"/>
            <a:ext cx="8229600" cy="502920"/>
          </a:xfrm>
          <a:prstGeom prst="rect">
            <a:avLst/>
          </a:prstGeom>
          <a:noFill/>
          <a:ln/>
        </p:spPr>
        <p:txBody>
          <a:bodyPr wrap="square" lIns="0" tIns="0" rIns="0" bIns="0" rtlCol="0" anchor="ctr"/>
          <a:lstStyle/>
          <a:p>
            <a:r>
              <a:rPr lang="en-US" sz="2600" b="1" dirty="0">
                <a:solidFill>
                  <a:srgbClr val="FFFFFF"/>
                </a:solidFill>
                <a:latin typeface="Cambria" pitchFamily="34" charset="0"/>
                <a:ea typeface="Cambria" pitchFamily="34" charset="-122"/>
                <a:cs typeface="Cambria" pitchFamily="34" charset="-120"/>
              </a:rPr>
              <a:t>Real-Time 3D Digital Twin Web Dashboard </a:t>
            </a:r>
            <a:endParaRPr lang="en-US" sz="2600" dirty="0"/>
          </a:p>
        </p:txBody>
      </p:sp>
      <p:sp>
        <p:nvSpPr>
          <p:cNvPr id="10" name="Shape 8">
            <a:extLst>
              <a:ext uri="{FF2B5EF4-FFF2-40B4-BE49-F238E27FC236}">
                <a16:creationId xmlns:a16="http://schemas.microsoft.com/office/drawing/2014/main" id="{8F16FF60-2E8B-01B4-569F-4694C1CB3977}"/>
              </a:ext>
            </a:extLst>
          </p:cNvPr>
          <p:cNvSpPr/>
          <p:nvPr/>
        </p:nvSpPr>
        <p:spPr>
          <a:xfrm>
            <a:off x="365760" y="1005840"/>
            <a:ext cx="8412480" cy="3657600"/>
          </a:xfrm>
          <a:prstGeom prst="roundRect">
            <a:avLst>
              <a:gd name="adj" fmla="val 2500"/>
            </a:avLst>
          </a:prstGeom>
          <a:solidFill>
            <a:srgbClr val="060810"/>
          </a:solidFill>
          <a:ln w="10160">
            <a:solidFill>
              <a:srgbClr val="00C896"/>
            </a:solidFill>
            <a:prstDash val="solid"/>
          </a:ln>
          <a:effectLst>
            <a:outerShdw blurRad="101600" dist="38100" dir="2700000" algn="bl" rotWithShape="0">
              <a:srgbClr val="000000">
                <a:alpha val="30000"/>
              </a:srgbClr>
            </a:outerShdw>
          </a:effectLst>
        </p:spPr>
      </p:sp>
      <p:pic>
        <p:nvPicPr>
          <p:cNvPr id="11" name="Image 0">
            <a:extLst>
              <a:ext uri="{FF2B5EF4-FFF2-40B4-BE49-F238E27FC236}">
                <a16:creationId xmlns:a16="http://schemas.microsoft.com/office/drawing/2014/main" id="{57B55C06-14CC-F919-D236-A845A5E4BDC0}"/>
              </a:ext>
            </a:extLst>
          </p:cNvPr>
          <p:cNvPicPr>
            <a:picLocks noChangeAspect="1"/>
          </p:cNvPicPr>
          <p:nvPr/>
        </p:nvPicPr>
        <p:blipFill>
          <a:blip r:embed="rId3"/>
          <a:srcRect/>
          <a:stretch/>
        </p:blipFill>
        <p:spPr>
          <a:xfrm>
            <a:off x="365760" y="1005841"/>
            <a:ext cx="8412480" cy="3674240"/>
          </a:xfrm>
          <a:prstGeom prst="rect">
            <a:avLst/>
          </a:prstGeom>
        </p:spPr>
      </p:pic>
      <p:sp>
        <p:nvSpPr>
          <p:cNvPr id="12" name="Text 9">
            <a:extLst>
              <a:ext uri="{FF2B5EF4-FFF2-40B4-BE49-F238E27FC236}">
                <a16:creationId xmlns:a16="http://schemas.microsoft.com/office/drawing/2014/main" id="{4EECFEF0-B5EC-9F26-FCC0-B77802CF5629}"/>
              </a:ext>
            </a:extLst>
          </p:cNvPr>
          <p:cNvSpPr/>
          <p:nvPr/>
        </p:nvSpPr>
        <p:spPr>
          <a:xfrm>
            <a:off x="502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 Printer Control Panel</a:t>
            </a:r>
            <a:endParaRPr lang="en-US" sz="900" dirty="0"/>
          </a:p>
        </p:txBody>
      </p:sp>
      <p:sp>
        <p:nvSpPr>
          <p:cNvPr id="13" name="Text 10">
            <a:extLst>
              <a:ext uri="{FF2B5EF4-FFF2-40B4-BE49-F238E27FC236}">
                <a16:creationId xmlns:a16="http://schemas.microsoft.com/office/drawing/2014/main" id="{88BFB6FA-1D46-FD8F-F5BA-79B9167277D1}"/>
              </a:ext>
            </a:extLst>
          </p:cNvPr>
          <p:cNvSpPr/>
          <p:nvPr/>
        </p:nvSpPr>
        <p:spPr>
          <a:xfrm>
            <a:off x="292608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Live 3D Digital Twin Model ▲</a:t>
            </a:r>
            <a:endParaRPr lang="en-US" sz="900" dirty="0"/>
          </a:p>
        </p:txBody>
      </p:sp>
      <p:sp>
        <p:nvSpPr>
          <p:cNvPr id="14" name="Text 11">
            <a:extLst>
              <a:ext uri="{FF2B5EF4-FFF2-40B4-BE49-F238E27FC236}">
                <a16:creationId xmlns:a16="http://schemas.microsoft.com/office/drawing/2014/main" id="{543528C8-7BAB-4F59-BFF6-D171E9563821}"/>
              </a:ext>
            </a:extLst>
          </p:cNvPr>
          <p:cNvSpPr/>
          <p:nvPr/>
        </p:nvSpPr>
        <p:spPr>
          <a:xfrm>
            <a:off x="6217920" y="4736592"/>
            <a:ext cx="2743200" cy="228600"/>
          </a:xfrm>
          <a:prstGeom prst="rect">
            <a:avLst/>
          </a:prstGeom>
          <a:noFill/>
          <a:ln/>
        </p:spPr>
        <p:txBody>
          <a:bodyPr wrap="square" lIns="0" tIns="0" rIns="0" bIns="0" rtlCol="0" anchor="ctr"/>
          <a:lstStyle/>
          <a:p>
            <a:pPr marL="0" indent="0" algn="l">
              <a:buNone/>
            </a:pPr>
            <a:r>
              <a:rPr lang="en-US" sz="900" dirty="0">
                <a:solidFill>
                  <a:srgbClr val="00C896"/>
                </a:solidFill>
                <a:latin typeface="Calibri" pitchFamily="34" charset="0"/>
                <a:ea typeface="Calibri" pitchFamily="34" charset="-122"/>
                <a:cs typeface="Calibri" pitchFamily="34" charset="-120"/>
              </a:rPr>
              <a:t>AI Health Rail ▶</a:t>
            </a:r>
            <a:endParaRPr lang="en-US" sz="900" dirty="0"/>
          </a:p>
        </p:txBody>
      </p:sp>
      <p:sp>
        <p:nvSpPr>
          <p:cNvPr id="16" name="Shape 13">
            <a:extLst>
              <a:ext uri="{FF2B5EF4-FFF2-40B4-BE49-F238E27FC236}">
                <a16:creationId xmlns:a16="http://schemas.microsoft.com/office/drawing/2014/main" id="{BC62C73C-7325-9F10-07E1-482D864DF43E}"/>
              </a:ext>
            </a:extLst>
          </p:cNvPr>
          <p:cNvSpPr/>
          <p:nvPr/>
        </p:nvSpPr>
        <p:spPr>
          <a:xfrm>
            <a:off x="2626360" y="2755265"/>
            <a:ext cx="3591560" cy="920624"/>
          </a:xfrm>
          <a:prstGeom prst="roundRect">
            <a:avLst>
              <a:gd name="adj" fmla="val 4762"/>
            </a:avLst>
          </a:prstGeom>
          <a:solidFill>
            <a:srgbClr val="131E35">
              <a:alpha val="80000"/>
            </a:srgbClr>
          </a:solidFill>
          <a:ln w="19050">
            <a:solidFill>
              <a:srgbClr val="FFC000"/>
            </a:solidFill>
            <a:prstDash val="solid"/>
          </a:ln>
          <a:effectLst>
            <a:glow rad="63500">
              <a:schemeClr val="accent2">
                <a:satMod val="175000"/>
                <a:alpha val="40000"/>
              </a:schemeClr>
            </a:glow>
          </a:effectLst>
        </p:spPr>
        <p:txBody>
          <a:bodyPr/>
          <a:lstStyle/>
          <a:p>
            <a:r>
              <a:rPr lang="en-US" b="1" dirty="0">
                <a:solidFill>
                  <a:schemeClr val="accent2"/>
                </a:solidFill>
              </a:rPr>
              <a:t>Live 3D Printer Model</a:t>
            </a:r>
          </a:p>
          <a:p>
            <a:r>
              <a:rPr lang="en-US" sz="1400" dirty="0">
                <a:solidFill>
                  <a:srgbClr val="DFE0E3"/>
                </a:solidFill>
              </a:rPr>
              <a:t>What happens on the real printer happens on screen so instantly in 3D from any angle</a:t>
            </a:r>
          </a:p>
        </p:txBody>
      </p:sp>
      <p:cxnSp>
        <p:nvCxnSpPr>
          <p:cNvPr id="17" name="Connecteur : en angle 16">
            <a:extLst>
              <a:ext uri="{FF2B5EF4-FFF2-40B4-BE49-F238E27FC236}">
                <a16:creationId xmlns:a16="http://schemas.microsoft.com/office/drawing/2014/main" id="{5B0771A2-2C10-556D-D028-757D6E4D6F6B}"/>
              </a:ext>
            </a:extLst>
          </p:cNvPr>
          <p:cNvCxnSpPr>
            <a:cxnSpLocks/>
            <a:stCxn id="16" idx="0"/>
          </p:cNvCxnSpPr>
          <p:nvPr/>
        </p:nvCxnSpPr>
        <p:spPr>
          <a:xfrm rot="16200000" flipV="1">
            <a:off x="4110357" y="2443481"/>
            <a:ext cx="367030" cy="256537"/>
          </a:xfrm>
          <a:prstGeom prst="bentConnector3">
            <a:avLst>
              <a:gd name="adj1" fmla="val 50000"/>
            </a:avLst>
          </a:prstGeom>
          <a:ln w="12700">
            <a:headEnd type="triangle"/>
            <a:tailEnd type="triangle"/>
          </a:ln>
          <a:effectLst>
            <a:glow rad="63500">
              <a:schemeClr val="accent2">
                <a:satMod val="175000"/>
                <a:alpha val="40000"/>
              </a:schemeClr>
            </a:glo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73663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7F4C9DD5-AFA1-A5E9-D933-465F358FCB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EF4B623-DDE9-78A9-6238-DDAE09AC9024}"/>
              </a:ext>
            </a:extLst>
          </p:cNvPr>
          <p:cNvSpPr/>
          <p:nvPr/>
        </p:nvSpPr>
        <p:spPr>
          <a:xfrm>
            <a:off x="0" y="914400"/>
            <a:ext cx="9144000" cy="0"/>
          </a:xfrm>
          <a:prstGeom prst="line">
            <a:avLst/>
          </a:prstGeom>
          <a:noFill/>
          <a:ln w="6350">
            <a:solidFill>
              <a:srgbClr val="1A2540"/>
            </a:solidFill>
            <a:prstDash val="solid"/>
          </a:ln>
        </p:spPr>
      </p:sp>
      <p:sp>
        <p:nvSpPr>
          <p:cNvPr id="3" name="Shape 1">
            <a:extLst>
              <a:ext uri="{FF2B5EF4-FFF2-40B4-BE49-F238E27FC236}">
                <a16:creationId xmlns:a16="http://schemas.microsoft.com/office/drawing/2014/main" id="{B7702551-5154-FD21-3042-026F783854CF}"/>
              </a:ext>
            </a:extLst>
          </p:cNvPr>
          <p:cNvSpPr/>
          <p:nvPr/>
        </p:nvSpPr>
        <p:spPr>
          <a:xfrm>
            <a:off x="0" y="1645920"/>
            <a:ext cx="9144000" cy="0"/>
          </a:xfrm>
          <a:prstGeom prst="line">
            <a:avLst/>
          </a:prstGeom>
          <a:noFill/>
          <a:ln w="6350">
            <a:solidFill>
              <a:srgbClr val="1A2540"/>
            </a:solidFill>
            <a:prstDash val="solid"/>
          </a:ln>
        </p:spPr>
      </p:sp>
      <p:sp>
        <p:nvSpPr>
          <p:cNvPr id="4" name="Shape 2">
            <a:extLst>
              <a:ext uri="{FF2B5EF4-FFF2-40B4-BE49-F238E27FC236}">
                <a16:creationId xmlns:a16="http://schemas.microsoft.com/office/drawing/2014/main" id="{52DFD37A-7F69-3EF4-CB35-67D8895D4CBC}"/>
              </a:ext>
            </a:extLst>
          </p:cNvPr>
          <p:cNvSpPr/>
          <p:nvPr/>
        </p:nvSpPr>
        <p:spPr>
          <a:xfrm>
            <a:off x="0" y="2377440"/>
            <a:ext cx="9144000" cy="0"/>
          </a:xfrm>
          <a:prstGeom prst="line">
            <a:avLst/>
          </a:prstGeom>
          <a:noFill/>
          <a:ln w="6350">
            <a:solidFill>
              <a:srgbClr val="1A2540"/>
            </a:solidFill>
            <a:prstDash val="solid"/>
          </a:ln>
        </p:spPr>
      </p:sp>
      <p:sp>
        <p:nvSpPr>
          <p:cNvPr id="5" name="Shape 3">
            <a:extLst>
              <a:ext uri="{FF2B5EF4-FFF2-40B4-BE49-F238E27FC236}">
                <a16:creationId xmlns:a16="http://schemas.microsoft.com/office/drawing/2014/main" id="{8EC4E33B-2C35-6B79-1CDA-D5DA49C336F1}"/>
              </a:ext>
            </a:extLst>
          </p:cNvPr>
          <p:cNvSpPr/>
          <p:nvPr/>
        </p:nvSpPr>
        <p:spPr>
          <a:xfrm>
            <a:off x="0" y="3108960"/>
            <a:ext cx="9144000" cy="0"/>
          </a:xfrm>
          <a:prstGeom prst="line">
            <a:avLst/>
          </a:prstGeom>
          <a:noFill/>
          <a:ln w="6350">
            <a:solidFill>
              <a:srgbClr val="1A2540"/>
            </a:solidFill>
            <a:prstDash val="solid"/>
          </a:ln>
        </p:spPr>
      </p:sp>
      <p:sp>
        <p:nvSpPr>
          <p:cNvPr id="6" name="Shape 4">
            <a:extLst>
              <a:ext uri="{FF2B5EF4-FFF2-40B4-BE49-F238E27FC236}">
                <a16:creationId xmlns:a16="http://schemas.microsoft.com/office/drawing/2014/main" id="{225FDA68-5816-E96B-7839-60BF13000598}"/>
              </a:ext>
            </a:extLst>
          </p:cNvPr>
          <p:cNvSpPr/>
          <p:nvPr/>
        </p:nvSpPr>
        <p:spPr>
          <a:xfrm>
            <a:off x="0" y="3840480"/>
            <a:ext cx="9144000" cy="0"/>
          </a:xfrm>
          <a:prstGeom prst="line">
            <a:avLst/>
          </a:prstGeom>
          <a:noFill/>
          <a:ln w="6350">
            <a:solidFill>
              <a:srgbClr val="1A2540"/>
            </a:solidFill>
            <a:prstDash val="solid"/>
          </a:ln>
        </p:spPr>
      </p:sp>
      <p:sp>
        <p:nvSpPr>
          <p:cNvPr id="7" name="Shape 5">
            <a:extLst>
              <a:ext uri="{FF2B5EF4-FFF2-40B4-BE49-F238E27FC236}">
                <a16:creationId xmlns:a16="http://schemas.microsoft.com/office/drawing/2014/main" id="{84442B9D-BF82-232E-04C9-310E6CD92CC0}"/>
              </a:ext>
            </a:extLst>
          </p:cNvPr>
          <p:cNvSpPr/>
          <p:nvPr/>
        </p:nvSpPr>
        <p:spPr>
          <a:xfrm>
            <a:off x="0" y="4572000"/>
            <a:ext cx="9144000" cy="0"/>
          </a:xfrm>
          <a:prstGeom prst="line">
            <a:avLst/>
          </a:prstGeom>
          <a:noFill/>
          <a:ln w="6350">
            <a:solidFill>
              <a:srgbClr val="1A2540"/>
            </a:solidFill>
            <a:prstDash val="solid"/>
          </a:ln>
        </p:spPr>
      </p:sp>
      <p:sp>
        <p:nvSpPr>
          <p:cNvPr id="8" name="Shape 6">
            <a:extLst>
              <a:ext uri="{FF2B5EF4-FFF2-40B4-BE49-F238E27FC236}">
                <a16:creationId xmlns:a16="http://schemas.microsoft.com/office/drawing/2014/main" id="{5F249EA7-18DA-C35C-AA6D-FB7422958264}"/>
              </a:ext>
            </a:extLst>
          </p:cNvPr>
          <p:cNvSpPr/>
          <p:nvPr/>
        </p:nvSpPr>
        <p:spPr>
          <a:xfrm>
            <a:off x="914400" y="0"/>
            <a:ext cx="7315200" cy="7315200"/>
          </a:xfrm>
          <a:prstGeom prst="ellipse">
            <a:avLst/>
          </a:prstGeom>
          <a:solidFill>
            <a:srgbClr val="00C896">
              <a:alpha val="6000"/>
            </a:srgbClr>
          </a:solidFill>
          <a:ln/>
        </p:spPr>
      </p:sp>
      <p:sp>
        <p:nvSpPr>
          <p:cNvPr id="9" name="Text 7">
            <a:extLst>
              <a:ext uri="{FF2B5EF4-FFF2-40B4-BE49-F238E27FC236}">
                <a16:creationId xmlns:a16="http://schemas.microsoft.com/office/drawing/2014/main" id="{031A506A-B6CF-988C-424A-3254D4C6DAF0}"/>
              </a:ext>
            </a:extLst>
          </p:cNvPr>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10 — SCREENSHOTS</a:t>
            </a:r>
            <a:endParaRPr lang="en-US" sz="900" dirty="0"/>
          </a:p>
        </p:txBody>
      </p:sp>
      <p:sp>
        <p:nvSpPr>
          <p:cNvPr id="10" name="Text 8">
            <a:extLst>
              <a:ext uri="{FF2B5EF4-FFF2-40B4-BE49-F238E27FC236}">
                <a16:creationId xmlns:a16="http://schemas.microsoft.com/office/drawing/2014/main" id="{FD2CCEC6-6350-CF0F-F55A-F4FFBCCDB261}"/>
              </a:ext>
            </a:extLst>
          </p:cNvPr>
          <p:cNvSpPr/>
          <p:nvPr/>
        </p:nvSpPr>
        <p:spPr>
          <a:xfrm>
            <a:off x="457200" y="384048"/>
            <a:ext cx="822960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Live 3D Printer Monitoring</a:t>
            </a:r>
          </a:p>
        </p:txBody>
      </p:sp>
      <p:sp>
        <p:nvSpPr>
          <p:cNvPr id="11" name="Text 9">
            <a:extLst>
              <a:ext uri="{FF2B5EF4-FFF2-40B4-BE49-F238E27FC236}">
                <a16:creationId xmlns:a16="http://schemas.microsoft.com/office/drawing/2014/main" id="{22D9A458-CDB4-4240-E979-15DEA26117AD}"/>
              </a:ext>
            </a:extLst>
          </p:cNvPr>
          <p:cNvSpPr/>
          <p:nvPr/>
        </p:nvSpPr>
        <p:spPr>
          <a:xfrm>
            <a:off x="457200" y="1005840"/>
            <a:ext cx="8229600" cy="274320"/>
          </a:xfrm>
          <a:prstGeom prst="rect">
            <a:avLst/>
          </a:prstGeom>
          <a:noFill/>
          <a:ln/>
        </p:spPr>
        <p:txBody>
          <a:bodyPr wrap="square" lIns="0" tIns="0" rIns="0" bIns="0" rtlCol="0" anchor="ctr"/>
          <a:lstStyle/>
          <a:p>
            <a:pPr marL="0" indent="0" algn="ctr">
              <a:buNone/>
            </a:pPr>
            <a:r>
              <a:rPr lang="en-US" sz="1400" dirty="0">
                <a:solidFill>
                  <a:srgbClr val="8B9CC8"/>
                </a:solidFill>
                <a:latin typeface="Calibri" pitchFamily="34" charset="0"/>
                <a:ea typeface="Calibri" pitchFamily="34" charset="-122"/>
                <a:cs typeface="Calibri" pitchFamily="34" charset="-120"/>
              </a:rPr>
              <a:t>Live Dashboard shows synchronization between Physical Printer and 3D Digital Twin Model</a:t>
            </a:r>
            <a:endParaRPr lang="en-US" sz="1400" dirty="0"/>
          </a:p>
        </p:txBody>
      </p:sp>
      <p:sp>
        <p:nvSpPr>
          <p:cNvPr id="12" name="Shape 10">
            <a:extLst>
              <a:ext uri="{FF2B5EF4-FFF2-40B4-BE49-F238E27FC236}">
                <a16:creationId xmlns:a16="http://schemas.microsoft.com/office/drawing/2014/main" id="{4A043DDA-9B7F-68F0-22D6-27A9E8107865}"/>
              </a:ext>
            </a:extLst>
          </p:cNvPr>
          <p:cNvSpPr/>
          <p:nvPr/>
        </p:nvSpPr>
        <p:spPr>
          <a:xfrm>
            <a:off x="365760" y="1417320"/>
            <a:ext cx="3840480" cy="3200400"/>
          </a:xfrm>
          <a:prstGeom prst="roundRect">
            <a:avLst>
              <a:gd name="adj" fmla="val 3429"/>
            </a:avLst>
          </a:prstGeom>
          <a:solidFill>
            <a:srgbClr val="131E35"/>
          </a:solidFill>
          <a:ln w="12700">
            <a:solidFill>
              <a:srgbClr val="1E2D4A"/>
            </a:solidFill>
            <a:prstDash val="solid"/>
          </a:ln>
        </p:spPr>
      </p:sp>
      <p:sp>
        <p:nvSpPr>
          <p:cNvPr id="13" name="Text 11">
            <a:extLst>
              <a:ext uri="{FF2B5EF4-FFF2-40B4-BE49-F238E27FC236}">
                <a16:creationId xmlns:a16="http://schemas.microsoft.com/office/drawing/2014/main" id="{515AB508-0F57-B5B2-33F8-3F64A238F80F}"/>
              </a:ext>
            </a:extLst>
          </p:cNvPr>
          <p:cNvSpPr/>
          <p:nvPr/>
        </p:nvSpPr>
        <p:spPr>
          <a:xfrm>
            <a:off x="365760" y="2834640"/>
            <a:ext cx="3840480" cy="365760"/>
          </a:xfrm>
          <a:prstGeom prst="rect">
            <a:avLst/>
          </a:prstGeom>
          <a:noFill/>
          <a:ln/>
        </p:spPr>
        <p:txBody>
          <a:bodyPr wrap="square" lIns="0" tIns="0" rIns="0" bIns="0" rtlCol="0" anchor="ctr"/>
          <a:lstStyle/>
          <a:p>
            <a:pPr marL="0" indent="0" algn="ctr">
              <a:buNone/>
            </a:pPr>
            <a:r>
              <a:rPr lang="en-US" sz="1200" dirty="0">
                <a:solidFill>
                  <a:srgbClr val="2A3A5A"/>
                </a:solidFill>
                <a:latin typeface="Calibri" pitchFamily="34" charset="0"/>
                <a:ea typeface="Calibri" pitchFamily="34" charset="-122"/>
                <a:cs typeface="Calibri" pitchFamily="34" charset="-120"/>
              </a:rPr>
              <a:t>[ Screenshot Placeholder ]</a:t>
            </a:r>
            <a:endParaRPr lang="en-US" sz="1200" dirty="0"/>
          </a:p>
        </p:txBody>
      </p:sp>
      <p:sp>
        <p:nvSpPr>
          <p:cNvPr id="14" name="Shape 12">
            <a:extLst>
              <a:ext uri="{FF2B5EF4-FFF2-40B4-BE49-F238E27FC236}">
                <a16:creationId xmlns:a16="http://schemas.microsoft.com/office/drawing/2014/main" id="{A25F5553-C065-175E-485E-9BC81CFD0138}"/>
              </a:ext>
            </a:extLst>
          </p:cNvPr>
          <p:cNvSpPr/>
          <p:nvPr/>
        </p:nvSpPr>
        <p:spPr>
          <a:xfrm>
            <a:off x="4937760" y="1417320"/>
            <a:ext cx="3840480" cy="3200400"/>
          </a:xfrm>
          <a:prstGeom prst="roundRect">
            <a:avLst>
              <a:gd name="adj" fmla="val 3429"/>
            </a:avLst>
          </a:prstGeom>
          <a:solidFill>
            <a:srgbClr val="131E35"/>
          </a:solidFill>
          <a:ln w="12700">
            <a:solidFill>
              <a:srgbClr val="1E2D4A"/>
            </a:solidFill>
            <a:prstDash val="solid"/>
          </a:ln>
        </p:spPr>
      </p:sp>
      <p:sp>
        <p:nvSpPr>
          <p:cNvPr id="15" name="Text 13">
            <a:extLst>
              <a:ext uri="{FF2B5EF4-FFF2-40B4-BE49-F238E27FC236}">
                <a16:creationId xmlns:a16="http://schemas.microsoft.com/office/drawing/2014/main" id="{B86F2C7F-7241-22FC-5CBA-D1CB88610308}"/>
              </a:ext>
            </a:extLst>
          </p:cNvPr>
          <p:cNvSpPr/>
          <p:nvPr/>
        </p:nvSpPr>
        <p:spPr>
          <a:xfrm>
            <a:off x="4937760" y="2834640"/>
            <a:ext cx="3840480" cy="365760"/>
          </a:xfrm>
          <a:prstGeom prst="rect">
            <a:avLst/>
          </a:prstGeom>
          <a:noFill/>
          <a:ln/>
        </p:spPr>
        <p:txBody>
          <a:bodyPr wrap="square" lIns="0" tIns="0" rIns="0" bIns="0" rtlCol="0" anchor="ctr"/>
          <a:lstStyle/>
          <a:p>
            <a:pPr marL="0" indent="0" algn="ctr">
              <a:buNone/>
            </a:pPr>
            <a:r>
              <a:rPr lang="en-US" sz="1200" dirty="0">
                <a:solidFill>
                  <a:srgbClr val="2A3A5A"/>
                </a:solidFill>
                <a:latin typeface="Calibri" pitchFamily="34" charset="0"/>
                <a:ea typeface="Calibri" pitchFamily="34" charset="-122"/>
                <a:cs typeface="Calibri" pitchFamily="34" charset="-120"/>
              </a:rPr>
              <a:t>[ Screenshot Placeholder ]</a:t>
            </a:r>
            <a:endParaRPr lang="en-US" sz="1200" dirty="0"/>
          </a:p>
        </p:txBody>
      </p:sp>
      <p:sp>
        <p:nvSpPr>
          <p:cNvPr id="16" name="Text 14">
            <a:extLst>
              <a:ext uri="{FF2B5EF4-FFF2-40B4-BE49-F238E27FC236}">
                <a16:creationId xmlns:a16="http://schemas.microsoft.com/office/drawing/2014/main" id="{4C505DDD-61CE-6E3C-1B06-0247CF0A5F77}"/>
              </a:ext>
            </a:extLst>
          </p:cNvPr>
          <p:cNvSpPr/>
          <p:nvPr/>
        </p:nvSpPr>
        <p:spPr>
          <a:xfrm>
            <a:off x="365760" y="4681728"/>
            <a:ext cx="3840480" cy="228600"/>
          </a:xfrm>
          <a:prstGeom prst="rect">
            <a:avLst/>
          </a:prstGeom>
          <a:noFill/>
          <a:ln/>
        </p:spPr>
        <p:txBody>
          <a:bodyPr wrap="square" lIns="0" tIns="0" rIns="0" bIns="0" rtlCol="0" anchor="ctr"/>
          <a:lstStyle/>
          <a:p>
            <a:pPr marL="0" indent="0" algn="ctr">
              <a:buNone/>
            </a:pPr>
            <a:r>
              <a:rPr lang="en-US" sz="1100" dirty="0">
                <a:solidFill>
                  <a:srgbClr val="8B9CC8"/>
                </a:solidFill>
                <a:latin typeface="Calibri" pitchFamily="34" charset="0"/>
                <a:ea typeface="Calibri" pitchFamily="34" charset="-122"/>
                <a:cs typeface="Calibri" pitchFamily="34" charset="-120"/>
              </a:rPr>
              <a:t>Physical Printer</a:t>
            </a:r>
            <a:endParaRPr lang="en-US" sz="1100" dirty="0"/>
          </a:p>
        </p:txBody>
      </p:sp>
      <p:sp>
        <p:nvSpPr>
          <p:cNvPr id="17" name="Text 15">
            <a:extLst>
              <a:ext uri="{FF2B5EF4-FFF2-40B4-BE49-F238E27FC236}">
                <a16:creationId xmlns:a16="http://schemas.microsoft.com/office/drawing/2014/main" id="{704DBCB7-00BC-9812-7F98-87E0F6CBA903}"/>
              </a:ext>
            </a:extLst>
          </p:cNvPr>
          <p:cNvSpPr/>
          <p:nvPr/>
        </p:nvSpPr>
        <p:spPr>
          <a:xfrm>
            <a:off x="4937760" y="4681728"/>
            <a:ext cx="3840480" cy="228600"/>
          </a:xfrm>
          <a:prstGeom prst="rect">
            <a:avLst/>
          </a:prstGeom>
          <a:noFill/>
          <a:ln/>
        </p:spPr>
        <p:txBody>
          <a:bodyPr wrap="square" lIns="0" tIns="0" rIns="0" bIns="0" rtlCol="0" anchor="ctr"/>
          <a:lstStyle/>
          <a:p>
            <a:pPr marL="0" indent="0" algn="ctr">
              <a:buNone/>
            </a:pPr>
            <a:r>
              <a:rPr lang="en-US" sz="1100" dirty="0">
                <a:solidFill>
                  <a:srgbClr val="8B9CC8"/>
                </a:solidFill>
                <a:latin typeface="Calibri" pitchFamily="34" charset="0"/>
                <a:ea typeface="Calibri" pitchFamily="34" charset="-122"/>
                <a:cs typeface="Calibri" pitchFamily="34" charset="-120"/>
              </a:rPr>
              <a:t>Digital Twin</a:t>
            </a:r>
            <a:endParaRPr lang="en-US" sz="1100" dirty="0"/>
          </a:p>
        </p:txBody>
      </p:sp>
      <p:pic>
        <p:nvPicPr>
          <p:cNvPr id="19" name="Image 18">
            <a:extLst>
              <a:ext uri="{FF2B5EF4-FFF2-40B4-BE49-F238E27FC236}">
                <a16:creationId xmlns:a16="http://schemas.microsoft.com/office/drawing/2014/main" id="{8B29DD29-E23E-596F-2841-1BDA2A27A585}"/>
              </a:ext>
            </a:extLst>
          </p:cNvPr>
          <p:cNvPicPr>
            <a:picLocks noChangeAspect="1"/>
          </p:cNvPicPr>
          <p:nvPr/>
        </p:nvPicPr>
        <p:blipFill>
          <a:blip r:embed="rId3"/>
          <a:stretch>
            <a:fillRect/>
          </a:stretch>
        </p:blipFill>
        <p:spPr>
          <a:xfrm>
            <a:off x="4936960" y="1432984"/>
            <a:ext cx="3854494" cy="3184736"/>
          </a:xfrm>
          <a:prstGeom prst="rect">
            <a:avLst/>
          </a:prstGeom>
        </p:spPr>
      </p:pic>
      <p:pic>
        <p:nvPicPr>
          <p:cNvPr id="21" name="Image 20">
            <a:extLst>
              <a:ext uri="{FF2B5EF4-FFF2-40B4-BE49-F238E27FC236}">
                <a16:creationId xmlns:a16="http://schemas.microsoft.com/office/drawing/2014/main" id="{822A6AF5-2EB5-DD7A-E51B-9E443CAE08F6}"/>
              </a:ext>
            </a:extLst>
          </p:cNvPr>
          <p:cNvPicPr>
            <a:picLocks noChangeAspect="1"/>
          </p:cNvPicPr>
          <p:nvPr/>
        </p:nvPicPr>
        <p:blipFill>
          <a:blip r:embed="rId4"/>
          <a:stretch>
            <a:fillRect/>
          </a:stretch>
        </p:blipFill>
        <p:spPr>
          <a:xfrm>
            <a:off x="365760" y="1432984"/>
            <a:ext cx="3840480" cy="3184736"/>
          </a:xfrm>
          <a:prstGeom prst="rect">
            <a:avLst/>
          </a:prstGeom>
        </p:spPr>
      </p:pic>
    </p:spTree>
    <p:extLst>
      <p:ext uri="{BB962C8B-B14F-4D97-AF65-F5344CB8AC3E}">
        <p14:creationId xmlns:p14="http://schemas.microsoft.com/office/powerpoint/2010/main" val="1452200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914400"/>
            <a:ext cx="9144000" cy="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sp>
      <p:sp>
        <p:nvSpPr>
          <p:cNvPr id="4" name="Shape 2"/>
          <p:cNvSpPr/>
          <p:nvPr/>
        </p:nvSpPr>
        <p:spPr>
          <a:xfrm>
            <a:off x="0" y="2467244"/>
            <a:ext cx="9144000" cy="0"/>
          </a:xfrm>
          <a:prstGeom prst="line">
            <a:avLst/>
          </a:prstGeom>
          <a:noFill/>
          <a:ln w="6350">
            <a:solidFill>
              <a:srgbClr val="1A2540"/>
            </a:solidFill>
            <a:prstDash val="solid"/>
          </a:ln>
        </p:spPr>
      </p:sp>
      <p:sp>
        <p:nvSpPr>
          <p:cNvPr id="5" name="Shape 3"/>
          <p:cNvSpPr/>
          <p:nvPr/>
        </p:nvSpPr>
        <p:spPr>
          <a:xfrm>
            <a:off x="0" y="3313062"/>
            <a:ext cx="9144000" cy="0"/>
          </a:xfrm>
          <a:prstGeom prst="line">
            <a:avLst/>
          </a:prstGeom>
          <a:noFill/>
          <a:ln w="6350">
            <a:solidFill>
              <a:srgbClr val="1A2540"/>
            </a:solidFill>
            <a:prstDash val="solid"/>
          </a:ln>
        </p:spPr>
      </p:sp>
      <p:sp>
        <p:nvSpPr>
          <p:cNvPr id="6" name="Shape 4"/>
          <p:cNvSpPr/>
          <p:nvPr/>
        </p:nvSpPr>
        <p:spPr>
          <a:xfrm>
            <a:off x="0" y="4028255"/>
            <a:ext cx="9144000" cy="0"/>
          </a:xfrm>
          <a:prstGeom prst="line">
            <a:avLst/>
          </a:prstGeom>
          <a:noFill/>
          <a:ln w="6350">
            <a:solidFill>
              <a:srgbClr val="1A2540"/>
            </a:solidFill>
            <a:prstDash val="solid"/>
          </a:ln>
        </p:spPr>
      </p:sp>
      <p:sp>
        <p:nvSpPr>
          <p:cNvPr id="7" name="Shape 5"/>
          <p:cNvSpPr/>
          <p:nvPr/>
        </p:nvSpPr>
        <p:spPr>
          <a:xfrm>
            <a:off x="0" y="4645477"/>
            <a:ext cx="9144000" cy="0"/>
          </a:xfrm>
          <a:prstGeom prst="line">
            <a:avLst/>
          </a:prstGeom>
          <a:noFill/>
          <a:ln w="6350">
            <a:solidFill>
              <a:srgbClr val="1A2540"/>
            </a:solidFill>
            <a:prstDash val="solid"/>
          </a:ln>
        </p:spPr>
      </p:sp>
      <p:sp>
        <p:nvSpPr>
          <p:cNvPr id="8" name="Text 6"/>
          <p:cNvSpPr/>
          <p:nvPr/>
        </p:nvSpPr>
        <p:spPr>
          <a:xfrm>
            <a:off x="457200" y="164592"/>
            <a:ext cx="8229600" cy="228600"/>
          </a:xfrm>
          <a:prstGeom prst="rect">
            <a:avLst/>
          </a:prstGeom>
          <a:noFill/>
          <a:ln/>
        </p:spPr>
        <p:txBody>
          <a:bodyPr wrap="square" lIns="0" tIns="0" rIns="0" bIns="0" rtlCol="0" anchor="ctr"/>
          <a:lstStyle/>
          <a:p>
            <a:pPr marL="0" indent="0" algn="l">
              <a:buNone/>
            </a:pPr>
            <a:r>
              <a:rPr lang="en-US" sz="900" b="1" kern="0" spc="300" dirty="0">
                <a:solidFill>
                  <a:srgbClr val="00C896"/>
                </a:solidFill>
                <a:latin typeface="Calibri" pitchFamily="34" charset="0"/>
                <a:ea typeface="Calibri" pitchFamily="34" charset="-122"/>
                <a:cs typeface="Calibri" pitchFamily="34" charset="-120"/>
              </a:rPr>
              <a:t>11 — OUR TEAM</a:t>
            </a:r>
            <a:endParaRPr lang="en-US" sz="900" dirty="0"/>
          </a:p>
        </p:txBody>
      </p:sp>
      <p:sp>
        <p:nvSpPr>
          <p:cNvPr id="9" name="Text 7"/>
          <p:cNvSpPr/>
          <p:nvPr/>
        </p:nvSpPr>
        <p:spPr>
          <a:xfrm>
            <a:off x="457200" y="384048"/>
            <a:ext cx="8229600" cy="50292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University, Labels &amp; Team</a:t>
            </a:r>
            <a:endParaRPr lang="en-US" sz="2600" dirty="0"/>
          </a:p>
        </p:txBody>
      </p:sp>
      <p:sp>
        <p:nvSpPr>
          <p:cNvPr id="10" name="Shape 8"/>
          <p:cNvSpPr/>
          <p:nvPr/>
        </p:nvSpPr>
        <p:spPr>
          <a:xfrm>
            <a:off x="365760" y="1005840"/>
            <a:ext cx="5303520" cy="1051560"/>
          </a:xfrm>
          <a:prstGeom prst="roundRect">
            <a:avLst>
              <a:gd name="adj" fmla="val 8696"/>
            </a:avLst>
          </a:prstGeom>
          <a:solidFill>
            <a:srgbClr val="131E35"/>
          </a:solidFill>
          <a:ln w="6350">
            <a:solidFill>
              <a:srgbClr val="00C896"/>
            </a:solidFill>
            <a:prstDash val="solid"/>
          </a:ln>
        </p:spPr>
      </p:sp>
      <p:sp>
        <p:nvSpPr>
          <p:cNvPr id="11" name="Text 9"/>
          <p:cNvSpPr/>
          <p:nvPr/>
        </p:nvSpPr>
        <p:spPr>
          <a:xfrm>
            <a:off x="548640" y="1108708"/>
            <a:ext cx="493776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  University of Abdelhamid Mehri — Constantine 2</a:t>
            </a:r>
            <a:endParaRPr lang="en-US" sz="1400" dirty="0"/>
          </a:p>
        </p:txBody>
      </p:sp>
      <p:sp>
        <p:nvSpPr>
          <p:cNvPr id="12" name="Text 10"/>
          <p:cNvSpPr/>
          <p:nvPr/>
        </p:nvSpPr>
        <p:spPr>
          <a:xfrm>
            <a:off x="548640" y="1389888"/>
            <a:ext cx="4937760" cy="548640"/>
          </a:xfrm>
          <a:prstGeom prst="rect">
            <a:avLst/>
          </a:prstGeom>
          <a:noFill/>
          <a:ln/>
        </p:spPr>
        <p:txBody>
          <a:bodyPr wrap="square" lIns="0" tIns="0" rIns="0" bIns="0" rtlCol="0" anchor="ctr"/>
          <a:lstStyle/>
          <a:p>
            <a:pPr marL="0" indent="0" algn="l">
              <a:buNone/>
            </a:pPr>
            <a:r>
              <a:rPr lang="en-US" sz="1100" dirty="0">
                <a:solidFill>
                  <a:srgbClr val="8B9CC8"/>
                </a:solidFill>
                <a:latin typeface="Calibri" pitchFamily="34" charset="0"/>
                <a:ea typeface="Calibri" pitchFamily="34" charset="-122"/>
                <a:cs typeface="Calibri" pitchFamily="34" charset="-120"/>
              </a:rPr>
              <a:t>Faculty NTIC  ·  Dept. Fundamental Computing (IFA)</a:t>
            </a:r>
            <a:endParaRPr lang="en-US" sz="1100" dirty="0"/>
          </a:p>
          <a:p>
            <a:pPr marL="0" indent="0" algn="l">
              <a:buNone/>
            </a:pPr>
            <a:r>
              <a:rPr lang="en-US" sz="1100" dirty="0">
                <a:solidFill>
                  <a:srgbClr val="8B9CC8"/>
                </a:solidFill>
                <a:latin typeface="Calibri" pitchFamily="34" charset="0"/>
                <a:ea typeface="Calibri" pitchFamily="34" charset="-122"/>
                <a:cs typeface="Calibri" pitchFamily="34" charset="-120"/>
              </a:rPr>
              <a:t>Option: Software Engineering &amp; Smart Systems (ILSI)  ·  Master's Thesis 2026</a:t>
            </a:r>
            <a:endParaRPr lang="en-US" sz="1100" dirty="0"/>
          </a:p>
        </p:txBody>
      </p:sp>
      <p:sp>
        <p:nvSpPr>
          <p:cNvPr id="13" name="Shape 11"/>
          <p:cNvSpPr/>
          <p:nvPr/>
        </p:nvSpPr>
        <p:spPr>
          <a:xfrm>
            <a:off x="5852160" y="1005840"/>
            <a:ext cx="2926080" cy="1051560"/>
          </a:xfrm>
          <a:prstGeom prst="roundRect">
            <a:avLst>
              <a:gd name="adj" fmla="val 8696"/>
            </a:avLst>
          </a:prstGeom>
          <a:solidFill>
            <a:srgbClr val="131E35"/>
          </a:solidFill>
          <a:ln w="6350">
            <a:solidFill>
              <a:srgbClr val="FFD166"/>
            </a:solidFill>
            <a:prstDash val="solid"/>
          </a:ln>
        </p:spPr>
      </p:sp>
      <p:sp>
        <p:nvSpPr>
          <p:cNvPr id="14" name="Text 12"/>
          <p:cNvSpPr/>
          <p:nvPr/>
        </p:nvSpPr>
        <p:spPr>
          <a:xfrm>
            <a:off x="6035040" y="1051560"/>
            <a:ext cx="2560320" cy="274320"/>
          </a:xfrm>
          <a:prstGeom prst="rect">
            <a:avLst/>
          </a:prstGeom>
          <a:noFill/>
          <a:ln/>
        </p:spPr>
        <p:txBody>
          <a:bodyPr wrap="square" lIns="0" tIns="0" rIns="0" bIns="0" rtlCol="0" anchor="ctr"/>
          <a:lstStyle/>
          <a:p>
            <a:pPr marL="0" indent="0" algn="l">
              <a:buNone/>
            </a:pPr>
            <a:r>
              <a:rPr lang="en-US" sz="1400" b="1" dirty="0">
                <a:solidFill>
                  <a:srgbClr val="FFD166"/>
                </a:solidFill>
                <a:latin typeface="Calibri" pitchFamily="34" charset="0"/>
                <a:ea typeface="Calibri" pitchFamily="34" charset="-122"/>
                <a:cs typeface="Calibri" pitchFamily="34" charset="-120"/>
              </a:rPr>
              <a:t>🏆 Label</a:t>
            </a:r>
            <a:endParaRPr lang="en-US" sz="1400" dirty="0"/>
          </a:p>
        </p:txBody>
      </p:sp>
      <p:sp>
        <p:nvSpPr>
          <p:cNvPr id="15" name="Text 13"/>
          <p:cNvSpPr/>
          <p:nvPr/>
        </p:nvSpPr>
        <p:spPr>
          <a:xfrm>
            <a:off x="6035040" y="1353312"/>
            <a:ext cx="2560320" cy="594360"/>
          </a:xfrm>
          <a:prstGeom prst="rect">
            <a:avLst/>
          </a:prstGeom>
          <a:noFill/>
          <a:ln/>
        </p:spPr>
        <p:txBody>
          <a:bodyPr wrap="square" lIns="0" tIns="0" rIns="0" bIns="0" rtlCol="0" anchor="ctr"/>
          <a:lstStyle/>
          <a:p>
            <a:r>
              <a:rPr lang="en-US" sz="1100" dirty="0">
                <a:solidFill>
                  <a:srgbClr val="8B9CC8"/>
                </a:solidFill>
                <a:latin typeface="Calibri" pitchFamily="34" charset="0"/>
                <a:ea typeface="Calibri" pitchFamily="34" charset="-122"/>
                <a:cs typeface="Calibri" pitchFamily="34" charset="-120"/>
              </a:rPr>
              <a:t>University of Constantine 2</a:t>
            </a:r>
            <a:endParaRPr lang="en-US" sz="1100" dirty="0"/>
          </a:p>
          <a:p>
            <a:pPr marL="0" indent="0" algn="l">
              <a:buNone/>
            </a:pPr>
            <a:r>
              <a:rPr lang="en-US" sz="1100" dirty="0">
                <a:solidFill>
                  <a:srgbClr val="8B9CC8"/>
                </a:solidFill>
                <a:latin typeface="Calibri" pitchFamily="34" charset="0"/>
                <a:ea typeface="Calibri" pitchFamily="34" charset="-122"/>
                <a:cs typeface="Calibri" pitchFamily="34" charset="-120"/>
              </a:rPr>
              <a:t> incubator </a:t>
            </a:r>
          </a:p>
        </p:txBody>
      </p:sp>
      <p:sp>
        <p:nvSpPr>
          <p:cNvPr id="16" name="Shape 14"/>
          <p:cNvSpPr/>
          <p:nvPr/>
        </p:nvSpPr>
        <p:spPr>
          <a:xfrm>
            <a:off x="365760" y="2194560"/>
            <a:ext cx="2743200" cy="2377440"/>
          </a:xfrm>
          <a:prstGeom prst="roundRect">
            <a:avLst>
              <a:gd name="adj" fmla="val 5556"/>
            </a:avLst>
          </a:prstGeom>
          <a:solidFill>
            <a:srgbClr val="131E35"/>
          </a:solidFill>
          <a:ln w="6350">
            <a:solidFill>
              <a:srgbClr val="1E2D4A"/>
            </a:solidFill>
            <a:prstDash val="solid"/>
          </a:ln>
        </p:spPr>
        <p:txBody>
          <a:bodyPr/>
          <a:lstStyle/>
          <a:p>
            <a:endParaRPr lang="en-US" sz="2000" dirty="0"/>
          </a:p>
        </p:txBody>
      </p:sp>
      <p:sp>
        <p:nvSpPr>
          <p:cNvPr id="17" name="Shape 15"/>
          <p:cNvSpPr/>
          <p:nvPr/>
        </p:nvSpPr>
        <p:spPr>
          <a:xfrm>
            <a:off x="1371600" y="2375804"/>
            <a:ext cx="731520" cy="731520"/>
          </a:xfrm>
          <a:prstGeom prst="ellipse">
            <a:avLst/>
          </a:prstGeom>
          <a:solidFill>
            <a:srgbClr val="00C896">
              <a:alpha val="80000"/>
            </a:srgbClr>
          </a:solidFill>
          <a:ln/>
        </p:spPr>
      </p:sp>
      <p:sp>
        <p:nvSpPr>
          <p:cNvPr id="18" name="Text 16"/>
          <p:cNvSpPr/>
          <p:nvPr/>
        </p:nvSpPr>
        <p:spPr>
          <a:xfrm>
            <a:off x="1371600" y="237580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L</a:t>
            </a:r>
            <a:endParaRPr lang="en-US" sz="2400" dirty="0"/>
          </a:p>
        </p:txBody>
      </p:sp>
      <p:sp>
        <p:nvSpPr>
          <p:cNvPr id="19" name="Text 17"/>
          <p:cNvSpPr/>
          <p:nvPr/>
        </p:nvSpPr>
        <p:spPr>
          <a:xfrm>
            <a:off x="457200" y="3204970"/>
            <a:ext cx="256032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LEGHELIMI Houssem eddine</a:t>
            </a:r>
            <a:endParaRPr lang="en-US" sz="1400" dirty="0"/>
          </a:p>
        </p:txBody>
      </p:sp>
      <p:sp>
        <p:nvSpPr>
          <p:cNvPr id="20" name="Text 18"/>
          <p:cNvSpPr/>
          <p:nvPr/>
        </p:nvSpPr>
        <p:spPr>
          <a:xfrm>
            <a:off x="457200" y="3497578"/>
            <a:ext cx="2560320" cy="201168"/>
          </a:xfrm>
          <a:prstGeom prst="rect">
            <a:avLst/>
          </a:prstGeom>
          <a:noFill/>
          <a:ln/>
        </p:spPr>
        <p:txBody>
          <a:bodyPr wrap="square" lIns="0" tIns="0" rIns="0" bIns="0" rtlCol="0" anchor="ctr"/>
          <a:lstStyle/>
          <a:p>
            <a:pPr marL="0" indent="0" algn="ctr">
              <a:buNone/>
            </a:pPr>
            <a:r>
              <a:rPr lang="en-US" sz="1200" dirty="0">
                <a:solidFill>
                  <a:srgbClr val="00C896"/>
                </a:solidFill>
                <a:latin typeface="Calibri" pitchFamily="34" charset="0"/>
                <a:ea typeface="Calibri" pitchFamily="34" charset="-122"/>
                <a:cs typeface="Calibri" pitchFamily="34" charset="-120"/>
              </a:rPr>
              <a:t>Developer</a:t>
            </a:r>
            <a:endParaRPr lang="en-US" sz="1200" dirty="0"/>
          </a:p>
        </p:txBody>
      </p:sp>
      <p:sp>
        <p:nvSpPr>
          <p:cNvPr id="21" name="Text 19"/>
          <p:cNvSpPr/>
          <p:nvPr/>
        </p:nvSpPr>
        <p:spPr>
          <a:xfrm>
            <a:off x="457200" y="3781367"/>
            <a:ext cx="2560320" cy="201168"/>
          </a:xfrm>
          <a:prstGeom prst="rect">
            <a:avLst/>
          </a:prstGeom>
          <a:noFill/>
          <a:ln/>
        </p:spPr>
        <p:txBody>
          <a:bodyPr wrap="square" lIns="0" tIns="0" rIns="0" bIns="0" rtlCol="0" anchor="ctr"/>
          <a:lstStyle/>
          <a:p>
            <a:pPr marL="0" indent="0" algn="ctr">
              <a:buNone/>
            </a:pPr>
            <a:r>
              <a:rPr lang="en-US" sz="1100" dirty="0">
                <a:solidFill>
                  <a:srgbClr val="8B9CC8"/>
                </a:solidFill>
                <a:latin typeface="Calibri" pitchFamily="34" charset="0"/>
                <a:ea typeface="Calibri" pitchFamily="34" charset="-122"/>
                <a:cs typeface="Calibri" pitchFamily="34" charset="-120"/>
              </a:rPr>
              <a:t>Master 2 — Computer Science</a:t>
            </a:r>
            <a:endParaRPr lang="en-US" sz="1100" dirty="0"/>
          </a:p>
          <a:p>
            <a:pPr marL="0" indent="0" algn="ctr">
              <a:buNone/>
            </a:pPr>
            <a:r>
              <a:rPr lang="en-US" sz="1100" dirty="0">
                <a:solidFill>
                  <a:srgbClr val="8B9CC8"/>
                </a:solidFill>
                <a:latin typeface="Calibri" pitchFamily="34" charset="0"/>
                <a:ea typeface="Calibri" pitchFamily="34" charset="-122"/>
                <a:cs typeface="Calibri" pitchFamily="34" charset="-120"/>
              </a:rPr>
              <a:t>System architecture &amp; ML pipeline</a:t>
            </a:r>
            <a:endParaRPr lang="en-US" sz="1100" dirty="0"/>
          </a:p>
        </p:txBody>
      </p:sp>
      <p:sp>
        <p:nvSpPr>
          <p:cNvPr id="22" name="Shape 20"/>
          <p:cNvSpPr/>
          <p:nvPr/>
        </p:nvSpPr>
        <p:spPr>
          <a:xfrm>
            <a:off x="6035040" y="2192883"/>
            <a:ext cx="2743200" cy="2377440"/>
          </a:xfrm>
          <a:prstGeom prst="roundRect">
            <a:avLst>
              <a:gd name="adj" fmla="val 5556"/>
            </a:avLst>
          </a:prstGeom>
          <a:solidFill>
            <a:srgbClr val="131E35"/>
          </a:solidFill>
          <a:ln w="6350">
            <a:solidFill>
              <a:srgbClr val="1E2D4A"/>
            </a:solidFill>
            <a:prstDash val="solid"/>
          </a:ln>
        </p:spPr>
      </p:sp>
      <p:sp>
        <p:nvSpPr>
          <p:cNvPr id="23" name="Shape 21"/>
          <p:cNvSpPr/>
          <p:nvPr/>
        </p:nvSpPr>
        <p:spPr>
          <a:xfrm>
            <a:off x="7040880" y="2374127"/>
            <a:ext cx="731520" cy="731520"/>
          </a:xfrm>
          <a:prstGeom prst="ellipse">
            <a:avLst/>
          </a:prstGeom>
          <a:solidFill>
            <a:srgbClr val="00C896">
              <a:alpha val="80000"/>
            </a:srgbClr>
          </a:solidFill>
          <a:ln/>
        </p:spPr>
      </p:sp>
      <p:sp>
        <p:nvSpPr>
          <p:cNvPr id="24" name="Text 22"/>
          <p:cNvSpPr/>
          <p:nvPr/>
        </p:nvSpPr>
        <p:spPr>
          <a:xfrm>
            <a:off x="7040880" y="2374127"/>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25" name="Text 23"/>
          <p:cNvSpPr/>
          <p:nvPr/>
        </p:nvSpPr>
        <p:spPr>
          <a:xfrm>
            <a:off x="6126480" y="3203293"/>
            <a:ext cx="256032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CHAIN Mouadh</a:t>
            </a:r>
            <a:endParaRPr lang="en-US" sz="1400" dirty="0"/>
          </a:p>
        </p:txBody>
      </p:sp>
      <p:sp>
        <p:nvSpPr>
          <p:cNvPr id="26" name="Text 24"/>
          <p:cNvSpPr/>
          <p:nvPr/>
        </p:nvSpPr>
        <p:spPr>
          <a:xfrm>
            <a:off x="6126480" y="3495901"/>
            <a:ext cx="2560320" cy="201168"/>
          </a:xfrm>
          <a:prstGeom prst="rect">
            <a:avLst/>
          </a:prstGeom>
          <a:noFill/>
          <a:ln/>
        </p:spPr>
        <p:txBody>
          <a:bodyPr wrap="square" lIns="0" tIns="0" rIns="0" bIns="0" rtlCol="0" anchor="ctr"/>
          <a:lstStyle/>
          <a:p>
            <a:pPr marL="0" indent="0" algn="ctr">
              <a:buNone/>
            </a:pPr>
            <a:r>
              <a:rPr lang="en-US" sz="1200" dirty="0">
                <a:solidFill>
                  <a:srgbClr val="00C896"/>
                </a:solidFill>
                <a:latin typeface="Calibri" pitchFamily="34" charset="0"/>
                <a:ea typeface="Calibri" pitchFamily="34" charset="-122"/>
                <a:cs typeface="Calibri" pitchFamily="34" charset="-120"/>
              </a:rPr>
              <a:t>Developer</a:t>
            </a:r>
            <a:endParaRPr lang="en-US" sz="1200" dirty="0"/>
          </a:p>
        </p:txBody>
      </p:sp>
      <p:sp>
        <p:nvSpPr>
          <p:cNvPr id="27" name="Text 25"/>
          <p:cNvSpPr/>
          <p:nvPr/>
        </p:nvSpPr>
        <p:spPr>
          <a:xfrm>
            <a:off x="6126480" y="3779690"/>
            <a:ext cx="2560320" cy="201168"/>
          </a:xfrm>
          <a:prstGeom prst="rect">
            <a:avLst/>
          </a:prstGeom>
          <a:noFill/>
          <a:ln/>
        </p:spPr>
        <p:txBody>
          <a:bodyPr wrap="square" lIns="0" tIns="0" rIns="0" bIns="0" rtlCol="0" anchor="ctr"/>
          <a:lstStyle/>
          <a:p>
            <a:pPr marL="0" indent="0" algn="ctr">
              <a:buNone/>
            </a:pPr>
            <a:r>
              <a:rPr lang="en-US" sz="1100" dirty="0">
                <a:solidFill>
                  <a:srgbClr val="8B9CC8"/>
                </a:solidFill>
                <a:latin typeface="Calibri" pitchFamily="34" charset="0"/>
                <a:ea typeface="Calibri" pitchFamily="34" charset="-122"/>
                <a:cs typeface="Calibri" pitchFamily="34" charset="-120"/>
              </a:rPr>
              <a:t>Master 2 — Computer Science</a:t>
            </a:r>
            <a:endParaRPr lang="en-US" sz="1100" dirty="0"/>
          </a:p>
          <a:p>
            <a:pPr marL="0" indent="0" algn="ctr">
              <a:buNone/>
            </a:pPr>
            <a:r>
              <a:rPr lang="en-US" sz="1100" dirty="0">
                <a:solidFill>
                  <a:srgbClr val="8B9CC8"/>
                </a:solidFill>
                <a:latin typeface="Calibri" pitchFamily="34" charset="0"/>
                <a:ea typeface="Calibri" pitchFamily="34" charset="-122"/>
                <a:cs typeface="Calibri" pitchFamily="34" charset="-120"/>
              </a:rPr>
              <a:t>IoT, sensors &amp; web dashboard</a:t>
            </a:r>
            <a:endParaRPr lang="en-US" sz="1100" dirty="0"/>
          </a:p>
        </p:txBody>
      </p:sp>
      <p:sp>
        <p:nvSpPr>
          <p:cNvPr id="28" name="Shape 26"/>
          <p:cNvSpPr/>
          <p:nvPr/>
        </p:nvSpPr>
        <p:spPr>
          <a:xfrm>
            <a:off x="3200400" y="2192882"/>
            <a:ext cx="2743200" cy="2377437"/>
          </a:xfrm>
          <a:prstGeom prst="roundRect">
            <a:avLst>
              <a:gd name="adj" fmla="val 5556"/>
            </a:avLst>
          </a:prstGeom>
          <a:solidFill>
            <a:srgbClr val="131E35"/>
          </a:solidFill>
          <a:ln w="6350">
            <a:solidFill>
              <a:srgbClr val="1E2D4A"/>
            </a:solidFill>
            <a:prstDash val="solid"/>
          </a:ln>
        </p:spPr>
      </p:sp>
      <p:sp>
        <p:nvSpPr>
          <p:cNvPr id="29" name="Shape 27"/>
          <p:cNvSpPr/>
          <p:nvPr/>
        </p:nvSpPr>
        <p:spPr>
          <a:xfrm>
            <a:off x="4206240" y="2374127"/>
            <a:ext cx="731520" cy="731520"/>
          </a:xfrm>
          <a:prstGeom prst="ellipse">
            <a:avLst/>
          </a:prstGeom>
          <a:solidFill>
            <a:srgbClr val="00C896">
              <a:alpha val="80000"/>
            </a:srgbClr>
          </a:solidFill>
          <a:ln/>
        </p:spPr>
      </p:sp>
      <p:sp>
        <p:nvSpPr>
          <p:cNvPr id="30" name="Text 28"/>
          <p:cNvSpPr/>
          <p:nvPr/>
        </p:nvSpPr>
        <p:spPr>
          <a:xfrm>
            <a:off x="4206240" y="2374127"/>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31" name="Text 29"/>
          <p:cNvSpPr/>
          <p:nvPr/>
        </p:nvSpPr>
        <p:spPr>
          <a:xfrm>
            <a:off x="3291840" y="3203293"/>
            <a:ext cx="256032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DR. DJENOUHAT Manel</a:t>
            </a:r>
            <a:endParaRPr lang="en-US" sz="1400" dirty="0"/>
          </a:p>
        </p:txBody>
      </p:sp>
      <p:sp>
        <p:nvSpPr>
          <p:cNvPr id="32" name="Text 30"/>
          <p:cNvSpPr/>
          <p:nvPr/>
        </p:nvSpPr>
        <p:spPr>
          <a:xfrm>
            <a:off x="3291840" y="3495901"/>
            <a:ext cx="2560320" cy="201168"/>
          </a:xfrm>
          <a:prstGeom prst="rect">
            <a:avLst/>
          </a:prstGeom>
          <a:noFill/>
          <a:ln/>
        </p:spPr>
        <p:txBody>
          <a:bodyPr wrap="square" lIns="0" tIns="0" rIns="0" bIns="0" rtlCol="0" anchor="ctr"/>
          <a:lstStyle/>
          <a:p>
            <a:pPr marL="0" indent="0" algn="ctr">
              <a:buNone/>
            </a:pPr>
            <a:r>
              <a:rPr lang="en-US" sz="1200" dirty="0">
                <a:solidFill>
                  <a:srgbClr val="00C896"/>
                </a:solidFill>
                <a:latin typeface="Calibri" pitchFamily="34" charset="0"/>
                <a:ea typeface="Calibri" pitchFamily="34" charset="-122"/>
                <a:cs typeface="Calibri" pitchFamily="34" charset="-120"/>
              </a:rPr>
              <a:t>Supervisor</a:t>
            </a:r>
            <a:endParaRPr lang="en-US" sz="1200" dirty="0"/>
          </a:p>
        </p:txBody>
      </p:sp>
      <p:sp>
        <p:nvSpPr>
          <p:cNvPr id="33" name="Text 31"/>
          <p:cNvSpPr/>
          <p:nvPr/>
        </p:nvSpPr>
        <p:spPr>
          <a:xfrm>
            <a:off x="3291840" y="3779690"/>
            <a:ext cx="2560320" cy="201168"/>
          </a:xfrm>
          <a:prstGeom prst="rect">
            <a:avLst/>
          </a:prstGeom>
          <a:noFill/>
          <a:ln/>
        </p:spPr>
        <p:txBody>
          <a:bodyPr wrap="square" lIns="0" tIns="0" rIns="0" bIns="0" rtlCol="0" anchor="ctr"/>
          <a:lstStyle/>
          <a:p>
            <a:pPr marL="0" indent="0" algn="ctr">
              <a:buNone/>
            </a:pPr>
            <a:r>
              <a:rPr lang="en-US" sz="1100" dirty="0">
                <a:solidFill>
                  <a:srgbClr val="8B9CC8"/>
                </a:solidFill>
                <a:latin typeface="Calibri" pitchFamily="34" charset="0"/>
                <a:ea typeface="Calibri" pitchFamily="34" charset="-122"/>
                <a:cs typeface="Calibri" pitchFamily="34" charset="-120"/>
              </a:rPr>
              <a:t>Doctorate — Lecturer-Researcher</a:t>
            </a:r>
            <a:endParaRPr lang="en-US" sz="1100" dirty="0"/>
          </a:p>
          <a:p>
            <a:pPr marL="0" indent="0" algn="ctr">
              <a:buNone/>
            </a:pPr>
            <a:r>
              <a:rPr lang="en-US" sz="1100" dirty="0">
                <a:solidFill>
                  <a:srgbClr val="8B9CC8"/>
                </a:solidFill>
                <a:latin typeface="Calibri" pitchFamily="34" charset="0"/>
                <a:ea typeface="Calibri" pitchFamily="34" charset="-122"/>
                <a:cs typeface="Calibri" pitchFamily="34" charset="-120"/>
              </a:rPr>
              <a:t>University of Constantine 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a:effectLst/>
      </p:bgPr>
    </p:bg>
    <p:spTree>
      <p:nvGrpSpPr>
        <p:cNvPr id="1" name=""/>
        <p:cNvGrpSpPr/>
        <p:nvPr/>
      </p:nvGrpSpPr>
      <p:grpSpPr>
        <a:xfrm>
          <a:off x="0" y="0"/>
          <a:ext cx="0" cy="0"/>
          <a:chOff x="0" y="0"/>
          <a:chExt cx="0" cy="0"/>
        </a:xfrm>
      </p:grpSpPr>
      <p:sp>
        <p:nvSpPr>
          <p:cNvPr id="2" name="Shape 0"/>
          <p:cNvSpPr/>
          <p:nvPr/>
        </p:nvSpPr>
        <p:spPr>
          <a:xfrm>
            <a:off x="0" y="914400"/>
            <a:ext cx="9144000" cy="0"/>
          </a:xfrm>
          <a:prstGeom prst="line">
            <a:avLst/>
          </a:prstGeom>
          <a:noFill/>
          <a:ln w="6350">
            <a:solidFill>
              <a:srgbClr val="1A2540"/>
            </a:solidFill>
            <a:prstDash val="solid"/>
          </a:ln>
        </p:spPr>
      </p:sp>
      <p:sp>
        <p:nvSpPr>
          <p:cNvPr id="3" name="Shape 1"/>
          <p:cNvSpPr/>
          <p:nvPr/>
        </p:nvSpPr>
        <p:spPr>
          <a:xfrm>
            <a:off x="0" y="1645920"/>
            <a:ext cx="9144000" cy="0"/>
          </a:xfrm>
          <a:prstGeom prst="line">
            <a:avLst/>
          </a:prstGeom>
          <a:noFill/>
          <a:ln w="6350">
            <a:solidFill>
              <a:srgbClr val="1A2540"/>
            </a:solidFill>
            <a:prstDash val="solid"/>
          </a:ln>
        </p:spPr>
      </p:sp>
      <p:sp>
        <p:nvSpPr>
          <p:cNvPr id="4" name="Shape 2"/>
          <p:cNvSpPr/>
          <p:nvPr/>
        </p:nvSpPr>
        <p:spPr>
          <a:xfrm>
            <a:off x="0" y="2377440"/>
            <a:ext cx="9144000" cy="0"/>
          </a:xfrm>
          <a:prstGeom prst="line">
            <a:avLst/>
          </a:prstGeom>
          <a:noFill/>
          <a:ln w="6350">
            <a:solidFill>
              <a:srgbClr val="1A2540"/>
            </a:solidFill>
            <a:prstDash val="solid"/>
          </a:ln>
        </p:spPr>
      </p:sp>
      <p:sp>
        <p:nvSpPr>
          <p:cNvPr id="5" name="Shape 3"/>
          <p:cNvSpPr/>
          <p:nvPr/>
        </p:nvSpPr>
        <p:spPr>
          <a:xfrm>
            <a:off x="0" y="3108960"/>
            <a:ext cx="9144000" cy="0"/>
          </a:xfrm>
          <a:prstGeom prst="line">
            <a:avLst/>
          </a:prstGeom>
          <a:noFill/>
          <a:ln w="6350">
            <a:solidFill>
              <a:srgbClr val="1A2540"/>
            </a:solidFill>
            <a:prstDash val="solid"/>
          </a:ln>
        </p:spPr>
      </p:sp>
      <p:sp>
        <p:nvSpPr>
          <p:cNvPr id="6" name="Shape 4"/>
          <p:cNvSpPr/>
          <p:nvPr/>
        </p:nvSpPr>
        <p:spPr>
          <a:xfrm>
            <a:off x="0" y="3840480"/>
            <a:ext cx="9144000" cy="0"/>
          </a:xfrm>
          <a:prstGeom prst="line">
            <a:avLst/>
          </a:prstGeom>
          <a:noFill/>
          <a:ln w="6350">
            <a:solidFill>
              <a:srgbClr val="1A2540"/>
            </a:solidFill>
            <a:prstDash val="solid"/>
          </a:ln>
        </p:spPr>
      </p:sp>
      <p:sp>
        <p:nvSpPr>
          <p:cNvPr id="7" name="Shape 5"/>
          <p:cNvSpPr/>
          <p:nvPr/>
        </p:nvSpPr>
        <p:spPr>
          <a:xfrm>
            <a:off x="0" y="4572000"/>
            <a:ext cx="9144000" cy="0"/>
          </a:xfrm>
          <a:prstGeom prst="line">
            <a:avLst/>
          </a:prstGeom>
          <a:noFill/>
          <a:ln w="6350">
            <a:solidFill>
              <a:srgbClr val="1A2540"/>
            </a:solidFill>
            <a:prstDash val="solid"/>
          </a:ln>
        </p:spPr>
      </p:sp>
      <p:sp>
        <p:nvSpPr>
          <p:cNvPr id="8" name="Shape 6"/>
          <p:cNvSpPr/>
          <p:nvPr/>
        </p:nvSpPr>
        <p:spPr>
          <a:xfrm>
            <a:off x="731520" y="0"/>
            <a:ext cx="0" cy="5143500"/>
          </a:xfrm>
          <a:prstGeom prst="line">
            <a:avLst/>
          </a:prstGeom>
          <a:noFill/>
          <a:ln w="6350">
            <a:solidFill>
              <a:srgbClr val="1A2540"/>
            </a:solidFill>
            <a:prstDash val="solid"/>
          </a:ln>
        </p:spPr>
      </p:sp>
      <p:sp>
        <p:nvSpPr>
          <p:cNvPr id="9" name="Shape 7"/>
          <p:cNvSpPr/>
          <p:nvPr/>
        </p:nvSpPr>
        <p:spPr>
          <a:xfrm>
            <a:off x="1554480" y="0"/>
            <a:ext cx="0" cy="5143500"/>
          </a:xfrm>
          <a:prstGeom prst="line">
            <a:avLst/>
          </a:prstGeom>
          <a:noFill/>
          <a:ln w="6350">
            <a:solidFill>
              <a:srgbClr val="1A2540"/>
            </a:solidFill>
            <a:prstDash val="solid"/>
          </a:ln>
        </p:spPr>
      </p:sp>
      <p:sp>
        <p:nvSpPr>
          <p:cNvPr id="10" name="Shape 8"/>
          <p:cNvSpPr/>
          <p:nvPr/>
        </p:nvSpPr>
        <p:spPr>
          <a:xfrm>
            <a:off x="2377440" y="0"/>
            <a:ext cx="0" cy="5143500"/>
          </a:xfrm>
          <a:prstGeom prst="line">
            <a:avLst/>
          </a:prstGeom>
          <a:noFill/>
          <a:ln w="6350">
            <a:solidFill>
              <a:srgbClr val="1A2540"/>
            </a:solidFill>
            <a:prstDash val="solid"/>
          </a:ln>
        </p:spPr>
      </p:sp>
      <p:sp>
        <p:nvSpPr>
          <p:cNvPr id="11" name="Shape 9"/>
          <p:cNvSpPr/>
          <p:nvPr/>
        </p:nvSpPr>
        <p:spPr>
          <a:xfrm>
            <a:off x="3200400" y="0"/>
            <a:ext cx="0" cy="5143500"/>
          </a:xfrm>
          <a:prstGeom prst="line">
            <a:avLst/>
          </a:prstGeom>
          <a:noFill/>
          <a:ln w="6350">
            <a:solidFill>
              <a:srgbClr val="1A2540"/>
            </a:solidFill>
            <a:prstDash val="solid"/>
          </a:ln>
        </p:spPr>
      </p:sp>
      <p:sp>
        <p:nvSpPr>
          <p:cNvPr id="12" name="Shape 10"/>
          <p:cNvSpPr/>
          <p:nvPr/>
        </p:nvSpPr>
        <p:spPr>
          <a:xfrm>
            <a:off x="4023360" y="0"/>
            <a:ext cx="0" cy="5143500"/>
          </a:xfrm>
          <a:prstGeom prst="line">
            <a:avLst/>
          </a:prstGeom>
          <a:noFill/>
          <a:ln w="6350">
            <a:solidFill>
              <a:srgbClr val="1A2540"/>
            </a:solidFill>
            <a:prstDash val="solid"/>
          </a:ln>
        </p:spPr>
      </p:sp>
      <p:sp>
        <p:nvSpPr>
          <p:cNvPr id="13" name="Shape 11"/>
          <p:cNvSpPr/>
          <p:nvPr/>
        </p:nvSpPr>
        <p:spPr>
          <a:xfrm>
            <a:off x="4846320" y="0"/>
            <a:ext cx="0" cy="5143500"/>
          </a:xfrm>
          <a:prstGeom prst="line">
            <a:avLst/>
          </a:prstGeom>
          <a:noFill/>
          <a:ln w="6350">
            <a:solidFill>
              <a:srgbClr val="1A2540"/>
            </a:solidFill>
            <a:prstDash val="solid"/>
          </a:ln>
        </p:spPr>
      </p:sp>
      <p:sp>
        <p:nvSpPr>
          <p:cNvPr id="14" name="Shape 12"/>
          <p:cNvSpPr/>
          <p:nvPr/>
        </p:nvSpPr>
        <p:spPr>
          <a:xfrm>
            <a:off x="5669280" y="0"/>
            <a:ext cx="0" cy="5143500"/>
          </a:xfrm>
          <a:prstGeom prst="line">
            <a:avLst/>
          </a:prstGeom>
          <a:noFill/>
          <a:ln w="6350">
            <a:solidFill>
              <a:srgbClr val="1A2540"/>
            </a:solidFill>
            <a:prstDash val="solid"/>
          </a:ln>
        </p:spPr>
      </p:sp>
      <p:sp>
        <p:nvSpPr>
          <p:cNvPr id="15" name="Shape 13"/>
          <p:cNvSpPr/>
          <p:nvPr/>
        </p:nvSpPr>
        <p:spPr>
          <a:xfrm>
            <a:off x="6492240" y="0"/>
            <a:ext cx="0" cy="5143500"/>
          </a:xfrm>
          <a:prstGeom prst="line">
            <a:avLst/>
          </a:prstGeom>
          <a:noFill/>
          <a:ln w="6350">
            <a:solidFill>
              <a:srgbClr val="1A2540"/>
            </a:solidFill>
            <a:prstDash val="solid"/>
          </a:ln>
        </p:spPr>
      </p:sp>
      <p:sp>
        <p:nvSpPr>
          <p:cNvPr id="16" name="Shape 14"/>
          <p:cNvSpPr/>
          <p:nvPr/>
        </p:nvSpPr>
        <p:spPr>
          <a:xfrm>
            <a:off x="7315200" y="0"/>
            <a:ext cx="0" cy="5143500"/>
          </a:xfrm>
          <a:prstGeom prst="line">
            <a:avLst/>
          </a:prstGeom>
          <a:noFill/>
          <a:ln w="6350">
            <a:solidFill>
              <a:srgbClr val="1A2540"/>
            </a:solidFill>
            <a:prstDash val="solid"/>
          </a:ln>
        </p:spPr>
      </p:sp>
      <p:sp>
        <p:nvSpPr>
          <p:cNvPr id="17" name="Shape 15"/>
          <p:cNvSpPr/>
          <p:nvPr/>
        </p:nvSpPr>
        <p:spPr>
          <a:xfrm>
            <a:off x="8138160" y="0"/>
            <a:ext cx="0" cy="5143500"/>
          </a:xfrm>
          <a:prstGeom prst="line">
            <a:avLst/>
          </a:prstGeom>
          <a:noFill/>
          <a:ln w="6350">
            <a:solidFill>
              <a:srgbClr val="1A2540"/>
            </a:solidFill>
            <a:prstDash val="solid"/>
          </a:ln>
        </p:spPr>
      </p:sp>
      <p:sp>
        <p:nvSpPr>
          <p:cNvPr id="18" name="Shape 16"/>
          <p:cNvSpPr/>
          <p:nvPr/>
        </p:nvSpPr>
        <p:spPr>
          <a:xfrm>
            <a:off x="914400" y="-914400"/>
            <a:ext cx="9144000" cy="9144000"/>
          </a:xfrm>
          <a:prstGeom prst="ellipse">
            <a:avLst/>
          </a:prstGeom>
          <a:solidFill>
            <a:srgbClr val="00C896">
              <a:alpha val="7000"/>
            </a:srgbClr>
          </a:solidFill>
          <a:ln/>
        </p:spPr>
      </p:sp>
      <p:sp>
        <p:nvSpPr>
          <p:cNvPr id="19" name="Shape 17"/>
          <p:cNvSpPr/>
          <p:nvPr/>
        </p:nvSpPr>
        <p:spPr>
          <a:xfrm>
            <a:off x="274320" y="274320"/>
            <a:ext cx="320040" cy="0"/>
          </a:xfrm>
          <a:prstGeom prst="line">
            <a:avLst/>
          </a:prstGeom>
          <a:noFill/>
          <a:ln w="25400">
            <a:solidFill>
              <a:srgbClr val="00C896"/>
            </a:solidFill>
            <a:prstDash val="solid"/>
          </a:ln>
        </p:spPr>
      </p:sp>
      <p:sp>
        <p:nvSpPr>
          <p:cNvPr id="20" name="Shape 18"/>
          <p:cNvSpPr/>
          <p:nvPr/>
        </p:nvSpPr>
        <p:spPr>
          <a:xfrm>
            <a:off x="274320" y="274320"/>
            <a:ext cx="0" cy="320040"/>
          </a:xfrm>
          <a:prstGeom prst="line">
            <a:avLst/>
          </a:prstGeom>
          <a:noFill/>
          <a:ln w="25400">
            <a:solidFill>
              <a:srgbClr val="00C896"/>
            </a:solidFill>
            <a:prstDash val="solid"/>
          </a:ln>
        </p:spPr>
      </p:sp>
      <p:sp>
        <p:nvSpPr>
          <p:cNvPr id="21" name="Shape 19"/>
          <p:cNvSpPr/>
          <p:nvPr/>
        </p:nvSpPr>
        <p:spPr>
          <a:xfrm>
            <a:off x="8549640" y="4572000"/>
            <a:ext cx="320040" cy="0"/>
          </a:xfrm>
          <a:prstGeom prst="line">
            <a:avLst/>
          </a:prstGeom>
          <a:noFill/>
          <a:ln w="25400">
            <a:solidFill>
              <a:srgbClr val="00C896"/>
            </a:solidFill>
            <a:prstDash val="solid"/>
          </a:ln>
        </p:spPr>
      </p:sp>
      <p:sp>
        <p:nvSpPr>
          <p:cNvPr id="22" name="Shape 20"/>
          <p:cNvSpPr/>
          <p:nvPr/>
        </p:nvSpPr>
        <p:spPr>
          <a:xfrm>
            <a:off x="8869680" y="4297680"/>
            <a:ext cx="0" cy="320040"/>
          </a:xfrm>
          <a:prstGeom prst="line">
            <a:avLst/>
          </a:prstGeom>
          <a:noFill/>
          <a:ln w="25400">
            <a:solidFill>
              <a:srgbClr val="00C896"/>
            </a:solidFill>
            <a:prstDash val="solid"/>
          </a:ln>
        </p:spPr>
      </p:sp>
      <p:pic>
        <p:nvPicPr>
          <p:cNvPr id="23" name="Image 0" descr="preencoded.png"/>
          <p:cNvPicPr>
            <a:picLocks noChangeAspect="1"/>
          </p:cNvPicPr>
          <p:nvPr/>
        </p:nvPicPr>
        <p:blipFill>
          <a:blip r:embed="rId3"/>
          <a:stretch>
            <a:fillRect/>
          </a:stretch>
        </p:blipFill>
        <p:spPr>
          <a:xfrm>
            <a:off x="2926080" y="320040"/>
            <a:ext cx="3291840" cy="1828800"/>
          </a:xfrm>
          <a:prstGeom prst="rect">
            <a:avLst/>
          </a:prstGeom>
        </p:spPr>
      </p:pic>
      <p:sp>
        <p:nvSpPr>
          <p:cNvPr id="24" name="Text 21"/>
          <p:cNvSpPr/>
          <p:nvPr/>
        </p:nvSpPr>
        <p:spPr>
          <a:xfrm>
            <a:off x="457200" y="2212848"/>
            <a:ext cx="8229600" cy="64008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26" name="Shape 23"/>
          <p:cNvSpPr/>
          <p:nvPr/>
        </p:nvSpPr>
        <p:spPr>
          <a:xfrm>
            <a:off x="2286000" y="3383280"/>
            <a:ext cx="4572000" cy="1280160"/>
          </a:xfrm>
          <a:prstGeom prst="roundRect">
            <a:avLst>
              <a:gd name="adj" fmla="val 8571"/>
            </a:avLst>
          </a:prstGeom>
          <a:solidFill>
            <a:srgbClr val="131E35"/>
          </a:solidFill>
          <a:ln w="10160">
            <a:solidFill>
              <a:srgbClr val="00C896"/>
            </a:solidFill>
            <a:prstDash val="solid"/>
          </a:ln>
        </p:spPr>
      </p:sp>
      <p:sp>
        <p:nvSpPr>
          <p:cNvPr id="27" name="Text 24"/>
          <p:cNvSpPr/>
          <p:nvPr/>
        </p:nvSpPr>
        <p:spPr>
          <a:xfrm>
            <a:off x="2286000" y="3456432"/>
            <a:ext cx="4572000" cy="347472"/>
          </a:xfrm>
          <a:prstGeom prst="rect">
            <a:avLst/>
          </a:prstGeom>
          <a:noFill/>
          <a:ln/>
        </p:spPr>
        <p:txBody>
          <a:bodyPr wrap="square" lIns="0" tIns="0" rIns="0" bIns="0" rtlCol="0" anchor="ctr"/>
          <a:lstStyle/>
          <a:p>
            <a:pPr marL="0" indent="0" algn="ctr">
              <a:buNone/>
            </a:pPr>
            <a:r>
              <a:rPr lang="en-US" sz="1800" b="1" dirty="0">
                <a:solidFill>
                  <a:srgbClr val="00C896"/>
                </a:solidFill>
                <a:latin typeface="Cambria" pitchFamily="34" charset="0"/>
                <a:ea typeface="Cambria" pitchFamily="34" charset="-122"/>
                <a:cs typeface="Cambria" pitchFamily="34" charset="-120"/>
              </a:rPr>
              <a:t>Octo-Fleet</a:t>
            </a:r>
            <a:endParaRPr lang="en-US" sz="1800" dirty="0"/>
          </a:p>
        </p:txBody>
      </p:sp>
      <p:sp>
        <p:nvSpPr>
          <p:cNvPr id="28" name="Text 25"/>
          <p:cNvSpPr/>
          <p:nvPr/>
        </p:nvSpPr>
        <p:spPr>
          <a:xfrm>
            <a:off x="2286000" y="3794760"/>
            <a:ext cx="4572000" cy="228600"/>
          </a:xfrm>
          <a:prstGeom prst="rect">
            <a:avLst/>
          </a:prstGeom>
          <a:noFill/>
          <a:ln/>
        </p:spPr>
        <p:txBody>
          <a:bodyPr wrap="square" lIns="0" tIns="0" rIns="0" bIns="0" rtlCol="0" anchor="ctr"/>
          <a:lstStyle/>
          <a:p>
            <a:pPr marL="0" indent="0" algn="ctr">
              <a:buNone/>
            </a:pPr>
            <a:r>
              <a:rPr lang="en-US" sz="1000" dirty="0">
                <a:solidFill>
                  <a:srgbClr val="E8EDF8"/>
                </a:solidFill>
                <a:latin typeface="Calibri" pitchFamily="34" charset="0"/>
                <a:ea typeface="Calibri" pitchFamily="34" charset="-122"/>
                <a:cs typeface="Calibri" pitchFamily="34" charset="-120"/>
              </a:rPr>
              <a:t>Hybrid Digital Twin for Predictive Maintenance</a:t>
            </a:r>
            <a:endParaRPr lang="en-US" sz="1000" dirty="0"/>
          </a:p>
        </p:txBody>
      </p:sp>
      <p:sp>
        <p:nvSpPr>
          <p:cNvPr id="29" name="Text 26"/>
          <p:cNvSpPr/>
          <p:nvPr/>
        </p:nvSpPr>
        <p:spPr>
          <a:xfrm>
            <a:off x="2286000" y="4069080"/>
            <a:ext cx="4572000" cy="201168"/>
          </a:xfrm>
          <a:prstGeom prst="rect">
            <a:avLst/>
          </a:prstGeom>
          <a:noFill/>
          <a:ln/>
        </p:spPr>
        <p:txBody>
          <a:bodyPr wrap="square" lIns="0" tIns="0" rIns="0" bIns="0" rtlCol="0" anchor="ctr"/>
          <a:lstStyle/>
          <a:p>
            <a:pPr marL="0" indent="0" algn="ctr">
              <a:buNone/>
            </a:pPr>
            <a:r>
              <a:rPr lang="en-US" sz="900" dirty="0">
                <a:solidFill>
                  <a:srgbClr val="8B9CC8"/>
                </a:solidFill>
                <a:latin typeface="Calibri" pitchFamily="34" charset="0"/>
                <a:ea typeface="Calibri" pitchFamily="34" charset="-122"/>
                <a:cs typeface="Calibri" pitchFamily="34" charset="-120"/>
              </a:rPr>
              <a:t>University of Constantine 2  ·  NTIC Faculty  ·  June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TotalTime>
  <Words>1385</Words>
  <Application>Microsoft Office PowerPoint</Application>
  <PresentationFormat>Affichage à l'écran (16:9)</PresentationFormat>
  <Paragraphs>273</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Octo-Fleet – Hybrid Digital Twin for Predictive Maintenance</dc:title>
  <dc:subject>PptxGenJS Presentation</dc:subject>
  <dc:creator>PptxGenJS</dc:creator>
  <cp:lastModifiedBy>Houssem Eddine Leghelimi</cp:lastModifiedBy>
  <cp:revision>9</cp:revision>
  <dcterms:created xsi:type="dcterms:W3CDTF">2026-06-09T18:32:17Z</dcterms:created>
  <dcterms:modified xsi:type="dcterms:W3CDTF">2026-06-10T16:12:26Z</dcterms:modified>
</cp:coreProperties>
</file>